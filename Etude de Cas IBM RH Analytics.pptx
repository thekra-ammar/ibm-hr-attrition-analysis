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24"/>
  </p:notesMasterIdLst>
  <p:sldIdLst>
    <p:sldId id="256" r:id="rId2"/>
    <p:sldId id="272" r:id="rId3"/>
    <p:sldId id="273" r:id="rId4"/>
    <p:sldId id="271" r:id="rId5"/>
    <p:sldId id="257" r:id="rId6"/>
    <p:sldId id="277" r:id="rId7"/>
    <p:sldId id="286" r:id="rId8"/>
    <p:sldId id="274" r:id="rId9"/>
    <p:sldId id="275" r:id="rId10"/>
    <p:sldId id="278" r:id="rId11"/>
    <p:sldId id="262" r:id="rId12"/>
    <p:sldId id="263" r:id="rId13"/>
    <p:sldId id="270" r:id="rId14"/>
    <p:sldId id="267" r:id="rId15"/>
    <p:sldId id="279" r:id="rId16"/>
    <p:sldId id="280" r:id="rId17"/>
    <p:sldId id="281" r:id="rId18"/>
    <p:sldId id="287" r:id="rId19"/>
    <p:sldId id="284" r:id="rId20"/>
    <p:sldId id="285" r:id="rId21"/>
    <p:sldId id="288" r:id="rId22"/>
    <p:sldId id="289"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79" autoAdjust="0"/>
    <p:restoredTop sz="93910" autoAdjust="0"/>
  </p:normalViewPr>
  <p:slideViewPr>
    <p:cSldViewPr snapToGrid="0">
      <p:cViewPr>
        <p:scale>
          <a:sx n="60" d="100"/>
          <a:sy n="60" d="100"/>
        </p:scale>
        <p:origin x="1146" y="246"/>
      </p:cViewPr>
      <p:guideLst/>
    </p:cSldViewPr>
  </p:slideViewPr>
  <p:outlineViewPr>
    <p:cViewPr>
      <p:scale>
        <a:sx n="33" d="100"/>
        <a:sy n="33" d="100"/>
      </p:scale>
      <p:origin x="0" y="-282"/>
    </p:cViewPr>
  </p:outlineViewPr>
  <p:notesTextViewPr>
    <p:cViewPr>
      <p:scale>
        <a:sx n="1" d="1"/>
        <a:sy n="1" d="1"/>
      </p:scale>
      <p:origin x="0" y="0"/>
    </p:cViewPr>
  </p:notesTextViewPr>
  <p:notesViewPr>
    <p:cSldViewPr snapToGrid="0">
      <p:cViewPr varScale="1">
        <p:scale>
          <a:sx n="52" d="100"/>
          <a:sy n="52" d="100"/>
        </p:scale>
        <p:origin x="2946"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2E63E6-A840-4E42-A642-235CD886F966}" type="datetimeFigureOut">
              <a:rPr lang="fr-FR" smtClean="0"/>
              <a:t>12/03/2026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9FC601-B7CC-4270-A3E9-F0C0D8F41877}" type="slidenum">
              <a:rPr lang="fr-FR" smtClean="0"/>
              <a:t>‹N°›</a:t>
            </a:fld>
            <a:endParaRPr lang="fr-FR"/>
          </a:p>
        </p:txBody>
      </p:sp>
    </p:spTree>
    <p:extLst>
      <p:ext uri="{BB962C8B-B14F-4D97-AF65-F5344CB8AC3E}">
        <p14:creationId xmlns:p14="http://schemas.microsoft.com/office/powerpoint/2010/main" val="39554984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59FC601-B7CC-4270-A3E9-F0C0D8F41877}" type="slidenum">
              <a:rPr lang="fr-FR" smtClean="0"/>
              <a:t>2</a:t>
            </a:fld>
            <a:endParaRPr lang="fr-FR"/>
          </a:p>
        </p:txBody>
      </p:sp>
    </p:spTree>
    <p:extLst>
      <p:ext uri="{BB962C8B-B14F-4D97-AF65-F5344CB8AC3E}">
        <p14:creationId xmlns:p14="http://schemas.microsoft.com/office/powerpoint/2010/main" val="37111743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fr-FR"/>
              <a:t>Modifiez le style du titre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327020EA-38BB-4820-A095-915BE6F6AC1F}" type="datetimeFigureOut">
              <a:rPr lang="fr-FR" smtClean="0"/>
              <a:t>10/03/2026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9255346" y="2750337"/>
            <a:ext cx="1171888" cy="1356442"/>
          </a:xfrm>
        </p:spPr>
        <p:txBody>
          <a:bodyPr/>
          <a:lstStyle/>
          <a:p>
            <a:fld id="{8E3C7835-1145-470C-BA34-3B665538908E}" type="slidenum">
              <a:rPr lang="fr-FR" smtClean="0"/>
              <a:t>‹N°›</a:t>
            </a:fld>
            <a:endParaRPr lang="fr-FR"/>
          </a:p>
        </p:txBody>
      </p:sp>
    </p:spTree>
    <p:extLst>
      <p:ext uri="{BB962C8B-B14F-4D97-AF65-F5344CB8AC3E}">
        <p14:creationId xmlns:p14="http://schemas.microsoft.com/office/powerpoint/2010/main" val="21153280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327020EA-38BB-4820-A095-915BE6F6AC1F}" type="datetimeFigureOut">
              <a:rPr lang="fr-FR" smtClean="0"/>
              <a:t>10/03/2026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8E3C7835-1145-470C-BA34-3B665538908E}" type="slidenum">
              <a:rPr lang="fr-FR" smtClean="0"/>
              <a:t>‹N°›</a:t>
            </a:fld>
            <a:endParaRPr lang="fr-FR"/>
          </a:p>
        </p:txBody>
      </p:sp>
    </p:spTree>
    <p:extLst>
      <p:ext uri="{BB962C8B-B14F-4D97-AF65-F5344CB8AC3E}">
        <p14:creationId xmlns:p14="http://schemas.microsoft.com/office/powerpoint/2010/main" val="29820335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fr-FR"/>
              <a:t>Modifiez le style du titre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327020EA-38BB-4820-A095-915BE6F6AC1F}" type="datetimeFigureOut">
              <a:rPr lang="fr-FR" smtClean="0"/>
              <a:t>10/03/2026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0729455" y="2869895"/>
            <a:ext cx="1154151" cy="1090789"/>
          </a:xfrm>
        </p:spPr>
        <p:txBody>
          <a:bodyPr/>
          <a:lstStyle/>
          <a:p>
            <a:fld id="{8E3C7835-1145-470C-BA34-3B665538908E}" type="slidenum">
              <a:rPr lang="fr-FR" smtClean="0"/>
              <a:t>‹N°›</a:t>
            </a:fld>
            <a:endParaRPr lang="fr-FR"/>
          </a:p>
        </p:txBody>
      </p:sp>
    </p:spTree>
    <p:extLst>
      <p:ext uri="{BB962C8B-B14F-4D97-AF65-F5344CB8AC3E}">
        <p14:creationId xmlns:p14="http://schemas.microsoft.com/office/powerpoint/2010/main" val="3257390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327020EA-38BB-4820-A095-915BE6F6AC1F}" type="datetimeFigureOut">
              <a:rPr lang="fr-FR" smtClean="0"/>
              <a:t>10/03/2026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8E3C7835-1145-470C-BA34-3B665538908E}" type="slidenum">
              <a:rPr lang="fr-FR" smtClean="0"/>
              <a:t>‹N°›</a:t>
            </a:fld>
            <a:endParaRPr lang="fr-FR"/>
          </a:p>
        </p:txBody>
      </p:sp>
    </p:spTree>
    <p:extLst>
      <p:ext uri="{BB962C8B-B14F-4D97-AF65-F5344CB8AC3E}">
        <p14:creationId xmlns:p14="http://schemas.microsoft.com/office/powerpoint/2010/main" val="18927324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Title 1"/>
          <p:cNvSpPr>
            <a:spLocks noGrp="1"/>
          </p:cNvSpPr>
          <p:nvPr>
            <p:ph type="title"/>
          </p:nvPr>
        </p:nvSpPr>
        <p:spPr>
          <a:xfrm>
            <a:off x="680319" y="753229"/>
            <a:ext cx="9613863" cy="1080937"/>
          </a:xfrm>
        </p:spPr>
        <p:txBody>
          <a:bodyPr/>
          <a:lstStyle/>
          <a:p>
            <a:r>
              <a:rPr lang="fr-FR"/>
              <a:t>Modifiez le style du titre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80322" y="3030008"/>
            <a:ext cx="4698355" cy="290617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5594123" y="3030008"/>
            <a:ext cx="4700059" cy="290617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327020EA-38BB-4820-A095-915BE6F6AC1F}" type="datetimeFigureOut">
              <a:rPr lang="fr-FR" smtClean="0"/>
              <a:t>10/03/2026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8E3C7835-1145-470C-BA34-3B665538908E}" type="slidenum">
              <a:rPr lang="fr-FR" smtClean="0"/>
              <a:t>‹N°›</a:t>
            </a:fld>
            <a:endParaRPr lang="fr-FR"/>
          </a:p>
        </p:txBody>
      </p:sp>
    </p:spTree>
    <p:extLst>
      <p:ext uri="{BB962C8B-B14F-4D97-AF65-F5344CB8AC3E}">
        <p14:creationId xmlns:p14="http://schemas.microsoft.com/office/powerpoint/2010/main" val="1801361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327020EA-38BB-4820-A095-915BE6F6AC1F}" type="datetimeFigureOut">
              <a:rPr lang="fr-FR" smtClean="0"/>
              <a:t>10/03/2026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8E3C7835-1145-470C-BA34-3B665538908E}" type="slidenum">
              <a:rPr lang="fr-FR" smtClean="0"/>
              <a:t>‹N°›</a:t>
            </a:fld>
            <a:endParaRPr lang="fr-FR"/>
          </a:p>
        </p:txBody>
      </p:sp>
    </p:spTree>
    <p:extLst>
      <p:ext uri="{BB962C8B-B14F-4D97-AF65-F5344CB8AC3E}">
        <p14:creationId xmlns:p14="http://schemas.microsoft.com/office/powerpoint/2010/main" val="11620130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Date Placeholder 1"/>
          <p:cNvSpPr>
            <a:spLocks noGrp="1"/>
          </p:cNvSpPr>
          <p:nvPr>
            <p:ph type="dt" sz="half" idx="10"/>
          </p:nvPr>
        </p:nvSpPr>
        <p:spPr/>
        <p:txBody>
          <a:bodyPr/>
          <a:lstStyle/>
          <a:p>
            <a:fld id="{327020EA-38BB-4820-A095-915BE6F6AC1F}" type="datetimeFigureOut">
              <a:rPr lang="fr-FR" smtClean="0"/>
              <a:t>10/03/2026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8E3C7835-1145-470C-BA34-3B665538908E}" type="slidenum">
              <a:rPr lang="fr-FR" smtClean="0"/>
              <a:t>‹N°›</a:t>
            </a:fld>
            <a:endParaRPr lang="fr-FR"/>
          </a:p>
        </p:txBody>
      </p:sp>
    </p:spTree>
    <p:extLst>
      <p:ext uri="{BB962C8B-B14F-4D97-AF65-F5344CB8AC3E}">
        <p14:creationId xmlns:p14="http://schemas.microsoft.com/office/powerpoint/2010/main" val="3085833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fr-FR"/>
              <a:t>Modifiez le style du titre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327020EA-38BB-4820-A095-915BE6F6AC1F}" type="datetimeFigureOut">
              <a:rPr lang="fr-FR" smtClean="0"/>
              <a:t>10/03/2026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8E3C7835-1145-470C-BA34-3B665538908E}" type="slidenum">
              <a:rPr lang="fr-FR" smtClean="0"/>
              <a:t>‹N°›</a:t>
            </a:fld>
            <a:endParaRPr lang="fr-FR"/>
          </a:p>
        </p:txBody>
      </p:sp>
    </p:spTree>
    <p:extLst>
      <p:ext uri="{BB962C8B-B14F-4D97-AF65-F5344CB8AC3E}">
        <p14:creationId xmlns:p14="http://schemas.microsoft.com/office/powerpoint/2010/main" val="16239109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fr-FR"/>
              <a:t>Modifiez le style du titre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327020EA-38BB-4820-A095-915BE6F6AC1F}" type="datetimeFigureOut">
              <a:rPr lang="fr-FR" smtClean="0"/>
              <a:t>10/03/2026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8E3C7835-1145-470C-BA34-3B665538908E}" type="slidenum">
              <a:rPr lang="fr-FR" smtClean="0"/>
              <a:t>‹N°›</a:t>
            </a:fld>
            <a:endParaRPr lang="fr-FR"/>
          </a:p>
        </p:txBody>
      </p:sp>
    </p:spTree>
    <p:extLst>
      <p:ext uri="{BB962C8B-B14F-4D97-AF65-F5344CB8AC3E}">
        <p14:creationId xmlns:p14="http://schemas.microsoft.com/office/powerpoint/2010/main" val="3489940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fr-FR"/>
              <a:t>Modifiez le style du titre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327020EA-38BB-4820-A095-915BE6F6AC1F}" type="datetimeFigureOut">
              <a:rPr lang="fr-FR" smtClean="0"/>
              <a:t>10/03/2026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a:xfrm>
            <a:off x="10729455" y="4711309"/>
            <a:ext cx="1154151" cy="1090789"/>
          </a:xfrm>
        </p:spPr>
        <p:txBody>
          <a:bodyPr/>
          <a:lstStyle/>
          <a:p>
            <a:fld id="{8E3C7835-1145-470C-BA34-3B665538908E}" type="slidenum">
              <a:rPr lang="fr-FR" smtClean="0"/>
              <a:t>‹N°›</a:t>
            </a:fld>
            <a:endParaRPr lang="fr-FR"/>
          </a:p>
        </p:txBody>
      </p:sp>
    </p:spTree>
    <p:extLst>
      <p:ext uri="{BB962C8B-B14F-4D97-AF65-F5344CB8AC3E}">
        <p14:creationId xmlns:p14="http://schemas.microsoft.com/office/powerpoint/2010/main" val="3451010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Title 1"/>
          <p:cNvSpPr>
            <a:spLocks noGrp="1"/>
          </p:cNvSpPr>
          <p:nvPr>
            <p:ph type="title"/>
          </p:nvPr>
        </p:nvSpPr>
        <p:spPr>
          <a:xfrm>
            <a:off x="680322" y="609597"/>
            <a:ext cx="9613858" cy="3592750"/>
          </a:xfrm>
        </p:spPr>
        <p:txBody>
          <a:bodyPr anchor="ctr"/>
          <a:lstStyle>
            <a:lvl1pPr>
              <a:defRPr sz="3200"/>
            </a:lvl1pPr>
          </a:lstStyle>
          <a:p>
            <a:r>
              <a:rPr lang="fr-FR"/>
              <a:t>Modifiez le style du titre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327020EA-38BB-4820-A095-915BE6F6AC1F}" type="datetimeFigureOut">
              <a:rPr lang="fr-FR" smtClean="0"/>
              <a:t>10/03/2026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a:xfrm>
            <a:off x="10729455" y="4711615"/>
            <a:ext cx="1154151" cy="1090789"/>
          </a:xfrm>
        </p:spPr>
        <p:txBody>
          <a:bodyPr/>
          <a:lstStyle/>
          <a:p>
            <a:fld id="{8E3C7835-1145-470C-BA34-3B665538908E}" type="slidenum">
              <a:rPr lang="fr-FR" smtClean="0"/>
              <a:t>‹N°›</a:t>
            </a:fld>
            <a:endParaRPr lang="fr-FR"/>
          </a:p>
        </p:txBody>
      </p:sp>
    </p:spTree>
    <p:extLst>
      <p:ext uri="{BB962C8B-B14F-4D97-AF65-F5344CB8AC3E}">
        <p14:creationId xmlns:p14="http://schemas.microsoft.com/office/powerpoint/2010/main" val="34908926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Title 1"/>
          <p:cNvSpPr>
            <a:spLocks noGrp="1"/>
          </p:cNvSpPr>
          <p:nvPr>
            <p:ph type="title"/>
          </p:nvPr>
        </p:nvSpPr>
        <p:spPr>
          <a:xfrm>
            <a:off x="1127856" y="609598"/>
            <a:ext cx="8718877" cy="3036061"/>
          </a:xfrm>
        </p:spPr>
        <p:txBody>
          <a:bodyPr anchor="ctr"/>
          <a:lstStyle>
            <a:lvl1pPr>
              <a:defRPr sz="3200"/>
            </a:lvl1pPr>
          </a:lstStyle>
          <a:p>
            <a:r>
              <a:rPr lang="fr-FR"/>
              <a:t>Modifiez le style du titre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327020EA-38BB-4820-A095-915BE6F6AC1F}" type="datetimeFigureOut">
              <a:rPr lang="fr-FR" smtClean="0"/>
              <a:t>10/03/2026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a:xfrm>
            <a:off x="10729455" y="4709925"/>
            <a:ext cx="1154151" cy="1090789"/>
          </a:xfrm>
        </p:spPr>
        <p:txBody>
          <a:bodyPr/>
          <a:lstStyle/>
          <a:p>
            <a:fld id="{8E3C7835-1145-470C-BA34-3B665538908E}" type="slidenum">
              <a:rPr lang="fr-FR" smtClean="0"/>
              <a:t>‹N°›</a:t>
            </a:fld>
            <a:endParaRPr lang="fr-FR"/>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6133210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Title 1"/>
          <p:cNvSpPr>
            <a:spLocks noGrp="1"/>
          </p:cNvSpPr>
          <p:nvPr>
            <p:ph type="title"/>
          </p:nvPr>
        </p:nvSpPr>
        <p:spPr>
          <a:xfrm>
            <a:off x="680319" y="4711615"/>
            <a:ext cx="9613862" cy="588535"/>
          </a:xfrm>
        </p:spPr>
        <p:txBody>
          <a:bodyPr anchor="b"/>
          <a:lstStyle>
            <a:lvl1pPr>
              <a:defRPr sz="3200"/>
            </a:lvl1pPr>
          </a:lstStyle>
          <a:p>
            <a:r>
              <a:rPr lang="fr-FR"/>
              <a:t>Modifiez le style du titre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327020EA-38BB-4820-A095-915BE6F6AC1F}" type="datetimeFigureOut">
              <a:rPr lang="fr-FR" smtClean="0"/>
              <a:t>10/03/2026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a:xfrm>
            <a:off x="10729455" y="4709925"/>
            <a:ext cx="1154151" cy="1090789"/>
          </a:xfrm>
        </p:spPr>
        <p:txBody>
          <a:bodyPr/>
          <a:lstStyle/>
          <a:p>
            <a:fld id="{8E3C7835-1145-470C-BA34-3B665538908E}" type="slidenum">
              <a:rPr lang="fr-FR" smtClean="0"/>
              <a:t>‹N°›</a:t>
            </a:fld>
            <a:endParaRPr lang="fr-FR"/>
          </a:p>
        </p:txBody>
      </p:sp>
    </p:spTree>
    <p:extLst>
      <p:ext uri="{BB962C8B-B14F-4D97-AF65-F5344CB8AC3E}">
        <p14:creationId xmlns:p14="http://schemas.microsoft.com/office/powerpoint/2010/main" val="25869147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15" name="Title 1"/>
          <p:cNvSpPr>
            <a:spLocks noGrp="1"/>
          </p:cNvSpPr>
          <p:nvPr>
            <p:ph type="title"/>
          </p:nvPr>
        </p:nvSpPr>
        <p:spPr>
          <a:xfrm>
            <a:off x="669222" y="753228"/>
            <a:ext cx="9624960" cy="1080938"/>
          </a:xfrm>
        </p:spPr>
        <p:txBody>
          <a:bodyPr/>
          <a:lstStyle/>
          <a:p>
            <a:r>
              <a:rPr lang="fr-FR"/>
              <a:t>Modifiez le style du titre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327020EA-38BB-4820-A095-915BE6F6AC1F}" type="datetimeFigureOut">
              <a:rPr lang="fr-FR" smtClean="0"/>
              <a:t>10/03/2026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8E3C7835-1145-470C-BA34-3B665538908E}" type="slidenum">
              <a:rPr lang="fr-FR" smtClean="0"/>
              <a:t>‹N°›</a:t>
            </a:fld>
            <a:endParaRPr lang="fr-FR"/>
          </a:p>
        </p:txBody>
      </p:sp>
    </p:spTree>
    <p:extLst>
      <p:ext uri="{BB962C8B-B14F-4D97-AF65-F5344CB8AC3E}">
        <p14:creationId xmlns:p14="http://schemas.microsoft.com/office/powerpoint/2010/main" val="39519231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30" name="Title 1"/>
          <p:cNvSpPr>
            <a:spLocks noGrp="1"/>
          </p:cNvSpPr>
          <p:nvPr>
            <p:ph type="title"/>
          </p:nvPr>
        </p:nvSpPr>
        <p:spPr>
          <a:xfrm>
            <a:off x="680322" y="753228"/>
            <a:ext cx="9613860" cy="1080938"/>
          </a:xfrm>
        </p:spPr>
        <p:txBody>
          <a:bodyPr/>
          <a:lstStyle/>
          <a:p>
            <a:r>
              <a:rPr lang="fr-FR"/>
              <a:t>Modifiez le style du titre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327020EA-38BB-4820-A095-915BE6F6AC1F}" type="datetimeFigureOut">
              <a:rPr lang="fr-FR" smtClean="0"/>
              <a:t>10/03/2026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8E3C7835-1145-470C-BA34-3B665538908E}" type="slidenum">
              <a:rPr lang="fr-FR" smtClean="0"/>
              <a:t>‹N°›</a:t>
            </a:fld>
            <a:endParaRPr lang="fr-FR"/>
          </a:p>
        </p:txBody>
      </p:sp>
    </p:spTree>
    <p:extLst>
      <p:ext uri="{BB962C8B-B14F-4D97-AF65-F5344CB8AC3E}">
        <p14:creationId xmlns:p14="http://schemas.microsoft.com/office/powerpoint/2010/main" val="25075140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Title 1"/>
          <p:cNvSpPr>
            <a:spLocks noGrp="1"/>
          </p:cNvSpPr>
          <p:nvPr>
            <p:ph type="title"/>
          </p:nvPr>
        </p:nvSpPr>
        <p:spPr/>
        <p:txBody>
          <a:bodyPr/>
          <a:lstStyle>
            <a:lvl1pPr algn="r">
              <a:defRPr/>
            </a:lvl1p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327020EA-38BB-4820-A095-915BE6F6AC1F}" type="datetimeFigureOut">
              <a:rPr lang="fr-FR" smtClean="0"/>
              <a:t>10/03/2026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8E3C7835-1145-470C-BA34-3B665538908E}" type="slidenum">
              <a:rPr lang="fr-FR" smtClean="0"/>
              <a:t>‹N°›</a:t>
            </a:fld>
            <a:endParaRPr lang="fr-FR"/>
          </a:p>
        </p:txBody>
      </p:sp>
    </p:spTree>
    <p:extLst>
      <p:ext uri="{BB962C8B-B14F-4D97-AF65-F5344CB8AC3E}">
        <p14:creationId xmlns:p14="http://schemas.microsoft.com/office/powerpoint/2010/main" val="40428367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Vertical Title 1"/>
          <p:cNvSpPr>
            <a:spLocks noGrp="1"/>
          </p:cNvSpPr>
          <p:nvPr>
            <p:ph type="title" orient="vert"/>
          </p:nvPr>
        </p:nvSpPr>
        <p:spPr>
          <a:xfrm>
            <a:off x="10129231" y="609597"/>
            <a:ext cx="1073802" cy="4353760"/>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327020EA-38BB-4820-A095-915BE6F6AC1F}" type="datetimeFigureOut">
              <a:rPr lang="fr-FR" smtClean="0"/>
              <a:t>10/03/2026</a:t>
            </a:fld>
            <a:endParaRPr lang="fr-FR"/>
          </a:p>
        </p:txBody>
      </p:sp>
      <p:sp>
        <p:nvSpPr>
          <p:cNvPr id="5" name="Footer Placeholder 4"/>
          <p:cNvSpPr>
            <a:spLocks noGrp="1"/>
          </p:cNvSpPr>
          <p:nvPr>
            <p:ph type="ftr" sz="quarter" idx="11"/>
          </p:nvPr>
        </p:nvSpPr>
        <p:spPr>
          <a:xfrm>
            <a:off x="680321" y="5936188"/>
            <a:ext cx="6126805" cy="365125"/>
          </a:xfrm>
        </p:spPr>
        <p:txBody>
          <a:bodyPr/>
          <a:lstStyle/>
          <a:p>
            <a:endParaRPr lang="fr-FR"/>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8E3C7835-1145-470C-BA34-3B665538908E}" type="slidenum">
              <a:rPr lang="fr-FR" smtClean="0"/>
              <a:t>‹N°›</a:t>
            </a:fld>
            <a:endParaRPr lang="fr-FR"/>
          </a:p>
        </p:txBody>
      </p:sp>
    </p:spTree>
    <p:extLst>
      <p:ext uri="{BB962C8B-B14F-4D97-AF65-F5344CB8AC3E}">
        <p14:creationId xmlns:p14="http://schemas.microsoft.com/office/powerpoint/2010/main" val="2302565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27020EA-38BB-4820-A095-915BE6F6AC1F}" type="datetimeFigureOut">
              <a:rPr lang="fr-FR" smtClean="0"/>
              <a:t>10/03/2026</a:t>
            </a:fld>
            <a:endParaRPr lang="fr-FR"/>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8E3C7835-1145-470C-BA34-3B665538908E}" type="slidenum">
              <a:rPr lang="fr-FR" smtClean="0"/>
              <a:t>‹N°›</a:t>
            </a:fld>
            <a:endParaRPr lang="fr-FR"/>
          </a:p>
        </p:txBody>
      </p:sp>
    </p:spTree>
    <p:extLst>
      <p:ext uri="{BB962C8B-B14F-4D97-AF65-F5344CB8AC3E}">
        <p14:creationId xmlns:p14="http://schemas.microsoft.com/office/powerpoint/2010/main" val="1242786214"/>
      </p:ext>
    </p:extLst>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3DA44B-BCDB-639A-2D4D-7D1FFEBFA97F}"/>
              </a:ext>
            </a:extLst>
          </p:cNvPr>
          <p:cNvSpPr>
            <a:spLocks noGrp="1"/>
          </p:cNvSpPr>
          <p:nvPr>
            <p:ph type="ctrTitle"/>
          </p:nvPr>
        </p:nvSpPr>
        <p:spPr/>
        <p:txBody>
          <a:bodyPr anchor="ctr"/>
          <a:lstStyle/>
          <a:p>
            <a:r>
              <a:rPr lang="fr-FR" sz="4600" dirty="0"/>
              <a:t>Etude de Cas IBM RH Analytics</a:t>
            </a:r>
          </a:p>
        </p:txBody>
      </p:sp>
      <p:sp>
        <p:nvSpPr>
          <p:cNvPr id="3" name="Sous-titre 2">
            <a:extLst>
              <a:ext uri="{FF2B5EF4-FFF2-40B4-BE49-F238E27FC236}">
                <a16:creationId xmlns:a16="http://schemas.microsoft.com/office/drawing/2014/main" id="{9A680777-C5C4-EA00-5D3F-76CBC6B91A30}"/>
              </a:ext>
            </a:extLst>
          </p:cNvPr>
          <p:cNvSpPr>
            <a:spLocks noGrp="1"/>
          </p:cNvSpPr>
          <p:nvPr>
            <p:ph type="subTitle" idx="1"/>
          </p:nvPr>
        </p:nvSpPr>
        <p:spPr/>
        <p:txBody>
          <a:bodyPr>
            <a:normAutofit/>
          </a:bodyPr>
          <a:lstStyle/>
          <a:p>
            <a:r>
              <a:rPr lang="fr-FR" b="1" dirty="0" err="1">
                <a:effectLst/>
              </a:rPr>
              <a:t>Thekra</a:t>
            </a:r>
            <a:r>
              <a:rPr lang="fr-FR" b="1" dirty="0">
                <a:effectLst/>
              </a:rPr>
              <a:t> Ben Ammar</a:t>
            </a:r>
          </a:p>
          <a:p>
            <a:r>
              <a:rPr lang="fr-FR" b="1" dirty="0"/>
              <a:t>08-02-2026</a:t>
            </a:r>
            <a:r>
              <a:rPr lang="fr-FR" b="1" dirty="0">
                <a:effectLst/>
              </a:rPr>
              <a:t>           </a:t>
            </a:r>
          </a:p>
        </p:txBody>
      </p:sp>
    </p:spTree>
    <p:extLst>
      <p:ext uri="{BB962C8B-B14F-4D97-AF65-F5344CB8AC3E}">
        <p14:creationId xmlns:p14="http://schemas.microsoft.com/office/powerpoint/2010/main" val="39639154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560953-0750-A08D-AE90-0690C0807DC5}"/>
              </a:ext>
            </a:extLst>
          </p:cNvPr>
          <p:cNvSpPr>
            <a:spLocks noGrp="1"/>
          </p:cNvSpPr>
          <p:nvPr>
            <p:ph type="title"/>
          </p:nvPr>
        </p:nvSpPr>
        <p:spPr/>
        <p:txBody>
          <a:bodyPr/>
          <a:lstStyle/>
          <a:p>
            <a:r>
              <a:rPr lang="fr-FR" dirty="0"/>
              <a:t>Interprétation</a:t>
            </a:r>
          </a:p>
        </p:txBody>
      </p:sp>
      <p:sp>
        <p:nvSpPr>
          <p:cNvPr id="3" name="Espace réservé du contenu 2">
            <a:extLst>
              <a:ext uri="{FF2B5EF4-FFF2-40B4-BE49-F238E27FC236}">
                <a16:creationId xmlns:a16="http://schemas.microsoft.com/office/drawing/2014/main" id="{23FF9E3E-02A5-9B45-3002-4B8FA6ED3F67}"/>
              </a:ext>
            </a:extLst>
          </p:cNvPr>
          <p:cNvSpPr>
            <a:spLocks noGrp="1"/>
          </p:cNvSpPr>
          <p:nvPr>
            <p:ph idx="1"/>
          </p:nvPr>
        </p:nvSpPr>
        <p:spPr/>
        <p:txBody>
          <a:bodyPr>
            <a:normAutofit/>
          </a:bodyPr>
          <a:lstStyle/>
          <a:p>
            <a:pPr marL="0" indent="0">
              <a:buNone/>
            </a:pPr>
            <a:r>
              <a:rPr lang="fr-FR" dirty="0"/>
              <a:t>Le jeu de données IBM HR Analytics, provenant de </a:t>
            </a:r>
            <a:r>
              <a:rPr lang="fr-FR" dirty="0" err="1"/>
              <a:t>Kaggle</a:t>
            </a:r>
            <a:r>
              <a:rPr lang="fr-FR" dirty="0"/>
              <a:t>, est un dataset de ressources humaines inspiré des données internes d’IBM. </a:t>
            </a:r>
          </a:p>
          <a:p>
            <a:pPr marL="0" indent="0">
              <a:buNone/>
            </a:pPr>
            <a:r>
              <a:rPr lang="fr-FR" dirty="0"/>
              <a:t>Il contient des informations personnelles, professionnelles et liées aux postes des employés.</a:t>
            </a:r>
          </a:p>
          <a:p>
            <a:pPr marL="0" indent="0">
              <a:buNone/>
            </a:pPr>
            <a:r>
              <a:rPr lang="fr-FR" dirty="0"/>
              <a:t>Ces données permettent d’analyser les facteurs influençant l’attrition des employés et d’appliquer des méthodes de machine </a:t>
            </a:r>
            <a:r>
              <a:rPr lang="fr-FR" dirty="0" err="1"/>
              <a:t>learning</a:t>
            </a:r>
            <a:r>
              <a:rPr lang="fr-FR" dirty="0"/>
              <a:t> supervisé ou non supervisé dans un contexte décisionnel RH.</a:t>
            </a:r>
          </a:p>
        </p:txBody>
      </p:sp>
    </p:spTree>
    <p:extLst>
      <p:ext uri="{BB962C8B-B14F-4D97-AF65-F5344CB8AC3E}">
        <p14:creationId xmlns:p14="http://schemas.microsoft.com/office/powerpoint/2010/main" val="35715796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F11AC2-1197-4A16-A92B-1892030B856E}"/>
              </a:ext>
            </a:extLst>
          </p:cNvPr>
          <p:cNvSpPr>
            <a:spLocks noGrp="1"/>
          </p:cNvSpPr>
          <p:nvPr>
            <p:ph type="title"/>
          </p:nvPr>
        </p:nvSpPr>
        <p:spPr/>
        <p:txBody>
          <a:bodyPr/>
          <a:lstStyle/>
          <a:p>
            <a:r>
              <a:rPr lang="fr-FR" dirty="0"/>
              <a:t>Business </a:t>
            </a:r>
            <a:r>
              <a:rPr lang="fr-FR" dirty="0" err="1"/>
              <a:t>Undrestanding</a:t>
            </a:r>
            <a:endParaRPr lang="fr-FR" dirty="0"/>
          </a:p>
        </p:txBody>
      </p:sp>
      <p:sp>
        <p:nvSpPr>
          <p:cNvPr id="3" name="Espace réservé du contenu 2">
            <a:extLst>
              <a:ext uri="{FF2B5EF4-FFF2-40B4-BE49-F238E27FC236}">
                <a16:creationId xmlns:a16="http://schemas.microsoft.com/office/drawing/2014/main" id="{34F4E721-54C4-F119-BECE-46460020987B}"/>
              </a:ext>
            </a:extLst>
          </p:cNvPr>
          <p:cNvSpPr>
            <a:spLocks noGrp="1"/>
          </p:cNvSpPr>
          <p:nvPr>
            <p:ph idx="1"/>
          </p:nvPr>
        </p:nvSpPr>
        <p:spPr/>
        <p:txBody>
          <a:bodyPr/>
          <a:lstStyle/>
          <a:p>
            <a:pPr marL="0" indent="0">
              <a:buNone/>
            </a:pPr>
            <a:r>
              <a:rPr lang="fr-FR" dirty="0"/>
              <a:t>L’objectif de ce projet est d’analyser le taux de roulement (attrition) et la performance des employés afin de mieux comprendre les facteurs qui influencent le départ des employés au sein de l’entreprise.</a:t>
            </a:r>
          </a:p>
        </p:txBody>
      </p:sp>
    </p:spTree>
    <p:extLst>
      <p:ext uri="{BB962C8B-B14F-4D97-AF65-F5344CB8AC3E}">
        <p14:creationId xmlns:p14="http://schemas.microsoft.com/office/powerpoint/2010/main" val="11495157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BCF5D9E-9F2D-07AB-806A-373DBBD47D68}"/>
              </a:ext>
            </a:extLst>
          </p:cNvPr>
          <p:cNvSpPr>
            <a:spLocks noGrp="1"/>
          </p:cNvSpPr>
          <p:nvPr>
            <p:ph type="title"/>
          </p:nvPr>
        </p:nvSpPr>
        <p:spPr/>
        <p:txBody>
          <a:bodyPr/>
          <a:lstStyle/>
          <a:p>
            <a:r>
              <a:rPr lang="fr-FR" dirty="0"/>
              <a:t>Data </a:t>
            </a:r>
            <a:r>
              <a:rPr lang="fr-FR" dirty="0" err="1"/>
              <a:t>Undrestanding</a:t>
            </a:r>
            <a:endParaRPr lang="fr-FR" dirty="0"/>
          </a:p>
        </p:txBody>
      </p:sp>
      <p:sp>
        <p:nvSpPr>
          <p:cNvPr id="3" name="Espace réservé du contenu 2">
            <a:extLst>
              <a:ext uri="{FF2B5EF4-FFF2-40B4-BE49-F238E27FC236}">
                <a16:creationId xmlns:a16="http://schemas.microsoft.com/office/drawing/2014/main" id="{4A125F2D-B5FA-C87D-6571-7789B8CBEA2D}"/>
              </a:ext>
            </a:extLst>
          </p:cNvPr>
          <p:cNvSpPr>
            <a:spLocks noGrp="1"/>
          </p:cNvSpPr>
          <p:nvPr>
            <p:ph idx="1"/>
          </p:nvPr>
        </p:nvSpPr>
        <p:spPr/>
        <p:txBody>
          <a:bodyPr>
            <a:normAutofit/>
          </a:bodyPr>
          <a:lstStyle/>
          <a:p>
            <a:pPr marL="0" indent="0">
              <a:buNone/>
            </a:pPr>
            <a:r>
              <a:rPr lang="fr-FR" dirty="0"/>
              <a:t>Le dataset IBM HR Analytics contient des informations sur 1470 employés avec 35 variables décrivant leurs caractéristiques personnelles et professionnelles.</a:t>
            </a:r>
          </a:p>
          <a:p>
            <a:pPr marL="0" indent="0">
              <a:buNone/>
            </a:pPr>
            <a:r>
              <a:rPr lang="fr-FR" dirty="0"/>
              <a:t>Ces variables incluent notamment l’âge, le département, le niveau de satisfaction, la rémunération, l’ancienneté et les conditions de travail.</a:t>
            </a:r>
          </a:p>
          <a:p>
            <a:pPr marL="0" indent="0">
              <a:buNone/>
            </a:pPr>
            <a:r>
              <a:rPr lang="fr-FR" dirty="0"/>
              <a:t>La variable Attrition indique si un employé a quitté l’entreprise et constitue la variable cible principale à analyser.</a:t>
            </a:r>
          </a:p>
        </p:txBody>
      </p:sp>
    </p:spTree>
    <p:extLst>
      <p:ext uri="{BB962C8B-B14F-4D97-AF65-F5344CB8AC3E}">
        <p14:creationId xmlns:p14="http://schemas.microsoft.com/office/powerpoint/2010/main" val="639714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D5D777-C30D-0B01-281C-D03A875E28DE}"/>
              </a:ext>
            </a:extLst>
          </p:cNvPr>
          <p:cNvSpPr>
            <a:spLocks noGrp="1"/>
          </p:cNvSpPr>
          <p:nvPr>
            <p:ph type="title"/>
          </p:nvPr>
        </p:nvSpPr>
        <p:spPr/>
        <p:txBody>
          <a:bodyPr/>
          <a:lstStyle/>
          <a:p>
            <a:r>
              <a:rPr lang="fr-FR" dirty="0"/>
              <a:t>Objectif</a:t>
            </a:r>
          </a:p>
        </p:txBody>
      </p:sp>
      <p:sp>
        <p:nvSpPr>
          <p:cNvPr id="3" name="Espace réservé du contenu 2">
            <a:extLst>
              <a:ext uri="{FF2B5EF4-FFF2-40B4-BE49-F238E27FC236}">
                <a16:creationId xmlns:a16="http://schemas.microsoft.com/office/drawing/2014/main" id="{1D950224-66CB-CD40-BB81-04C3789D0B59}"/>
              </a:ext>
            </a:extLst>
          </p:cNvPr>
          <p:cNvSpPr>
            <a:spLocks noGrp="1"/>
          </p:cNvSpPr>
          <p:nvPr>
            <p:ph idx="1"/>
          </p:nvPr>
        </p:nvSpPr>
        <p:spPr>
          <a:xfrm>
            <a:off x="680321" y="2336872"/>
            <a:ext cx="9613861" cy="3767899"/>
          </a:xfrm>
        </p:spPr>
        <p:txBody>
          <a:bodyPr>
            <a:normAutofit/>
          </a:bodyPr>
          <a:lstStyle/>
          <a:p>
            <a:pPr marL="0" indent="0" algn="r">
              <a:buNone/>
            </a:pPr>
            <a:endParaRPr lang="fr-FR" dirty="0"/>
          </a:p>
          <a:p>
            <a:pPr marL="0" indent="0" algn="r">
              <a:buNone/>
            </a:pPr>
            <a:endParaRPr lang="fr-FR" dirty="0"/>
          </a:p>
          <a:p>
            <a:pPr marL="0" indent="0">
              <a:buNone/>
            </a:pPr>
            <a:r>
              <a:rPr lang="fr-FR" dirty="0"/>
              <a:t>Prédire l’attrition des employés et identifier les facteurs qui influencent le départ, afin de mieux comprendre le turnover et d’aider à la prise de décision en ressources humaines.</a:t>
            </a:r>
          </a:p>
        </p:txBody>
      </p:sp>
    </p:spTree>
    <p:extLst>
      <p:ext uri="{BB962C8B-B14F-4D97-AF65-F5344CB8AC3E}">
        <p14:creationId xmlns:p14="http://schemas.microsoft.com/office/powerpoint/2010/main" val="15631960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D9F1598-E275-D281-4EF5-270060125218}"/>
              </a:ext>
            </a:extLst>
          </p:cNvPr>
          <p:cNvSpPr>
            <a:spLocks noGrp="1"/>
          </p:cNvSpPr>
          <p:nvPr>
            <p:ph type="title"/>
          </p:nvPr>
        </p:nvSpPr>
        <p:spPr/>
        <p:txBody>
          <a:bodyPr/>
          <a:lstStyle/>
          <a:p>
            <a:r>
              <a:rPr lang="fr-FR" dirty="0"/>
              <a:t>Data Descriptive</a:t>
            </a:r>
          </a:p>
        </p:txBody>
      </p:sp>
      <p:sp>
        <p:nvSpPr>
          <p:cNvPr id="3" name="Espace réservé du contenu 2">
            <a:extLst>
              <a:ext uri="{FF2B5EF4-FFF2-40B4-BE49-F238E27FC236}">
                <a16:creationId xmlns:a16="http://schemas.microsoft.com/office/drawing/2014/main" id="{42E8A058-D2AF-AE1F-F283-CC84DA963851}"/>
              </a:ext>
            </a:extLst>
          </p:cNvPr>
          <p:cNvSpPr>
            <a:spLocks noGrp="1"/>
          </p:cNvSpPr>
          <p:nvPr>
            <p:ph idx="1"/>
          </p:nvPr>
        </p:nvSpPr>
        <p:spPr/>
        <p:txBody>
          <a:bodyPr/>
          <a:lstStyle/>
          <a:p>
            <a:pPr marL="0" indent="0">
              <a:buNone/>
            </a:pPr>
            <a:r>
              <a:rPr lang="fr-FR" dirty="0"/>
              <a:t>Une analyse descriptive a été réalisée afin d’explorer les données et de comprendre la distribution des variables.</a:t>
            </a:r>
          </a:p>
          <a:p>
            <a:pPr marL="0" indent="0">
              <a:buNone/>
            </a:pPr>
            <a:r>
              <a:rPr lang="fr-FR" dirty="0"/>
              <a:t>Des statistiques agrégées ont été calculées entre la variable cible (Attrition) et les différentes variables explicatives afin d’identifier les tendances et relations potentielles.</a:t>
            </a:r>
          </a:p>
        </p:txBody>
      </p:sp>
    </p:spTree>
    <p:extLst>
      <p:ext uri="{BB962C8B-B14F-4D97-AF65-F5344CB8AC3E}">
        <p14:creationId xmlns:p14="http://schemas.microsoft.com/office/powerpoint/2010/main" val="37148699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F31791E-C7D5-535F-71BA-B5E64EFB3A15}"/>
              </a:ext>
            </a:extLst>
          </p:cNvPr>
          <p:cNvSpPr>
            <a:spLocks noGrp="1"/>
          </p:cNvSpPr>
          <p:nvPr>
            <p:ph type="title"/>
          </p:nvPr>
        </p:nvSpPr>
        <p:spPr/>
        <p:txBody>
          <a:bodyPr/>
          <a:lstStyle/>
          <a:p>
            <a:r>
              <a:rPr lang="fr-FR" dirty="0"/>
              <a:t>Modélisation </a:t>
            </a:r>
          </a:p>
        </p:txBody>
      </p:sp>
      <p:sp>
        <p:nvSpPr>
          <p:cNvPr id="3" name="Espace réservé du contenu 2">
            <a:extLst>
              <a:ext uri="{FF2B5EF4-FFF2-40B4-BE49-F238E27FC236}">
                <a16:creationId xmlns:a16="http://schemas.microsoft.com/office/drawing/2014/main" id="{0B3EA515-CAE8-2BD4-92B2-40FFB317CD24}"/>
              </a:ext>
            </a:extLst>
          </p:cNvPr>
          <p:cNvSpPr>
            <a:spLocks noGrp="1"/>
          </p:cNvSpPr>
          <p:nvPr>
            <p:ph idx="1"/>
          </p:nvPr>
        </p:nvSpPr>
        <p:spPr/>
        <p:txBody>
          <a:bodyPr/>
          <a:lstStyle/>
          <a:p>
            <a:pPr marL="0" indent="0">
              <a:buNone/>
            </a:pPr>
            <a:r>
              <a:rPr lang="fr-FR" dirty="0"/>
              <a:t>Dans ce projet, deux approches de machine </a:t>
            </a:r>
            <a:r>
              <a:rPr lang="fr-FR" dirty="0" err="1"/>
              <a:t>learning</a:t>
            </a:r>
            <a:r>
              <a:rPr lang="fr-FR" dirty="0"/>
              <a:t> ont été utilisées :</a:t>
            </a:r>
          </a:p>
          <a:p>
            <a:endParaRPr lang="fr-FR" dirty="0"/>
          </a:p>
          <a:p>
            <a:pPr marL="0" indent="0">
              <a:buNone/>
            </a:pPr>
            <a:r>
              <a:rPr lang="fr-FR" dirty="0" err="1"/>
              <a:t>Random</a:t>
            </a:r>
            <a:r>
              <a:rPr lang="fr-FR" dirty="0"/>
              <a:t> Forest (apprentissage supervisé)</a:t>
            </a:r>
          </a:p>
          <a:p>
            <a:pPr marL="0" indent="0">
              <a:buNone/>
            </a:pPr>
            <a:r>
              <a:rPr lang="fr-FR" dirty="0"/>
              <a:t>K-</a:t>
            </a:r>
            <a:r>
              <a:rPr lang="fr-FR" dirty="0" err="1"/>
              <a:t>Means</a:t>
            </a:r>
            <a:r>
              <a:rPr lang="fr-FR" dirty="0"/>
              <a:t> Clustering (apprentissage non supervisé)</a:t>
            </a:r>
          </a:p>
          <a:p>
            <a:endParaRPr lang="fr-FR" dirty="0"/>
          </a:p>
          <a:p>
            <a:pPr marL="0" indent="0">
              <a:buNone/>
            </a:pPr>
            <a:r>
              <a:rPr lang="fr-FR" dirty="0"/>
              <a:t>Ces méthodes permettent d’analyser les comportements des employés et de prédire l’attrition.</a:t>
            </a:r>
          </a:p>
        </p:txBody>
      </p:sp>
    </p:spTree>
    <p:extLst>
      <p:ext uri="{BB962C8B-B14F-4D97-AF65-F5344CB8AC3E}">
        <p14:creationId xmlns:p14="http://schemas.microsoft.com/office/powerpoint/2010/main" val="22453476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5FBCB3-ED2F-5A34-F77D-CA2EAF5812BE}"/>
              </a:ext>
            </a:extLst>
          </p:cNvPr>
          <p:cNvSpPr>
            <a:spLocks noGrp="1"/>
          </p:cNvSpPr>
          <p:nvPr>
            <p:ph type="title"/>
          </p:nvPr>
        </p:nvSpPr>
        <p:spPr/>
        <p:txBody>
          <a:bodyPr/>
          <a:lstStyle/>
          <a:p>
            <a:r>
              <a:rPr lang="fr-FR" dirty="0"/>
              <a:t>Data Préparation</a:t>
            </a:r>
          </a:p>
        </p:txBody>
      </p:sp>
      <p:sp>
        <p:nvSpPr>
          <p:cNvPr id="3" name="Espace réservé du texte 2">
            <a:extLst>
              <a:ext uri="{FF2B5EF4-FFF2-40B4-BE49-F238E27FC236}">
                <a16:creationId xmlns:a16="http://schemas.microsoft.com/office/drawing/2014/main" id="{CB85E64F-3037-87CD-C11E-A7E61DB45956}"/>
              </a:ext>
            </a:extLst>
          </p:cNvPr>
          <p:cNvSpPr>
            <a:spLocks noGrp="1"/>
          </p:cNvSpPr>
          <p:nvPr>
            <p:ph type="body" idx="1"/>
          </p:nvPr>
        </p:nvSpPr>
        <p:spPr>
          <a:xfrm>
            <a:off x="659990" y="2623411"/>
            <a:ext cx="3070034" cy="576262"/>
          </a:xfrm>
        </p:spPr>
        <p:txBody>
          <a:bodyPr/>
          <a:lstStyle/>
          <a:p>
            <a:r>
              <a:rPr lang="fr-FR" dirty="0"/>
              <a:t>Préparation</a:t>
            </a:r>
          </a:p>
        </p:txBody>
      </p:sp>
      <p:sp>
        <p:nvSpPr>
          <p:cNvPr id="4" name="Espace réservé du texte 3">
            <a:extLst>
              <a:ext uri="{FF2B5EF4-FFF2-40B4-BE49-F238E27FC236}">
                <a16:creationId xmlns:a16="http://schemas.microsoft.com/office/drawing/2014/main" id="{79BDEB6A-F669-AD57-B917-6269624FC888}"/>
              </a:ext>
            </a:extLst>
          </p:cNvPr>
          <p:cNvSpPr>
            <a:spLocks noGrp="1"/>
          </p:cNvSpPr>
          <p:nvPr>
            <p:ph type="body" sz="half" idx="15"/>
          </p:nvPr>
        </p:nvSpPr>
        <p:spPr>
          <a:xfrm>
            <a:off x="680322" y="3415842"/>
            <a:ext cx="3049702" cy="1246099"/>
          </a:xfrm>
        </p:spPr>
        <p:txBody>
          <a:bodyPr/>
          <a:lstStyle/>
          <a:p>
            <a:pPr marL="285750" indent="-285750">
              <a:buFont typeface="Wingdings" panose="05000000000000000000" pitchFamily="2" charset="2"/>
              <a:buChar char="Ø"/>
            </a:pPr>
            <a:endParaRPr lang="fr-FR" dirty="0"/>
          </a:p>
          <a:p>
            <a:pPr marL="285750" indent="-285750">
              <a:buFont typeface="Wingdings" panose="05000000000000000000" pitchFamily="2" charset="2"/>
              <a:buChar char="Ø"/>
            </a:pPr>
            <a:r>
              <a:rPr lang="fr-FR" dirty="0"/>
              <a:t>S’assurer que les données sont </a:t>
            </a:r>
            <a:r>
              <a:rPr lang="fr-FR" b="1" dirty="0"/>
              <a:t>propres, cohérentes et exploitables</a:t>
            </a:r>
            <a:r>
              <a:rPr lang="fr-FR" dirty="0"/>
              <a:t> </a:t>
            </a:r>
          </a:p>
          <a:p>
            <a:endParaRPr lang="fr-FR" dirty="0"/>
          </a:p>
        </p:txBody>
      </p:sp>
      <p:sp>
        <p:nvSpPr>
          <p:cNvPr id="5" name="Espace réservé du texte 4">
            <a:extLst>
              <a:ext uri="{FF2B5EF4-FFF2-40B4-BE49-F238E27FC236}">
                <a16:creationId xmlns:a16="http://schemas.microsoft.com/office/drawing/2014/main" id="{CD61335C-079E-4E40-084E-C6622B1DBCD5}"/>
              </a:ext>
            </a:extLst>
          </p:cNvPr>
          <p:cNvSpPr>
            <a:spLocks noGrp="1"/>
          </p:cNvSpPr>
          <p:nvPr>
            <p:ph type="body" sz="quarter" idx="3"/>
          </p:nvPr>
        </p:nvSpPr>
        <p:spPr>
          <a:xfrm>
            <a:off x="774507" y="4882379"/>
            <a:ext cx="3063240" cy="576262"/>
          </a:xfrm>
        </p:spPr>
        <p:txBody>
          <a:bodyPr/>
          <a:lstStyle/>
          <a:p>
            <a:r>
              <a:rPr lang="fr-FR" dirty="0"/>
              <a:t>Nettoyage</a:t>
            </a:r>
          </a:p>
        </p:txBody>
      </p:sp>
      <p:sp>
        <p:nvSpPr>
          <p:cNvPr id="6" name="Espace réservé du texte 5">
            <a:extLst>
              <a:ext uri="{FF2B5EF4-FFF2-40B4-BE49-F238E27FC236}">
                <a16:creationId xmlns:a16="http://schemas.microsoft.com/office/drawing/2014/main" id="{78D003B3-8AD8-2657-D355-68ABA2604670}"/>
              </a:ext>
            </a:extLst>
          </p:cNvPr>
          <p:cNvSpPr>
            <a:spLocks noGrp="1"/>
          </p:cNvSpPr>
          <p:nvPr>
            <p:ph type="body" sz="half" idx="16"/>
          </p:nvPr>
        </p:nvSpPr>
        <p:spPr>
          <a:xfrm>
            <a:off x="680322" y="5386123"/>
            <a:ext cx="3063240" cy="1246099"/>
          </a:xfrm>
        </p:spPr>
        <p:txBody>
          <a:bodyPr/>
          <a:lstStyle/>
          <a:p>
            <a:pPr marL="285750" indent="-285750">
              <a:buFont typeface="Wingdings" panose="05000000000000000000" pitchFamily="2" charset="2"/>
              <a:buChar char="Ø"/>
            </a:pPr>
            <a:endParaRPr lang="fr-FR" dirty="0"/>
          </a:p>
          <a:p>
            <a:pPr marL="285750" indent="-285750">
              <a:buFont typeface="Wingdings" panose="05000000000000000000" pitchFamily="2" charset="2"/>
              <a:buChar char="Ø"/>
            </a:pPr>
            <a:r>
              <a:rPr lang="fr-FR" dirty="0"/>
              <a:t>Vérification des valeurs manquantes (aucune dans ce dataset).</a:t>
            </a:r>
          </a:p>
        </p:txBody>
      </p:sp>
      <p:sp>
        <p:nvSpPr>
          <p:cNvPr id="7" name="Espace réservé du texte 6">
            <a:extLst>
              <a:ext uri="{FF2B5EF4-FFF2-40B4-BE49-F238E27FC236}">
                <a16:creationId xmlns:a16="http://schemas.microsoft.com/office/drawing/2014/main" id="{A93E3D8D-6378-9795-3C4C-25A1E79279CF}"/>
              </a:ext>
            </a:extLst>
          </p:cNvPr>
          <p:cNvSpPr>
            <a:spLocks noGrp="1"/>
          </p:cNvSpPr>
          <p:nvPr>
            <p:ph type="body" sz="quarter" idx="13"/>
          </p:nvPr>
        </p:nvSpPr>
        <p:spPr>
          <a:xfrm>
            <a:off x="4092316" y="2623411"/>
            <a:ext cx="3070025" cy="576262"/>
          </a:xfrm>
        </p:spPr>
        <p:txBody>
          <a:bodyPr/>
          <a:lstStyle/>
          <a:p>
            <a:r>
              <a:rPr lang="fr-FR" dirty="0"/>
              <a:t>Transformation</a:t>
            </a:r>
          </a:p>
        </p:txBody>
      </p:sp>
      <p:sp>
        <p:nvSpPr>
          <p:cNvPr id="8" name="Espace réservé du texte 7">
            <a:extLst>
              <a:ext uri="{FF2B5EF4-FFF2-40B4-BE49-F238E27FC236}">
                <a16:creationId xmlns:a16="http://schemas.microsoft.com/office/drawing/2014/main" id="{BCFE8F34-4F2B-029A-91BA-A1D37C256643}"/>
              </a:ext>
            </a:extLst>
          </p:cNvPr>
          <p:cNvSpPr>
            <a:spLocks noGrp="1"/>
          </p:cNvSpPr>
          <p:nvPr>
            <p:ph type="body" sz="half" idx="17"/>
          </p:nvPr>
        </p:nvSpPr>
        <p:spPr>
          <a:xfrm>
            <a:off x="4186501" y="3410500"/>
            <a:ext cx="6201866" cy="2913513"/>
          </a:xfrm>
        </p:spPr>
        <p:txBody>
          <a:bodyPr/>
          <a:lstStyle/>
          <a:p>
            <a:pPr marL="285750" indent="-285750">
              <a:buFont typeface="Wingdings" panose="05000000000000000000" pitchFamily="2" charset="2"/>
              <a:buChar char="Ø"/>
            </a:pPr>
            <a:r>
              <a:rPr lang="fr-FR" dirty="0"/>
              <a:t>Choisir le cible : « </a:t>
            </a:r>
            <a:r>
              <a:rPr lang="fr-FR" dirty="0" err="1"/>
              <a:t>target</a:t>
            </a:r>
            <a:r>
              <a:rPr lang="fr-FR" dirty="0"/>
              <a:t> = Attrition »</a:t>
            </a:r>
          </a:p>
          <a:p>
            <a:pPr marL="285750" indent="-285750">
              <a:buFont typeface="Wingdings" panose="05000000000000000000" pitchFamily="2" charset="2"/>
              <a:buChar char="Ø"/>
            </a:pPr>
            <a:r>
              <a:rPr lang="fr-FR" dirty="0"/>
              <a:t>Séparation de données :  </a:t>
            </a:r>
          </a:p>
          <a:p>
            <a:r>
              <a:rPr lang="fr-FR" dirty="0"/>
              <a:t>        y= </a:t>
            </a:r>
            <a:r>
              <a:rPr lang="fr-FR" dirty="0" err="1"/>
              <a:t>target</a:t>
            </a:r>
            <a:endParaRPr lang="fr-FR" dirty="0"/>
          </a:p>
          <a:p>
            <a:r>
              <a:rPr lang="fr-FR" dirty="0"/>
              <a:t>        X = toutes les données sauf la </a:t>
            </a:r>
            <a:r>
              <a:rPr lang="fr-FR" dirty="0" err="1"/>
              <a:t>target</a:t>
            </a:r>
            <a:endParaRPr lang="fr-FR" dirty="0"/>
          </a:p>
          <a:p>
            <a:pPr marL="285750" indent="-285750">
              <a:buFont typeface="Wingdings" panose="05000000000000000000" pitchFamily="2" charset="2"/>
              <a:buChar char="Ø"/>
            </a:pPr>
            <a:r>
              <a:rPr lang="fr-FR" dirty="0"/>
              <a:t>Séparation des colonnes:</a:t>
            </a:r>
          </a:p>
          <a:p>
            <a:r>
              <a:rPr lang="fr-FR" dirty="0"/>
              <a:t>               Les colonnes numérique : Age, Salaire, Ancienneté          </a:t>
            </a:r>
          </a:p>
          <a:p>
            <a:r>
              <a:rPr lang="fr-FR" dirty="0"/>
              <a:t>               Les colonnes catégoriels : Département, Rôle, </a:t>
            </a:r>
            <a:r>
              <a:rPr lang="fr-FR" dirty="0" err="1"/>
              <a:t>EducationField</a:t>
            </a:r>
            <a:r>
              <a:rPr lang="fr-FR" dirty="0"/>
              <a:t>…</a:t>
            </a:r>
          </a:p>
          <a:p>
            <a:pPr marL="285750" indent="-285750">
              <a:buFont typeface="Wingdings" panose="05000000000000000000" pitchFamily="2" charset="2"/>
              <a:buChar char="Ø"/>
            </a:pPr>
            <a:r>
              <a:rPr lang="fr-FR" dirty="0"/>
              <a:t>Normaliser  Les colonnes numérique </a:t>
            </a:r>
          </a:p>
          <a:p>
            <a:pPr marL="285750" indent="-285750">
              <a:buFont typeface="Wingdings" panose="05000000000000000000" pitchFamily="2" charset="2"/>
              <a:buChar char="Ø"/>
            </a:pPr>
            <a:r>
              <a:rPr lang="fr-FR" dirty="0"/>
              <a:t>Encodage 1/0 ou </a:t>
            </a:r>
            <a:r>
              <a:rPr lang="fr-FR" dirty="0" err="1"/>
              <a:t>One-hot</a:t>
            </a:r>
            <a:r>
              <a:rPr lang="fr-FR" dirty="0"/>
              <a:t> Les colonnes catégoriels </a:t>
            </a:r>
          </a:p>
        </p:txBody>
      </p:sp>
      <p:sp>
        <p:nvSpPr>
          <p:cNvPr id="9" name="ZoneTexte 8">
            <a:extLst>
              <a:ext uri="{FF2B5EF4-FFF2-40B4-BE49-F238E27FC236}">
                <a16:creationId xmlns:a16="http://schemas.microsoft.com/office/drawing/2014/main" id="{8CFB5F31-5E5E-7D77-C60E-DAF266571D7C}"/>
              </a:ext>
            </a:extLst>
          </p:cNvPr>
          <p:cNvSpPr txBox="1"/>
          <p:nvPr/>
        </p:nvSpPr>
        <p:spPr>
          <a:xfrm>
            <a:off x="944381" y="1961329"/>
            <a:ext cx="8034727" cy="369332"/>
          </a:xfrm>
          <a:prstGeom prst="rect">
            <a:avLst/>
          </a:prstGeom>
          <a:noFill/>
        </p:spPr>
        <p:txBody>
          <a:bodyPr wrap="square" rtlCol="0">
            <a:spAutoFit/>
          </a:bodyPr>
          <a:lstStyle/>
          <a:p>
            <a:r>
              <a:rPr lang="fr-FR" dirty="0"/>
              <a:t>Préparer le dataset IBM HR Analytics pour les modèles de Machine Learning</a:t>
            </a:r>
          </a:p>
        </p:txBody>
      </p:sp>
      <p:sp>
        <p:nvSpPr>
          <p:cNvPr id="11" name="Rectangle : coins arrondis 10">
            <a:extLst>
              <a:ext uri="{FF2B5EF4-FFF2-40B4-BE49-F238E27FC236}">
                <a16:creationId xmlns:a16="http://schemas.microsoft.com/office/drawing/2014/main" id="{BB586161-F94F-3411-CD4D-8365636720B8}"/>
              </a:ext>
            </a:extLst>
          </p:cNvPr>
          <p:cNvSpPr/>
          <p:nvPr/>
        </p:nvSpPr>
        <p:spPr>
          <a:xfrm>
            <a:off x="680322" y="2623411"/>
            <a:ext cx="2512583" cy="78709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 coins arrondis 12">
            <a:extLst>
              <a:ext uri="{FF2B5EF4-FFF2-40B4-BE49-F238E27FC236}">
                <a16:creationId xmlns:a16="http://schemas.microsoft.com/office/drawing/2014/main" id="{0F1F1F7A-27D2-2AFC-4ECE-D9214FFC3E40}"/>
              </a:ext>
            </a:extLst>
          </p:cNvPr>
          <p:cNvSpPr/>
          <p:nvPr/>
        </p:nvSpPr>
        <p:spPr>
          <a:xfrm>
            <a:off x="680322" y="4867257"/>
            <a:ext cx="2512583" cy="72969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 coins arrondis 13">
            <a:extLst>
              <a:ext uri="{FF2B5EF4-FFF2-40B4-BE49-F238E27FC236}">
                <a16:creationId xmlns:a16="http://schemas.microsoft.com/office/drawing/2014/main" id="{DB718FB5-3750-936C-CAFD-B1AFA240128E}"/>
              </a:ext>
            </a:extLst>
          </p:cNvPr>
          <p:cNvSpPr/>
          <p:nvPr/>
        </p:nvSpPr>
        <p:spPr>
          <a:xfrm>
            <a:off x="4092316" y="2623411"/>
            <a:ext cx="3070025" cy="57626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Flèche : courbe vers la droite 14">
            <a:extLst>
              <a:ext uri="{FF2B5EF4-FFF2-40B4-BE49-F238E27FC236}">
                <a16:creationId xmlns:a16="http://schemas.microsoft.com/office/drawing/2014/main" id="{E34DF08A-27DB-3B9B-C768-0C00EC734C1D}"/>
              </a:ext>
            </a:extLst>
          </p:cNvPr>
          <p:cNvSpPr/>
          <p:nvPr/>
        </p:nvSpPr>
        <p:spPr>
          <a:xfrm>
            <a:off x="318030" y="2998033"/>
            <a:ext cx="341960" cy="990885"/>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6" name="Flèche : courbe vers la droite 15">
            <a:extLst>
              <a:ext uri="{FF2B5EF4-FFF2-40B4-BE49-F238E27FC236}">
                <a16:creationId xmlns:a16="http://schemas.microsoft.com/office/drawing/2014/main" id="{48229210-3625-C5EA-9264-A257BFB0CAF6}"/>
              </a:ext>
            </a:extLst>
          </p:cNvPr>
          <p:cNvSpPr/>
          <p:nvPr/>
        </p:nvSpPr>
        <p:spPr>
          <a:xfrm>
            <a:off x="331569" y="5386123"/>
            <a:ext cx="328422" cy="576262"/>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7" name="Flèche : courbe vers la droite 16">
            <a:extLst>
              <a:ext uri="{FF2B5EF4-FFF2-40B4-BE49-F238E27FC236}">
                <a16:creationId xmlns:a16="http://schemas.microsoft.com/office/drawing/2014/main" id="{CB9020F3-8EA0-0B5E-346E-7ACEC41B62C5}"/>
              </a:ext>
            </a:extLst>
          </p:cNvPr>
          <p:cNvSpPr/>
          <p:nvPr/>
        </p:nvSpPr>
        <p:spPr>
          <a:xfrm>
            <a:off x="3750355" y="3199674"/>
            <a:ext cx="362291" cy="576262"/>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8" name="Flèche : courbe vers la droite 17">
            <a:extLst>
              <a:ext uri="{FF2B5EF4-FFF2-40B4-BE49-F238E27FC236}">
                <a16:creationId xmlns:a16="http://schemas.microsoft.com/office/drawing/2014/main" id="{13577D9E-71CC-8FDD-0530-CE999D12D8B2}"/>
              </a:ext>
            </a:extLst>
          </p:cNvPr>
          <p:cNvSpPr/>
          <p:nvPr/>
        </p:nvSpPr>
        <p:spPr>
          <a:xfrm>
            <a:off x="3730025" y="3199673"/>
            <a:ext cx="348754" cy="1462268"/>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9" name="Flèche : courbe vers la droite 18">
            <a:extLst>
              <a:ext uri="{FF2B5EF4-FFF2-40B4-BE49-F238E27FC236}">
                <a16:creationId xmlns:a16="http://schemas.microsoft.com/office/drawing/2014/main" id="{F5EE7A8C-B72B-BFC3-4855-9E77BC9D228C}"/>
              </a:ext>
            </a:extLst>
          </p:cNvPr>
          <p:cNvSpPr/>
          <p:nvPr/>
        </p:nvSpPr>
        <p:spPr>
          <a:xfrm>
            <a:off x="3730024" y="3199673"/>
            <a:ext cx="362292" cy="2616511"/>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Tree>
    <p:extLst>
      <p:ext uri="{BB962C8B-B14F-4D97-AF65-F5344CB8AC3E}">
        <p14:creationId xmlns:p14="http://schemas.microsoft.com/office/powerpoint/2010/main" val="42823265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D6A0E83-624D-FD17-1BC4-DF77C5AB7542}"/>
              </a:ext>
            </a:extLst>
          </p:cNvPr>
          <p:cNvSpPr>
            <a:spLocks noGrp="1"/>
          </p:cNvSpPr>
          <p:nvPr>
            <p:ph type="title"/>
          </p:nvPr>
        </p:nvSpPr>
        <p:spPr/>
        <p:txBody>
          <a:bodyPr/>
          <a:lstStyle/>
          <a:p>
            <a:r>
              <a:rPr lang="fr-FR" dirty="0"/>
              <a:t>Data </a:t>
            </a:r>
            <a:r>
              <a:rPr lang="fr-FR" dirty="0" err="1"/>
              <a:t>Preparation</a:t>
            </a:r>
            <a:r>
              <a:rPr lang="fr-FR" dirty="0"/>
              <a:t> : </a:t>
            </a:r>
            <a:r>
              <a:rPr lang="fr-FR" dirty="0" err="1"/>
              <a:t>RandomForest</a:t>
            </a:r>
            <a:endParaRPr lang="fr-FR" dirty="0"/>
          </a:p>
        </p:txBody>
      </p:sp>
      <p:sp>
        <p:nvSpPr>
          <p:cNvPr id="3" name="Espace réservé du texte 2">
            <a:extLst>
              <a:ext uri="{FF2B5EF4-FFF2-40B4-BE49-F238E27FC236}">
                <a16:creationId xmlns:a16="http://schemas.microsoft.com/office/drawing/2014/main" id="{18E62DA1-20E5-E40C-327A-B1220E0498BE}"/>
              </a:ext>
            </a:extLst>
          </p:cNvPr>
          <p:cNvSpPr>
            <a:spLocks noGrp="1"/>
          </p:cNvSpPr>
          <p:nvPr>
            <p:ph type="body" idx="1"/>
          </p:nvPr>
        </p:nvSpPr>
        <p:spPr/>
        <p:txBody>
          <a:bodyPr/>
          <a:lstStyle/>
          <a:p>
            <a:r>
              <a:rPr lang="fr-FR" dirty="0"/>
              <a:t>Diviser les données</a:t>
            </a:r>
          </a:p>
        </p:txBody>
      </p:sp>
      <p:sp>
        <p:nvSpPr>
          <p:cNvPr id="4" name="Espace réservé du texte 3">
            <a:extLst>
              <a:ext uri="{FF2B5EF4-FFF2-40B4-BE49-F238E27FC236}">
                <a16:creationId xmlns:a16="http://schemas.microsoft.com/office/drawing/2014/main" id="{7F9C38BF-CF13-F2D5-1BDC-6F26D667888B}"/>
              </a:ext>
            </a:extLst>
          </p:cNvPr>
          <p:cNvSpPr>
            <a:spLocks noGrp="1"/>
          </p:cNvSpPr>
          <p:nvPr>
            <p:ph type="body" sz="half" idx="15"/>
          </p:nvPr>
        </p:nvSpPr>
        <p:spPr>
          <a:xfrm>
            <a:off x="882230" y="3022673"/>
            <a:ext cx="2847794" cy="812653"/>
          </a:xfrm>
        </p:spPr>
        <p:txBody>
          <a:bodyPr>
            <a:noAutofit/>
          </a:bodyPr>
          <a:lstStyle/>
          <a:p>
            <a:r>
              <a:rPr lang="fr-FR" sz="1800" dirty="0">
                <a:latin typeface="Arial" panose="020B0604020202020204" pitchFamily="34" charset="0"/>
                <a:cs typeface="Arial" panose="020B0604020202020204" pitchFamily="34" charset="0"/>
              </a:rPr>
              <a:t>        Test 20%</a:t>
            </a:r>
          </a:p>
          <a:p>
            <a:r>
              <a:rPr lang="fr-FR" sz="1800" dirty="0">
                <a:latin typeface="Arial" panose="020B0604020202020204" pitchFamily="34" charset="0"/>
                <a:cs typeface="Arial" panose="020B0604020202020204" pitchFamily="34" charset="0"/>
              </a:rPr>
              <a:t>        Train 80%</a:t>
            </a:r>
          </a:p>
        </p:txBody>
      </p:sp>
      <p:sp>
        <p:nvSpPr>
          <p:cNvPr id="5" name="Espace réservé du texte 4">
            <a:extLst>
              <a:ext uri="{FF2B5EF4-FFF2-40B4-BE49-F238E27FC236}">
                <a16:creationId xmlns:a16="http://schemas.microsoft.com/office/drawing/2014/main" id="{B4FB0EA8-D17E-5568-92B0-1F90F5933BED}"/>
              </a:ext>
            </a:extLst>
          </p:cNvPr>
          <p:cNvSpPr>
            <a:spLocks noGrp="1"/>
          </p:cNvSpPr>
          <p:nvPr>
            <p:ph type="body" sz="quarter" idx="3"/>
          </p:nvPr>
        </p:nvSpPr>
        <p:spPr>
          <a:xfrm>
            <a:off x="774507" y="4071716"/>
            <a:ext cx="3063240" cy="791872"/>
          </a:xfrm>
        </p:spPr>
        <p:txBody>
          <a:bodyPr/>
          <a:lstStyle/>
          <a:p>
            <a:r>
              <a:rPr lang="fr-FR" dirty="0"/>
              <a:t>Entraînement du modèle :</a:t>
            </a:r>
          </a:p>
        </p:txBody>
      </p:sp>
      <p:sp>
        <p:nvSpPr>
          <p:cNvPr id="11" name="Rectangle 2">
            <a:extLst>
              <a:ext uri="{FF2B5EF4-FFF2-40B4-BE49-F238E27FC236}">
                <a16:creationId xmlns:a16="http://schemas.microsoft.com/office/drawing/2014/main" id="{A1A2AA90-67A4-BED7-D59F-C620EE5244DA}"/>
              </a:ext>
            </a:extLst>
          </p:cNvPr>
          <p:cNvSpPr>
            <a:spLocks noGrp="1" noChangeArrowheads="1"/>
          </p:cNvSpPr>
          <p:nvPr>
            <p:ph type="body" sz="half" idx="16"/>
          </p:nvPr>
        </p:nvSpPr>
        <p:spPr bwMode="auto">
          <a:xfrm>
            <a:off x="472065" y="5099978"/>
            <a:ext cx="468455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fr-FR" altLang="fr-FR" sz="1800" b="0" i="0" u="none" strike="noStrike" cap="none" normalizeH="0" baseline="0" dirty="0">
                <a:ln>
                  <a:noFill/>
                </a:ln>
                <a:solidFill>
                  <a:schemeClr val="tx1"/>
                </a:solidFill>
                <a:effectLst/>
                <a:latin typeface="Arial" panose="020B0604020202020204" pitchFamily="34" charset="0"/>
              </a:rPr>
              <a:t>Création du </a:t>
            </a:r>
            <a:r>
              <a:rPr kumimoji="0" lang="fr-FR" altLang="fr-FR" sz="1800" b="0" i="0" u="none" strike="noStrike" cap="none" normalizeH="0" baseline="0" dirty="0" err="1">
                <a:ln>
                  <a:noFill/>
                </a:ln>
                <a:solidFill>
                  <a:schemeClr val="tx1"/>
                </a:solidFill>
                <a:effectLst/>
                <a:latin typeface="Arial" panose="020B0604020202020204" pitchFamily="34" charset="0"/>
              </a:rPr>
              <a:t>Random</a:t>
            </a:r>
            <a:r>
              <a:rPr kumimoji="0" lang="fr-FR" altLang="fr-FR" sz="1800" b="0" i="0" u="none" strike="noStrike" cap="none" normalizeH="0" baseline="0" dirty="0">
                <a:ln>
                  <a:noFill/>
                </a:ln>
                <a:solidFill>
                  <a:schemeClr val="tx1"/>
                </a:solidFill>
                <a:effectLst/>
                <a:latin typeface="Arial" panose="020B0604020202020204" pitchFamily="34" charset="0"/>
              </a:rPr>
              <a:t> Forest Classifier</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fr-FR" altLang="fr-FR" sz="1800" b="0" i="0" u="none" strike="noStrike" cap="none" normalizeH="0" baseline="0" dirty="0">
                <a:ln>
                  <a:noFill/>
                </a:ln>
                <a:solidFill>
                  <a:schemeClr val="tx1"/>
                </a:solidFill>
                <a:effectLst/>
                <a:latin typeface="Arial" panose="020B0604020202020204" pitchFamily="34" charset="0"/>
              </a:rPr>
              <a:t>Apprentissage sur les données d’entraînement </a:t>
            </a:r>
            <a:r>
              <a:rPr kumimoji="0" lang="fr-FR" altLang="fr-FR" sz="1200" b="0" i="0" u="none" strike="noStrike" cap="none" normalizeH="0" baseline="0" dirty="0">
                <a:ln>
                  <a:noFill/>
                </a:ln>
                <a:solidFill>
                  <a:schemeClr val="tx1"/>
                </a:solidFill>
                <a:effectLst/>
                <a:latin typeface="Arial" panose="020B0604020202020204" pitchFamily="34" charset="0"/>
              </a:rPr>
              <a:t>(</a:t>
            </a:r>
            <a:r>
              <a:rPr kumimoji="0" lang="fr-FR" altLang="fr-FR" sz="1200" b="0" i="0" u="none" strike="noStrike" cap="none" normalizeH="0" baseline="0" dirty="0" err="1">
                <a:ln>
                  <a:noFill/>
                </a:ln>
                <a:solidFill>
                  <a:schemeClr val="tx1"/>
                </a:solidFill>
                <a:effectLst/>
                <a:latin typeface="Arial Unicode MS"/>
              </a:rPr>
              <a:t>X_train</a:t>
            </a:r>
            <a:r>
              <a:rPr kumimoji="0" lang="fr-FR" altLang="fr-FR" sz="1200" b="0" i="0" u="none" strike="noStrike" cap="none" normalizeH="0" baseline="0" dirty="0">
                <a:ln>
                  <a:noFill/>
                </a:ln>
                <a:solidFill>
                  <a:schemeClr val="tx1"/>
                </a:solidFill>
                <a:effectLst/>
              </a:rPr>
              <a:t>, </a:t>
            </a:r>
            <a:r>
              <a:rPr kumimoji="0" lang="fr-FR" altLang="fr-FR" sz="1200" b="0" i="0" u="none" strike="noStrike" cap="none" normalizeH="0" baseline="0" dirty="0" err="1">
                <a:ln>
                  <a:noFill/>
                </a:ln>
                <a:solidFill>
                  <a:schemeClr val="tx1"/>
                </a:solidFill>
                <a:effectLst/>
                <a:latin typeface="Arial Unicode MS"/>
              </a:rPr>
              <a:t>y_train</a:t>
            </a:r>
            <a:r>
              <a:rPr kumimoji="0" lang="fr-FR" altLang="fr-FR" sz="1200" b="0" i="0" u="none" strike="noStrike" cap="none" normalizeH="0" baseline="0" dirty="0">
                <a:ln>
                  <a:noFill/>
                </a:ln>
                <a:solidFill>
                  <a:schemeClr val="tx1"/>
                </a:solidFill>
                <a:effectLst/>
              </a:rPr>
              <a:t>)</a:t>
            </a:r>
            <a:endParaRPr kumimoji="0" lang="fr-FR" altLang="fr-FR" sz="1200" b="0" i="0" u="none" strike="noStrike" cap="none" normalizeH="0" baseline="0" dirty="0">
              <a:ln>
                <a:noFill/>
              </a:ln>
              <a:solidFill>
                <a:schemeClr val="tx1"/>
              </a:solidFill>
              <a:effectLst/>
              <a:latin typeface="Arial" panose="020B0604020202020204" pitchFamily="34" charset="0"/>
            </a:endParaRPr>
          </a:p>
        </p:txBody>
      </p:sp>
      <p:sp>
        <p:nvSpPr>
          <p:cNvPr id="7" name="Espace réservé du texte 6">
            <a:extLst>
              <a:ext uri="{FF2B5EF4-FFF2-40B4-BE49-F238E27FC236}">
                <a16:creationId xmlns:a16="http://schemas.microsoft.com/office/drawing/2014/main" id="{BAE9DDF9-8B2C-F3F2-7444-5BBD89FD33CB}"/>
              </a:ext>
            </a:extLst>
          </p:cNvPr>
          <p:cNvSpPr>
            <a:spLocks noGrp="1"/>
          </p:cNvSpPr>
          <p:nvPr>
            <p:ph type="body" sz="quarter" idx="13"/>
          </p:nvPr>
        </p:nvSpPr>
        <p:spPr>
          <a:xfrm>
            <a:off x="5896047" y="2344175"/>
            <a:ext cx="3070025" cy="576262"/>
          </a:xfrm>
        </p:spPr>
        <p:txBody>
          <a:bodyPr/>
          <a:lstStyle/>
          <a:p>
            <a:r>
              <a:rPr lang="fr-FR" dirty="0"/>
              <a:t>Prédiction</a:t>
            </a:r>
          </a:p>
        </p:txBody>
      </p:sp>
      <p:sp>
        <p:nvSpPr>
          <p:cNvPr id="8" name="Espace réservé du texte 7">
            <a:extLst>
              <a:ext uri="{FF2B5EF4-FFF2-40B4-BE49-F238E27FC236}">
                <a16:creationId xmlns:a16="http://schemas.microsoft.com/office/drawing/2014/main" id="{B4D278ED-CE00-763B-2C53-4FCB733C4C63}"/>
              </a:ext>
            </a:extLst>
          </p:cNvPr>
          <p:cNvSpPr>
            <a:spLocks noGrp="1"/>
          </p:cNvSpPr>
          <p:nvPr>
            <p:ph type="body" sz="half" idx="17"/>
          </p:nvPr>
        </p:nvSpPr>
        <p:spPr>
          <a:xfrm>
            <a:off x="5811956" y="3253230"/>
            <a:ext cx="3070025" cy="940317"/>
          </a:xfrm>
        </p:spPr>
        <p:txBody>
          <a:bodyPr>
            <a:normAutofit/>
          </a:bodyPr>
          <a:lstStyle/>
          <a:p>
            <a:pPr marL="285750" indent="-285750">
              <a:buFont typeface="Wingdings" panose="05000000000000000000" pitchFamily="2" charset="2"/>
              <a:buChar char="Ø"/>
            </a:pPr>
            <a:r>
              <a:rPr lang="fr-FR" sz="1800" dirty="0">
                <a:latin typeface="Arial" panose="020B0604020202020204" pitchFamily="34" charset="0"/>
                <a:cs typeface="Arial" panose="020B0604020202020204" pitchFamily="34" charset="0"/>
              </a:rPr>
              <a:t>Application du modèle sur </a:t>
            </a:r>
            <a:r>
              <a:rPr lang="fr-FR" sz="1800" dirty="0" err="1">
                <a:latin typeface="Arial" panose="020B0604020202020204" pitchFamily="34" charset="0"/>
                <a:cs typeface="Arial" panose="020B0604020202020204" pitchFamily="34" charset="0"/>
              </a:rPr>
              <a:t>X_test</a:t>
            </a:r>
            <a:r>
              <a:rPr lang="fr-FR" sz="1800" dirty="0">
                <a:latin typeface="Arial" panose="020B0604020202020204" pitchFamily="34" charset="0"/>
                <a:cs typeface="Arial" panose="020B0604020202020204" pitchFamily="34" charset="0"/>
              </a:rPr>
              <a:t> pour obtenir </a:t>
            </a:r>
            <a:r>
              <a:rPr lang="fr-FR" sz="1800" dirty="0" err="1">
                <a:latin typeface="Arial" panose="020B0604020202020204" pitchFamily="34" charset="0"/>
                <a:cs typeface="Arial" panose="020B0604020202020204" pitchFamily="34" charset="0"/>
              </a:rPr>
              <a:t>y_pred</a:t>
            </a:r>
            <a:r>
              <a:rPr lang="fr-FR" sz="1800" dirty="0">
                <a:latin typeface="Arial" panose="020B0604020202020204" pitchFamily="34" charset="0"/>
                <a:cs typeface="Arial" panose="020B0604020202020204" pitchFamily="34" charset="0"/>
              </a:rPr>
              <a:t> (Oui/Non)</a:t>
            </a:r>
          </a:p>
        </p:txBody>
      </p:sp>
      <p:sp>
        <p:nvSpPr>
          <p:cNvPr id="9" name="Rectangle : coins arrondis 8">
            <a:extLst>
              <a:ext uri="{FF2B5EF4-FFF2-40B4-BE49-F238E27FC236}">
                <a16:creationId xmlns:a16="http://schemas.microsoft.com/office/drawing/2014/main" id="{32CB34F4-94AC-A45D-1C51-EDBD6CC40AD6}"/>
              </a:ext>
            </a:extLst>
          </p:cNvPr>
          <p:cNvSpPr/>
          <p:nvPr/>
        </p:nvSpPr>
        <p:spPr>
          <a:xfrm>
            <a:off x="669222" y="2336873"/>
            <a:ext cx="2847794" cy="68580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Flèche : courbe vers la droite 11">
            <a:extLst>
              <a:ext uri="{FF2B5EF4-FFF2-40B4-BE49-F238E27FC236}">
                <a16:creationId xmlns:a16="http://schemas.microsoft.com/office/drawing/2014/main" id="{3AB84404-6059-7B3A-F7C3-60322DCB1743}"/>
              </a:ext>
            </a:extLst>
          </p:cNvPr>
          <p:cNvSpPr/>
          <p:nvPr/>
        </p:nvSpPr>
        <p:spPr>
          <a:xfrm>
            <a:off x="362806" y="2679773"/>
            <a:ext cx="298140" cy="749227"/>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3" name="Rectangle : coins arrondis 12">
            <a:extLst>
              <a:ext uri="{FF2B5EF4-FFF2-40B4-BE49-F238E27FC236}">
                <a16:creationId xmlns:a16="http://schemas.microsoft.com/office/drawing/2014/main" id="{9075511A-2CA4-6B75-444A-881C8F67B3FC}"/>
              </a:ext>
            </a:extLst>
          </p:cNvPr>
          <p:cNvSpPr/>
          <p:nvPr/>
        </p:nvSpPr>
        <p:spPr>
          <a:xfrm>
            <a:off x="669222" y="4071716"/>
            <a:ext cx="2847794" cy="79187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Flèche : courbe vers la droite 13">
            <a:extLst>
              <a:ext uri="{FF2B5EF4-FFF2-40B4-BE49-F238E27FC236}">
                <a16:creationId xmlns:a16="http://schemas.microsoft.com/office/drawing/2014/main" id="{206E0E41-455A-893E-83ED-78C2E535F96E}"/>
              </a:ext>
            </a:extLst>
          </p:cNvPr>
          <p:cNvSpPr/>
          <p:nvPr/>
        </p:nvSpPr>
        <p:spPr>
          <a:xfrm>
            <a:off x="5115519" y="2878617"/>
            <a:ext cx="298140" cy="749227"/>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5" name="Rectangle : coins arrondis 14">
            <a:extLst>
              <a:ext uri="{FF2B5EF4-FFF2-40B4-BE49-F238E27FC236}">
                <a16:creationId xmlns:a16="http://schemas.microsoft.com/office/drawing/2014/main" id="{50624EB4-6CF8-33F9-BD77-C753C2E91F12}"/>
              </a:ext>
            </a:extLst>
          </p:cNvPr>
          <p:cNvSpPr/>
          <p:nvPr/>
        </p:nvSpPr>
        <p:spPr>
          <a:xfrm>
            <a:off x="5682083" y="2283837"/>
            <a:ext cx="2588387" cy="79187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Flèche : courbe vers la droite 15">
            <a:extLst>
              <a:ext uri="{FF2B5EF4-FFF2-40B4-BE49-F238E27FC236}">
                <a16:creationId xmlns:a16="http://schemas.microsoft.com/office/drawing/2014/main" id="{DD506BDC-2D65-3061-DD8A-76F4F633C99F}"/>
              </a:ext>
            </a:extLst>
          </p:cNvPr>
          <p:cNvSpPr/>
          <p:nvPr/>
        </p:nvSpPr>
        <p:spPr>
          <a:xfrm>
            <a:off x="5547545" y="4725364"/>
            <a:ext cx="298140" cy="749227"/>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7" name="ZoneTexte 16">
            <a:extLst>
              <a:ext uri="{FF2B5EF4-FFF2-40B4-BE49-F238E27FC236}">
                <a16:creationId xmlns:a16="http://schemas.microsoft.com/office/drawing/2014/main" id="{F1FB5721-763F-E4AE-FB34-8D161BC740D0}"/>
              </a:ext>
            </a:extLst>
          </p:cNvPr>
          <p:cNvSpPr txBox="1"/>
          <p:nvPr/>
        </p:nvSpPr>
        <p:spPr>
          <a:xfrm flipH="1">
            <a:off x="5896047" y="4526340"/>
            <a:ext cx="4151923" cy="461665"/>
          </a:xfrm>
          <a:prstGeom prst="rect">
            <a:avLst/>
          </a:prstGeom>
          <a:noFill/>
        </p:spPr>
        <p:txBody>
          <a:bodyPr wrap="square" rtlCol="0">
            <a:spAutoFit/>
          </a:bodyPr>
          <a:lstStyle/>
          <a:p>
            <a:r>
              <a:rPr lang="fr-FR" sz="2400" dirty="0"/>
              <a:t>Évaluation des performances</a:t>
            </a:r>
          </a:p>
        </p:txBody>
      </p:sp>
      <p:sp>
        <p:nvSpPr>
          <p:cNvPr id="18" name="ZoneTexte 17">
            <a:extLst>
              <a:ext uri="{FF2B5EF4-FFF2-40B4-BE49-F238E27FC236}">
                <a16:creationId xmlns:a16="http://schemas.microsoft.com/office/drawing/2014/main" id="{77D343CD-F87D-194B-525E-2A7BD66D30E5}"/>
              </a:ext>
            </a:extLst>
          </p:cNvPr>
          <p:cNvSpPr txBox="1"/>
          <p:nvPr/>
        </p:nvSpPr>
        <p:spPr>
          <a:xfrm>
            <a:off x="5952416" y="5358131"/>
            <a:ext cx="4341766" cy="369332"/>
          </a:xfrm>
          <a:prstGeom prst="rect">
            <a:avLst/>
          </a:prstGeom>
          <a:noFill/>
        </p:spPr>
        <p:txBody>
          <a:bodyPr wrap="none" rtlCol="0">
            <a:spAutoFit/>
          </a:bodyPr>
          <a:lstStyle/>
          <a:p>
            <a:pPr marL="285750" indent="-285750">
              <a:buFont typeface="Wingdings" panose="05000000000000000000" pitchFamily="2" charset="2"/>
              <a:buChar char="Ø"/>
            </a:pPr>
            <a:r>
              <a:rPr lang="fr-FR" dirty="0" err="1">
                <a:latin typeface="Arial" panose="020B0604020202020204" pitchFamily="34" charset="0"/>
                <a:cs typeface="Arial" panose="020B0604020202020204" pitchFamily="34" charset="0"/>
              </a:rPr>
              <a:t>Accuracy</a:t>
            </a:r>
            <a:r>
              <a:rPr lang="fr-FR" dirty="0">
                <a:latin typeface="Arial" panose="020B0604020202020204" pitchFamily="34" charset="0"/>
                <a:cs typeface="Arial" panose="020B0604020202020204" pitchFamily="34" charset="0"/>
              </a:rPr>
              <a:t>, Confusion Matrix, F1-Score</a:t>
            </a:r>
          </a:p>
        </p:txBody>
      </p:sp>
      <p:sp>
        <p:nvSpPr>
          <p:cNvPr id="19" name="Rectangle : coins arrondis 18">
            <a:extLst>
              <a:ext uri="{FF2B5EF4-FFF2-40B4-BE49-F238E27FC236}">
                <a16:creationId xmlns:a16="http://schemas.microsoft.com/office/drawing/2014/main" id="{452ADE03-DE0C-C24D-D02A-746B9C77C1A6}"/>
              </a:ext>
            </a:extLst>
          </p:cNvPr>
          <p:cNvSpPr/>
          <p:nvPr/>
        </p:nvSpPr>
        <p:spPr>
          <a:xfrm>
            <a:off x="5845685" y="4472081"/>
            <a:ext cx="4420914" cy="6858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Flèche : courbe vers la droite 19">
            <a:extLst>
              <a:ext uri="{FF2B5EF4-FFF2-40B4-BE49-F238E27FC236}">
                <a16:creationId xmlns:a16="http://schemas.microsoft.com/office/drawing/2014/main" id="{0E08D9F6-7E66-2B99-0A42-C7E315CFE028}"/>
              </a:ext>
            </a:extLst>
          </p:cNvPr>
          <p:cNvSpPr/>
          <p:nvPr/>
        </p:nvSpPr>
        <p:spPr>
          <a:xfrm>
            <a:off x="366136" y="4878197"/>
            <a:ext cx="298140" cy="749227"/>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Tree>
    <p:extLst>
      <p:ext uri="{BB962C8B-B14F-4D97-AF65-F5344CB8AC3E}">
        <p14:creationId xmlns:p14="http://schemas.microsoft.com/office/powerpoint/2010/main" val="19661899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50BB89-2EF6-0CA8-A028-A58C1C309E16}"/>
              </a:ext>
            </a:extLst>
          </p:cNvPr>
          <p:cNvSpPr>
            <a:spLocks noGrp="1"/>
          </p:cNvSpPr>
          <p:nvPr>
            <p:ph type="title"/>
          </p:nvPr>
        </p:nvSpPr>
        <p:spPr/>
        <p:txBody>
          <a:bodyPr/>
          <a:lstStyle/>
          <a:p>
            <a:r>
              <a:rPr lang="fr-FR" b="1" dirty="0"/>
              <a:t>Interprétation des métriques par classe</a:t>
            </a:r>
            <a:endParaRPr lang="fr-FR" dirty="0"/>
          </a:p>
        </p:txBody>
      </p:sp>
      <p:sp>
        <p:nvSpPr>
          <p:cNvPr id="5" name="Espace réservé du texte 4">
            <a:extLst>
              <a:ext uri="{FF2B5EF4-FFF2-40B4-BE49-F238E27FC236}">
                <a16:creationId xmlns:a16="http://schemas.microsoft.com/office/drawing/2014/main" id="{412B085E-56E6-9688-E777-BC58339BCC24}"/>
              </a:ext>
            </a:extLst>
          </p:cNvPr>
          <p:cNvSpPr>
            <a:spLocks noGrp="1"/>
          </p:cNvSpPr>
          <p:nvPr>
            <p:ph type="body" idx="1"/>
          </p:nvPr>
        </p:nvSpPr>
        <p:spPr>
          <a:xfrm>
            <a:off x="4960366" y="2456061"/>
            <a:ext cx="3063240" cy="576262"/>
          </a:xfrm>
        </p:spPr>
        <p:txBody>
          <a:bodyPr/>
          <a:lstStyle/>
          <a:p>
            <a:r>
              <a:rPr lang="fr-FR" dirty="0"/>
              <a:t>Classe No</a:t>
            </a:r>
          </a:p>
        </p:txBody>
      </p:sp>
      <p:sp>
        <p:nvSpPr>
          <p:cNvPr id="8" name="Espace réservé du texte 7">
            <a:extLst>
              <a:ext uri="{FF2B5EF4-FFF2-40B4-BE49-F238E27FC236}">
                <a16:creationId xmlns:a16="http://schemas.microsoft.com/office/drawing/2014/main" id="{A9472948-5533-8FAF-53A7-AA5EC0CBB5EC}"/>
              </a:ext>
            </a:extLst>
          </p:cNvPr>
          <p:cNvSpPr>
            <a:spLocks noGrp="1"/>
          </p:cNvSpPr>
          <p:nvPr>
            <p:ph type="body" sz="half" idx="15"/>
          </p:nvPr>
        </p:nvSpPr>
        <p:spPr>
          <a:xfrm>
            <a:off x="8303447" y="3032323"/>
            <a:ext cx="3070025" cy="2913513"/>
          </a:xfrm>
        </p:spPr>
        <p:txBody>
          <a:bodyPr>
            <a:normAutofit fontScale="92500" lnSpcReduction="10000"/>
          </a:bodyPr>
          <a:lstStyle/>
          <a:p>
            <a:r>
              <a:rPr lang="fr-FR" b="1" dirty="0" err="1"/>
              <a:t>Precision</a:t>
            </a:r>
            <a:r>
              <a:rPr lang="fr-FR" b="1" dirty="0"/>
              <a:t> 0.471</a:t>
            </a:r>
            <a:r>
              <a:rPr lang="fr-FR" dirty="0"/>
              <a:t> → Quand le modèle prédit “Yes”, il a raison 47,1 % du temps</a:t>
            </a:r>
          </a:p>
          <a:p>
            <a:r>
              <a:rPr lang="fr-FR" b="1" dirty="0" err="1"/>
              <a:t>Recall</a:t>
            </a:r>
            <a:r>
              <a:rPr lang="fr-FR" b="1" dirty="0"/>
              <a:t> 0.340</a:t>
            </a:r>
            <a:r>
              <a:rPr lang="fr-FR" dirty="0"/>
              <a:t> → Sur tous les vrais “Yes”, il n’en détecte que 34 %</a:t>
            </a:r>
          </a:p>
          <a:p>
            <a:r>
              <a:rPr lang="fr-FR" b="1" dirty="0"/>
              <a:t>F1-score 0.395</a:t>
            </a:r>
            <a:r>
              <a:rPr lang="fr-FR" dirty="0"/>
              <a:t> → Faible, montre que le modèle a du mal à équilibrer précision et rappel</a:t>
            </a:r>
          </a:p>
          <a:p>
            <a:r>
              <a:rPr lang="fr-FR" b="1" dirty="0"/>
              <a:t>Support 47</a:t>
            </a:r>
            <a:r>
              <a:rPr lang="fr-FR" dirty="0"/>
              <a:t> → Nombre réel de “Yes” dans le test</a:t>
            </a:r>
          </a:p>
          <a:p>
            <a:r>
              <a:rPr lang="fr-FR" dirty="0"/>
              <a:t>⚠️ La classe minoritaire reste </a:t>
            </a:r>
            <a:r>
              <a:rPr lang="fr-FR" b="1" dirty="0"/>
              <a:t>difficile à détecter</a:t>
            </a:r>
            <a:r>
              <a:rPr lang="fr-FR" dirty="0"/>
              <a:t>, mais il y a une amélioration par rapport au cas précédent (avant </a:t>
            </a:r>
            <a:r>
              <a:rPr lang="fr-FR" dirty="0" err="1"/>
              <a:t>class_weight</a:t>
            </a:r>
            <a:r>
              <a:rPr lang="fr-FR" dirty="0"/>
              <a:t>).</a:t>
            </a:r>
          </a:p>
          <a:p>
            <a:endParaRPr lang="fr-FR" dirty="0"/>
          </a:p>
        </p:txBody>
      </p:sp>
      <p:sp>
        <p:nvSpPr>
          <p:cNvPr id="7" name="Espace réservé du texte 6">
            <a:extLst>
              <a:ext uri="{FF2B5EF4-FFF2-40B4-BE49-F238E27FC236}">
                <a16:creationId xmlns:a16="http://schemas.microsoft.com/office/drawing/2014/main" id="{9226D1FA-CEBE-1D1D-5422-B303DDF95E96}"/>
              </a:ext>
            </a:extLst>
          </p:cNvPr>
          <p:cNvSpPr>
            <a:spLocks noGrp="1"/>
          </p:cNvSpPr>
          <p:nvPr>
            <p:ph type="body" sz="quarter" idx="3"/>
          </p:nvPr>
        </p:nvSpPr>
        <p:spPr>
          <a:xfrm>
            <a:off x="8453348" y="2336873"/>
            <a:ext cx="3070025" cy="576262"/>
          </a:xfrm>
        </p:spPr>
        <p:txBody>
          <a:bodyPr/>
          <a:lstStyle/>
          <a:p>
            <a:r>
              <a:rPr lang="fr-FR" dirty="0"/>
              <a:t>Classe Yes</a:t>
            </a:r>
          </a:p>
        </p:txBody>
      </p:sp>
      <p:sp>
        <p:nvSpPr>
          <p:cNvPr id="6" name="Espace réservé du texte 5">
            <a:extLst>
              <a:ext uri="{FF2B5EF4-FFF2-40B4-BE49-F238E27FC236}">
                <a16:creationId xmlns:a16="http://schemas.microsoft.com/office/drawing/2014/main" id="{192F2CEE-9CE0-7E64-EBD5-3DE8537D024E}"/>
              </a:ext>
            </a:extLst>
          </p:cNvPr>
          <p:cNvSpPr>
            <a:spLocks noGrp="1"/>
          </p:cNvSpPr>
          <p:nvPr>
            <p:ph type="body" sz="quarter" idx="13"/>
          </p:nvPr>
        </p:nvSpPr>
        <p:spPr>
          <a:xfrm>
            <a:off x="4885416" y="3051623"/>
            <a:ext cx="3063240" cy="2913513"/>
          </a:xfrm>
        </p:spPr>
        <p:txBody>
          <a:bodyPr/>
          <a:lstStyle/>
          <a:p>
            <a:r>
              <a:rPr lang="fr-FR" b="1" dirty="0" err="1"/>
              <a:t>Precision</a:t>
            </a:r>
            <a:r>
              <a:rPr lang="fr-FR" b="1" dirty="0"/>
              <a:t> 0.881</a:t>
            </a:r>
            <a:r>
              <a:rPr lang="fr-FR" dirty="0"/>
              <a:t> → Parmi toutes les prédictions “No”, 88,1 % sont correctes</a:t>
            </a:r>
          </a:p>
          <a:p>
            <a:r>
              <a:rPr lang="fr-FR" b="1" dirty="0" err="1"/>
              <a:t>Recall</a:t>
            </a:r>
            <a:r>
              <a:rPr lang="fr-FR" b="1" dirty="0"/>
              <a:t> 0.927</a:t>
            </a:r>
            <a:r>
              <a:rPr lang="fr-FR" dirty="0"/>
              <a:t> → Parmi tous les vrais “No”, le modèle en détecte 92,7 %</a:t>
            </a:r>
          </a:p>
          <a:p>
            <a:r>
              <a:rPr lang="fr-FR" b="1" dirty="0"/>
              <a:t>F1-score 0.903</a:t>
            </a:r>
            <a:r>
              <a:rPr lang="fr-FR" dirty="0"/>
              <a:t> → Bon équilibre entre précision et rappel</a:t>
            </a:r>
          </a:p>
          <a:p>
            <a:r>
              <a:rPr lang="fr-FR" b="1" dirty="0"/>
              <a:t>Support 247</a:t>
            </a:r>
            <a:r>
              <a:rPr lang="fr-FR" dirty="0"/>
              <a:t> → Nombre réel de “No” dans le test</a:t>
            </a:r>
          </a:p>
          <a:p>
            <a:r>
              <a:rPr lang="fr-FR" dirty="0"/>
              <a:t>✅ Très bonne performance sur la classe majoritaire</a:t>
            </a:r>
          </a:p>
          <a:p>
            <a:endParaRPr lang="fr-FR" dirty="0"/>
          </a:p>
        </p:txBody>
      </p:sp>
      <p:pic>
        <p:nvPicPr>
          <p:cNvPr id="11" name="Image 10">
            <a:extLst>
              <a:ext uri="{FF2B5EF4-FFF2-40B4-BE49-F238E27FC236}">
                <a16:creationId xmlns:a16="http://schemas.microsoft.com/office/drawing/2014/main" id="{A2A3DD2F-E476-D022-1A11-E431A9E8B9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9803" y="2456062"/>
            <a:ext cx="4185851" cy="3401168"/>
          </a:xfrm>
          <a:prstGeom prst="rect">
            <a:avLst/>
          </a:prstGeom>
        </p:spPr>
      </p:pic>
      <p:sp>
        <p:nvSpPr>
          <p:cNvPr id="12" name="Rectangle 11">
            <a:extLst>
              <a:ext uri="{FF2B5EF4-FFF2-40B4-BE49-F238E27FC236}">
                <a16:creationId xmlns:a16="http://schemas.microsoft.com/office/drawing/2014/main" id="{2C5A0E9F-4BFD-343A-CB6C-DD028DCDEF61}"/>
              </a:ext>
            </a:extLst>
          </p:cNvPr>
          <p:cNvSpPr/>
          <p:nvPr/>
        </p:nvSpPr>
        <p:spPr>
          <a:xfrm>
            <a:off x="299803" y="2456061"/>
            <a:ext cx="4230821" cy="3401169"/>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1229344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A9E1F22-FA3B-319E-7526-65FEEB047E56}"/>
              </a:ext>
            </a:extLst>
          </p:cNvPr>
          <p:cNvSpPr>
            <a:spLocks noGrp="1"/>
          </p:cNvSpPr>
          <p:nvPr>
            <p:ph type="title"/>
          </p:nvPr>
        </p:nvSpPr>
        <p:spPr/>
        <p:txBody>
          <a:bodyPr/>
          <a:lstStyle/>
          <a:p>
            <a:r>
              <a:rPr lang="fr-FR" b="1" dirty="0"/>
              <a:t>Analyse globale</a:t>
            </a:r>
            <a:endParaRPr lang="fr-FR" dirty="0"/>
          </a:p>
        </p:txBody>
      </p:sp>
      <p:sp>
        <p:nvSpPr>
          <p:cNvPr id="3" name="Espace réservé du texte 2">
            <a:extLst>
              <a:ext uri="{FF2B5EF4-FFF2-40B4-BE49-F238E27FC236}">
                <a16:creationId xmlns:a16="http://schemas.microsoft.com/office/drawing/2014/main" id="{0724DEC6-4958-B29E-BAD6-DA7AD08206F2}"/>
              </a:ext>
            </a:extLst>
          </p:cNvPr>
          <p:cNvSpPr>
            <a:spLocks noGrp="1"/>
          </p:cNvSpPr>
          <p:nvPr>
            <p:ph type="body" idx="1"/>
          </p:nvPr>
        </p:nvSpPr>
        <p:spPr/>
        <p:txBody>
          <a:bodyPr/>
          <a:lstStyle/>
          <a:p>
            <a:r>
              <a:rPr lang="fr-FR" dirty="0" err="1"/>
              <a:t>Accuracy</a:t>
            </a:r>
            <a:endParaRPr lang="fr-FR" dirty="0"/>
          </a:p>
        </p:txBody>
      </p:sp>
      <p:sp>
        <p:nvSpPr>
          <p:cNvPr id="4" name="Espace réservé du texte 3">
            <a:extLst>
              <a:ext uri="{FF2B5EF4-FFF2-40B4-BE49-F238E27FC236}">
                <a16:creationId xmlns:a16="http://schemas.microsoft.com/office/drawing/2014/main" id="{BE756D16-B878-7190-8B09-149ED18BAD9E}"/>
              </a:ext>
            </a:extLst>
          </p:cNvPr>
          <p:cNvSpPr>
            <a:spLocks noGrp="1"/>
          </p:cNvSpPr>
          <p:nvPr>
            <p:ph type="body" sz="half" idx="15"/>
          </p:nvPr>
        </p:nvSpPr>
        <p:spPr/>
        <p:txBody>
          <a:bodyPr/>
          <a:lstStyle/>
          <a:p>
            <a:r>
              <a:rPr lang="fr-FR" b="1" dirty="0" err="1"/>
              <a:t>Accuracy</a:t>
            </a:r>
            <a:r>
              <a:rPr lang="fr-FR" b="1" dirty="0"/>
              <a:t> 0.833</a:t>
            </a:r>
            <a:r>
              <a:rPr lang="fr-FR" dirty="0"/>
              <a:t> → 83,3 % des prédictions globales sont correctes</a:t>
            </a:r>
            <a:br>
              <a:rPr lang="fr-FR" dirty="0"/>
            </a:br>
            <a:r>
              <a:rPr lang="fr-FR" dirty="0"/>
              <a:t>❌  pour des classes déséquilibrées, l’</a:t>
            </a:r>
            <a:r>
              <a:rPr lang="fr-FR" dirty="0" err="1"/>
              <a:t>accuracy</a:t>
            </a:r>
            <a:r>
              <a:rPr lang="fr-FR" dirty="0"/>
              <a:t> peut être trompeuse → le modèle favorise naturellement “No”</a:t>
            </a:r>
          </a:p>
          <a:p>
            <a:endParaRPr lang="fr-FR" dirty="0"/>
          </a:p>
        </p:txBody>
      </p:sp>
      <p:sp>
        <p:nvSpPr>
          <p:cNvPr id="5" name="Espace réservé du texte 4">
            <a:extLst>
              <a:ext uri="{FF2B5EF4-FFF2-40B4-BE49-F238E27FC236}">
                <a16:creationId xmlns:a16="http://schemas.microsoft.com/office/drawing/2014/main" id="{BF47B05A-B67E-DD44-7E30-6E773A8682E9}"/>
              </a:ext>
            </a:extLst>
          </p:cNvPr>
          <p:cNvSpPr>
            <a:spLocks noGrp="1"/>
          </p:cNvSpPr>
          <p:nvPr>
            <p:ph type="body" sz="quarter" idx="3"/>
          </p:nvPr>
        </p:nvSpPr>
        <p:spPr/>
        <p:txBody>
          <a:bodyPr/>
          <a:lstStyle/>
          <a:p>
            <a:r>
              <a:rPr lang="fr-FR" dirty="0"/>
              <a:t>Macro </a:t>
            </a:r>
            <a:r>
              <a:rPr lang="fr-FR" dirty="0" err="1"/>
              <a:t>avg</a:t>
            </a:r>
            <a:endParaRPr lang="fr-FR" dirty="0"/>
          </a:p>
        </p:txBody>
      </p:sp>
      <p:sp>
        <p:nvSpPr>
          <p:cNvPr id="6" name="Espace réservé du texte 5">
            <a:extLst>
              <a:ext uri="{FF2B5EF4-FFF2-40B4-BE49-F238E27FC236}">
                <a16:creationId xmlns:a16="http://schemas.microsoft.com/office/drawing/2014/main" id="{0890A8F5-7BDD-1678-F015-19ADEC25131F}"/>
              </a:ext>
            </a:extLst>
          </p:cNvPr>
          <p:cNvSpPr>
            <a:spLocks noGrp="1"/>
          </p:cNvSpPr>
          <p:nvPr>
            <p:ph type="body" sz="half" idx="16"/>
          </p:nvPr>
        </p:nvSpPr>
        <p:spPr/>
        <p:txBody>
          <a:bodyPr/>
          <a:lstStyle/>
          <a:p>
            <a:r>
              <a:rPr lang="fr-FR" b="1" dirty="0"/>
              <a:t>Macro </a:t>
            </a:r>
            <a:r>
              <a:rPr lang="fr-FR" b="1" dirty="0" err="1"/>
              <a:t>avg</a:t>
            </a:r>
            <a:r>
              <a:rPr lang="fr-FR" dirty="0"/>
              <a:t> (moyenne simple des deux classes)</a:t>
            </a:r>
          </a:p>
          <a:p>
            <a:pPr lvl="1"/>
            <a:r>
              <a:rPr lang="fr-FR" dirty="0" err="1"/>
              <a:t>Precision</a:t>
            </a:r>
            <a:r>
              <a:rPr lang="fr-FR" dirty="0"/>
              <a:t> 0.676, </a:t>
            </a:r>
            <a:r>
              <a:rPr lang="fr-FR" dirty="0" err="1"/>
              <a:t>Recall</a:t>
            </a:r>
            <a:r>
              <a:rPr lang="fr-FR" dirty="0"/>
              <a:t> 0.634, F1 0.649</a:t>
            </a:r>
            <a:br>
              <a:rPr lang="fr-FR" dirty="0"/>
            </a:br>
            <a:r>
              <a:rPr lang="fr-FR" dirty="0"/>
              <a:t>→ Donne une idée du </a:t>
            </a:r>
            <a:r>
              <a:rPr lang="fr-FR" b="1" dirty="0"/>
              <a:t>comportement global</a:t>
            </a:r>
            <a:r>
              <a:rPr lang="fr-FR" dirty="0"/>
              <a:t> du modèle sur chaque classe à égalité</a:t>
            </a:r>
          </a:p>
          <a:p>
            <a:endParaRPr lang="fr-FR" dirty="0"/>
          </a:p>
        </p:txBody>
      </p:sp>
      <p:sp>
        <p:nvSpPr>
          <p:cNvPr id="7" name="Espace réservé du texte 6">
            <a:extLst>
              <a:ext uri="{FF2B5EF4-FFF2-40B4-BE49-F238E27FC236}">
                <a16:creationId xmlns:a16="http://schemas.microsoft.com/office/drawing/2014/main" id="{3E4D75AB-3B8B-10EC-4EA5-DC3FDDB0E8F6}"/>
              </a:ext>
            </a:extLst>
          </p:cNvPr>
          <p:cNvSpPr>
            <a:spLocks noGrp="1"/>
          </p:cNvSpPr>
          <p:nvPr>
            <p:ph type="body" sz="quarter" idx="13"/>
          </p:nvPr>
        </p:nvSpPr>
        <p:spPr/>
        <p:txBody>
          <a:bodyPr/>
          <a:lstStyle/>
          <a:p>
            <a:r>
              <a:rPr lang="fr-FR" dirty="0" err="1"/>
              <a:t>Weight</a:t>
            </a:r>
            <a:r>
              <a:rPr lang="fr-FR" dirty="0"/>
              <a:t> </a:t>
            </a:r>
            <a:r>
              <a:rPr lang="fr-FR" dirty="0" err="1"/>
              <a:t>avg</a:t>
            </a:r>
            <a:endParaRPr lang="fr-FR" dirty="0"/>
          </a:p>
        </p:txBody>
      </p:sp>
      <p:sp>
        <p:nvSpPr>
          <p:cNvPr id="8" name="Espace réservé du texte 7">
            <a:extLst>
              <a:ext uri="{FF2B5EF4-FFF2-40B4-BE49-F238E27FC236}">
                <a16:creationId xmlns:a16="http://schemas.microsoft.com/office/drawing/2014/main" id="{849D97A1-6EA7-06FB-8A86-265AD25FF42D}"/>
              </a:ext>
            </a:extLst>
          </p:cNvPr>
          <p:cNvSpPr>
            <a:spLocks noGrp="1"/>
          </p:cNvSpPr>
          <p:nvPr>
            <p:ph type="body" sz="half" idx="17"/>
          </p:nvPr>
        </p:nvSpPr>
        <p:spPr/>
        <p:txBody>
          <a:bodyPr/>
          <a:lstStyle/>
          <a:p>
            <a:r>
              <a:rPr lang="fr-FR" b="1" dirty="0" err="1"/>
              <a:t>Weighted</a:t>
            </a:r>
            <a:r>
              <a:rPr lang="fr-FR" b="1" dirty="0"/>
              <a:t> </a:t>
            </a:r>
            <a:r>
              <a:rPr lang="fr-FR" b="1" dirty="0" err="1"/>
              <a:t>avg</a:t>
            </a:r>
            <a:r>
              <a:rPr lang="fr-FR" dirty="0"/>
              <a:t> (moyenne pondérée par support)</a:t>
            </a:r>
          </a:p>
          <a:p>
            <a:pPr lvl="1"/>
            <a:r>
              <a:rPr lang="fr-FR" dirty="0" err="1"/>
              <a:t>Precision</a:t>
            </a:r>
            <a:r>
              <a:rPr lang="fr-FR" dirty="0"/>
              <a:t> 0.815, </a:t>
            </a:r>
            <a:r>
              <a:rPr lang="fr-FR" dirty="0" err="1"/>
              <a:t>Recall</a:t>
            </a:r>
            <a:r>
              <a:rPr lang="fr-FR" dirty="0"/>
              <a:t> 0.833, F1 0.822</a:t>
            </a:r>
            <a:br>
              <a:rPr lang="fr-FR" dirty="0"/>
            </a:br>
            <a:r>
              <a:rPr lang="fr-FR" dirty="0"/>
              <a:t>→ Domine par la classe majoritaire “No” → cache un peu les difficultés sur “Yes”</a:t>
            </a:r>
          </a:p>
          <a:p>
            <a:endParaRPr lang="fr-FR" dirty="0"/>
          </a:p>
        </p:txBody>
      </p:sp>
    </p:spTree>
    <p:extLst>
      <p:ext uri="{BB962C8B-B14F-4D97-AF65-F5344CB8AC3E}">
        <p14:creationId xmlns:p14="http://schemas.microsoft.com/office/powerpoint/2010/main" val="23079521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05AF3A-B7C2-F40A-B61B-1DC58C94F910}"/>
              </a:ext>
            </a:extLst>
          </p:cNvPr>
          <p:cNvSpPr>
            <a:spLocks noGrp="1"/>
          </p:cNvSpPr>
          <p:nvPr>
            <p:ph type="title"/>
          </p:nvPr>
        </p:nvSpPr>
        <p:spPr/>
        <p:txBody>
          <a:bodyPr/>
          <a:lstStyle/>
          <a:p>
            <a:r>
              <a:rPr lang="fr-FR" b="1" dirty="0"/>
              <a:t>Conclusion</a:t>
            </a:r>
            <a:br>
              <a:rPr lang="fr-FR" b="1" dirty="0"/>
            </a:br>
            <a:endParaRPr lang="fr-FR" dirty="0"/>
          </a:p>
        </p:txBody>
      </p:sp>
      <p:sp>
        <p:nvSpPr>
          <p:cNvPr id="3" name="Espace réservé du contenu 2">
            <a:extLst>
              <a:ext uri="{FF2B5EF4-FFF2-40B4-BE49-F238E27FC236}">
                <a16:creationId xmlns:a16="http://schemas.microsoft.com/office/drawing/2014/main" id="{22A38E1D-4D76-AE6B-2E2E-4DC1D64A4532}"/>
              </a:ext>
            </a:extLst>
          </p:cNvPr>
          <p:cNvSpPr>
            <a:spLocks noGrp="1"/>
          </p:cNvSpPr>
          <p:nvPr>
            <p:ph idx="1"/>
          </p:nvPr>
        </p:nvSpPr>
        <p:spPr/>
        <p:txBody>
          <a:bodyPr>
            <a:normAutofit fontScale="85000" lnSpcReduction="20000"/>
          </a:bodyPr>
          <a:lstStyle/>
          <a:p>
            <a:r>
              <a:rPr lang="fr-FR" dirty="0"/>
              <a:t>Le modèle </a:t>
            </a:r>
            <a:r>
              <a:rPr lang="fr-FR" b="1" dirty="0"/>
              <a:t>prédit très bien la classe majoritaire “No”</a:t>
            </a:r>
            <a:r>
              <a:rPr lang="fr-FR" dirty="0"/>
              <a:t>, avec un F1-score de 0.903.</a:t>
            </a:r>
          </a:p>
          <a:p>
            <a:r>
              <a:rPr lang="fr-FR" dirty="0"/>
              <a:t>La classe minoritaire </a:t>
            </a:r>
            <a:r>
              <a:rPr lang="fr-FR" b="1" dirty="0"/>
              <a:t>“Yes” est encore mal détectée</a:t>
            </a:r>
            <a:r>
              <a:rPr lang="fr-FR" dirty="0"/>
              <a:t>, </a:t>
            </a:r>
            <a:r>
              <a:rPr lang="fr-FR" dirty="0" err="1"/>
              <a:t>recall</a:t>
            </a:r>
            <a:r>
              <a:rPr lang="fr-FR" dirty="0"/>
              <a:t> faible (0.34), ce qui signifie que </a:t>
            </a:r>
            <a:r>
              <a:rPr lang="fr-FR" b="1" dirty="0"/>
              <a:t>la plupart des vrais “Yes” sont manqués</a:t>
            </a:r>
            <a:r>
              <a:rPr lang="fr-FR" dirty="0"/>
              <a:t>.</a:t>
            </a:r>
          </a:p>
          <a:p>
            <a:r>
              <a:rPr lang="fr-FR" dirty="0"/>
              <a:t>La précision de “Yes” (0.471) montre que quand le modèle prédit “Yes”, il est correct moins de la moitié du temps.</a:t>
            </a:r>
          </a:p>
          <a:p>
            <a:r>
              <a:rPr lang="fr-FR" dirty="0"/>
              <a:t>L’</a:t>
            </a:r>
            <a:r>
              <a:rPr lang="fr-FR" dirty="0" err="1"/>
              <a:t>accuracy</a:t>
            </a:r>
            <a:r>
              <a:rPr lang="fr-FR" dirty="0"/>
              <a:t> globale (0.833) est trompeuse, car elle reflète surtout la bonne prédiction de “No”.</a:t>
            </a:r>
          </a:p>
          <a:p>
            <a:r>
              <a:rPr lang="fr-FR" dirty="0"/>
              <a:t>Des mesures comme </a:t>
            </a:r>
            <a:r>
              <a:rPr lang="fr-FR" b="1" dirty="0"/>
              <a:t>macro F1</a:t>
            </a:r>
            <a:r>
              <a:rPr lang="fr-FR" dirty="0"/>
              <a:t> (0.649) donnent une meilleure idée de la performance réelle sur les deux classes.</a:t>
            </a:r>
          </a:p>
          <a:p>
            <a:r>
              <a:rPr lang="fr-FR" dirty="0"/>
              <a:t>Le déséquilibre des classes reste le problème principal pour améliorer la détection de “Yes”.</a:t>
            </a:r>
          </a:p>
          <a:p>
            <a:endParaRPr lang="fr-FR" dirty="0"/>
          </a:p>
        </p:txBody>
      </p:sp>
    </p:spTree>
    <p:extLst>
      <p:ext uri="{BB962C8B-B14F-4D97-AF65-F5344CB8AC3E}">
        <p14:creationId xmlns:p14="http://schemas.microsoft.com/office/powerpoint/2010/main" val="31990591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5BCFF87-D5AB-6EFE-5BDB-62806A248E79}"/>
              </a:ext>
            </a:extLst>
          </p:cNvPr>
          <p:cNvSpPr>
            <a:spLocks noGrp="1"/>
          </p:cNvSpPr>
          <p:nvPr>
            <p:ph type="title"/>
          </p:nvPr>
        </p:nvSpPr>
        <p:spPr/>
        <p:txBody>
          <a:bodyPr/>
          <a:lstStyle/>
          <a:p>
            <a:r>
              <a:rPr lang="fr-FR" dirty="0"/>
              <a:t> Analyse </a:t>
            </a:r>
            <a:r>
              <a:rPr lang="fr-FR" dirty="0" err="1"/>
              <a:t>RandomForest</a:t>
            </a:r>
            <a:endParaRPr lang="fr-FR" dirty="0"/>
          </a:p>
        </p:txBody>
      </p:sp>
      <p:sp>
        <p:nvSpPr>
          <p:cNvPr id="3" name="Espace réservé du contenu 2">
            <a:extLst>
              <a:ext uri="{FF2B5EF4-FFF2-40B4-BE49-F238E27FC236}">
                <a16:creationId xmlns:a16="http://schemas.microsoft.com/office/drawing/2014/main" id="{7E92B5FF-DA7F-9A00-BFD8-F85B8B3B473A}"/>
              </a:ext>
            </a:extLst>
          </p:cNvPr>
          <p:cNvSpPr>
            <a:spLocks noGrp="1"/>
          </p:cNvSpPr>
          <p:nvPr>
            <p:ph idx="1"/>
          </p:nvPr>
        </p:nvSpPr>
        <p:spPr/>
        <p:txBody>
          <a:bodyPr/>
          <a:lstStyle/>
          <a:p>
            <a:r>
              <a:rPr lang="fr-FR" dirty="0"/>
              <a:t>Le modèle </a:t>
            </a:r>
            <a:r>
              <a:rPr lang="fr-FR" dirty="0" err="1"/>
              <a:t>RandomForest</a:t>
            </a:r>
            <a:r>
              <a:rPr lang="fr-FR" dirty="0"/>
              <a:t> prédit très bien la classe majoritaire </a:t>
            </a:r>
            <a:r>
              <a:rPr lang="fr-FR" b="1" dirty="0"/>
              <a:t>“No”</a:t>
            </a:r>
            <a:r>
              <a:rPr lang="fr-FR" dirty="0"/>
              <a:t>, avec 92 % des vrais “No” correctement détectés.</a:t>
            </a:r>
            <a:br>
              <a:rPr lang="fr-FR" dirty="0"/>
            </a:br>
            <a:r>
              <a:rPr lang="fr-FR" dirty="0"/>
              <a:t>Pour la classe minoritaire </a:t>
            </a:r>
            <a:r>
              <a:rPr lang="fr-FR" b="1" dirty="0"/>
              <a:t>“Yes”</a:t>
            </a:r>
            <a:r>
              <a:rPr lang="fr-FR" dirty="0"/>
              <a:t>, le modèle a plus de difficultés : il ne détecte que 34 % des vrais “Yes”, et quand il prédit “Yes”, il a raison seulement 47 % du temps.</a:t>
            </a:r>
            <a:br>
              <a:rPr lang="fr-FR" dirty="0"/>
            </a:br>
            <a:r>
              <a:rPr lang="fr-FR" dirty="0"/>
              <a:t>L’</a:t>
            </a:r>
            <a:r>
              <a:rPr lang="fr-FR" b="1" dirty="0" err="1"/>
              <a:t>accuracy</a:t>
            </a:r>
            <a:r>
              <a:rPr lang="fr-FR" b="1" dirty="0"/>
              <a:t> globale</a:t>
            </a:r>
            <a:r>
              <a:rPr lang="fr-FR" dirty="0"/>
              <a:t> est de 83 %, mais elle est influencée par la classe majoritaire, donc elle ne montre pas toute la difficulté sur “Yes”.</a:t>
            </a:r>
            <a:br>
              <a:rPr lang="fr-FR" dirty="0"/>
            </a:br>
            <a:r>
              <a:rPr lang="fr-FR" dirty="0"/>
              <a:t>Le modèle a donc besoin d’améliorations pour mieux détecter les “Yes”, mais il fait déjà un bon travail sur les “No”.</a:t>
            </a:r>
          </a:p>
          <a:p>
            <a:endParaRPr lang="fr-FR" dirty="0"/>
          </a:p>
        </p:txBody>
      </p:sp>
    </p:spTree>
    <p:extLst>
      <p:ext uri="{BB962C8B-B14F-4D97-AF65-F5344CB8AC3E}">
        <p14:creationId xmlns:p14="http://schemas.microsoft.com/office/powerpoint/2010/main" val="14081038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BDA1498-A2ED-0627-0730-728FEA3C3EE4}"/>
              </a:ext>
            </a:extLst>
          </p:cNvPr>
          <p:cNvSpPr>
            <a:spLocks noGrp="1"/>
          </p:cNvSpPr>
          <p:nvPr>
            <p:ph type="title"/>
          </p:nvPr>
        </p:nvSpPr>
        <p:spPr/>
        <p:txBody>
          <a:bodyPr/>
          <a:lstStyle/>
          <a:p>
            <a:r>
              <a:rPr lang="fr-FR" dirty="0"/>
              <a:t>Du modèle supervisé au modèle non supervisé</a:t>
            </a:r>
          </a:p>
        </p:txBody>
      </p:sp>
      <p:sp>
        <p:nvSpPr>
          <p:cNvPr id="3" name="Espace réservé du texte 2">
            <a:extLst>
              <a:ext uri="{FF2B5EF4-FFF2-40B4-BE49-F238E27FC236}">
                <a16:creationId xmlns:a16="http://schemas.microsoft.com/office/drawing/2014/main" id="{CB26F9FC-01FF-B7F2-ED5E-28A73FD5257A}"/>
              </a:ext>
            </a:extLst>
          </p:cNvPr>
          <p:cNvSpPr>
            <a:spLocks noGrp="1"/>
          </p:cNvSpPr>
          <p:nvPr>
            <p:ph type="body" idx="1"/>
          </p:nvPr>
        </p:nvSpPr>
        <p:spPr/>
        <p:txBody>
          <a:bodyPr/>
          <a:lstStyle/>
          <a:p>
            <a:r>
              <a:rPr lang="fr-FR" dirty="0"/>
              <a:t>En utilisant un modèle de machine </a:t>
            </a:r>
            <a:r>
              <a:rPr lang="fr-FR" dirty="0" err="1"/>
              <a:t>learning</a:t>
            </a:r>
            <a:r>
              <a:rPr lang="fr-FR" dirty="0"/>
              <a:t> </a:t>
            </a:r>
            <a:r>
              <a:rPr lang="fr-FR" b="1" dirty="0"/>
              <a:t>supervisé</a:t>
            </a:r>
            <a:r>
              <a:rPr lang="fr-FR" dirty="0"/>
              <a:t>, j’ai remarqué un </a:t>
            </a:r>
            <a:r>
              <a:rPr lang="fr-FR" b="1" dirty="0"/>
              <a:t>déséquilibre entre les classes</a:t>
            </a:r>
            <a:r>
              <a:rPr lang="fr-FR" dirty="0"/>
              <a:t>, ce qui faisait que le modèle prédisait mieux la classe majoritaire « NO » que la classe minoritaire « YES ». Pour cette raison, j’ai ensuite choisi d’appliquer des méthodes </a:t>
            </a:r>
            <a:r>
              <a:rPr lang="fr-FR" b="1" dirty="0"/>
              <a:t>non supervisées</a:t>
            </a:r>
            <a:r>
              <a:rPr lang="fr-FR" dirty="0"/>
              <a:t> afin de mieux comprendre la structure des données.</a:t>
            </a:r>
          </a:p>
        </p:txBody>
      </p:sp>
    </p:spTree>
    <p:extLst>
      <p:ext uri="{BB962C8B-B14F-4D97-AF65-F5344CB8AC3E}">
        <p14:creationId xmlns:p14="http://schemas.microsoft.com/office/powerpoint/2010/main" val="6601987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DF9907F-A535-E363-2D3E-771962AB5263}"/>
              </a:ext>
            </a:extLst>
          </p:cNvPr>
          <p:cNvSpPr>
            <a:spLocks noGrp="1"/>
          </p:cNvSpPr>
          <p:nvPr>
            <p:ph type="title"/>
          </p:nvPr>
        </p:nvSpPr>
        <p:spPr/>
        <p:txBody>
          <a:bodyPr/>
          <a:lstStyle/>
          <a:p>
            <a:r>
              <a:rPr lang="fr-FR" dirty="0"/>
              <a:t>Model Non Superviser </a:t>
            </a:r>
            <a:r>
              <a:rPr lang="fr-FR" dirty="0" err="1"/>
              <a:t>KMeans</a:t>
            </a:r>
            <a:endParaRPr lang="fr-FR" dirty="0"/>
          </a:p>
        </p:txBody>
      </p:sp>
      <p:sp>
        <p:nvSpPr>
          <p:cNvPr id="3" name="Espace réservé du texte 2">
            <a:extLst>
              <a:ext uri="{FF2B5EF4-FFF2-40B4-BE49-F238E27FC236}">
                <a16:creationId xmlns:a16="http://schemas.microsoft.com/office/drawing/2014/main" id="{3D0A9E79-EC54-1C6A-0512-DA9674882D9C}"/>
              </a:ext>
            </a:extLst>
          </p:cNvPr>
          <p:cNvSpPr>
            <a:spLocks noGrp="1"/>
          </p:cNvSpPr>
          <p:nvPr>
            <p:ph type="body" idx="1"/>
          </p:nvPr>
        </p:nvSpPr>
        <p:spPr>
          <a:xfrm>
            <a:off x="793334" y="2084460"/>
            <a:ext cx="4472327" cy="693135"/>
          </a:xfrm>
        </p:spPr>
        <p:txBody>
          <a:bodyPr/>
          <a:lstStyle/>
          <a:p>
            <a:r>
              <a:rPr lang="fr-FR" dirty="0"/>
              <a:t>Data </a:t>
            </a:r>
            <a:r>
              <a:rPr lang="fr-FR" dirty="0" err="1"/>
              <a:t>Preparation</a:t>
            </a:r>
            <a:r>
              <a:rPr lang="fr-FR" dirty="0"/>
              <a:t> </a:t>
            </a:r>
          </a:p>
        </p:txBody>
      </p:sp>
      <p:sp>
        <p:nvSpPr>
          <p:cNvPr id="4" name="Espace réservé du contenu 3">
            <a:extLst>
              <a:ext uri="{FF2B5EF4-FFF2-40B4-BE49-F238E27FC236}">
                <a16:creationId xmlns:a16="http://schemas.microsoft.com/office/drawing/2014/main" id="{01F71C93-C6F9-E422-66BC-1B34A52784C3}"/>
              </a:ext>
            </a:extLst>
          </p:cNvPr>
          <p:cNvSpPr>
            <a:spLocks noGrp="1"/>
          </p:cNvSpPr>
          <p:nvPr>
            <p:ph sz="half" idx="2"/>
          </p:nvPr>
        </p:nvSpPr>
        <p:spPr/>
        <p:txBody>
          <a:bodyPr>
            <a:normAutofit fontScale="77500" lnSpcReduction="20000"/>
          </a:bodyPr>
          <a:lstStyle/>
          <a:p>
            <a:r>
              <a:rPr lang="fr-FR" dirty="0">
                <a:effectLst/>
              </a:rPr>
              <a:t>Transformer les colonnes catégorielles de X en variables numériques</a:t>
            </a:r>
          </a:p>
          <a:p>
            <a:endParaRPr lang="fr-FR" dirty="0"/>
          </a:p>
          <a:p>
            <a:endParaRPr lang="fr-FR" dirty="0"/>
          </a:p>
          <a:p>
            <a:r>
              <a:rPr lang="fr-FR" dirty="0"/>
              <a:t>On a choisis les ‘ </a:t>
            </a:r>
            <a:r>
              <a:rPr lang="fr-FR" dirty="0" err="1"/>
              <a:t>Feautres</a:t>
            </a:r>
            <a:r>
              <a:rPr lang="fr-FR" dirty="0"/>
              <a:t>’  :</a:t>
            </a:r>
            <a:r>
              <a:rPr lang="en-US" dirty="0">
                <a:effectLst/>
              </a:rPr>
              <a:t>  "Age", "</a:t>
            </a:r>
            <a:r>
              <a:rPr lang="en-US" dirty="0" err="1">
                <a:effectLst/>
              </a:rPr>
              <a:t>DailyRate</a:t>
            </a:r>
            <a:r>
              <a:rPr lang="en-US" dirty="0">
                <a:effectLst/>
              </a:rPr>
              <a:t>","</a:t>
            </a:r>
            <a:r>
              <a:rPr lang="en-US" dirty="0" err="1">
                <a:effectLst/>
              </a:rPr>
              <a:t>DistanceFromHome</a:t>
            </a:r>
            <a:r>
              <a:rPr lang="en-US" dirty="0">
                <a:effectLst/>
              </a:rPr>
              <a:t>" , "Education", "</a:t>
            </a:r>
            <a:r>
              <a:rPr lang="en-US" dirty="0" err="1">
                <a:effectLst/>
              </a:rPr>
              <a:t>EmployeeCount</a:t>
            </a:r>
            <a:r>
              <a:rPr lang="en-US" dirty="0">
                <a:effectLst/>
              </a:rPr>
              <a:t>" ,"</a:t>
            </a:r>
            <a:r>
              <a:rPr lang="en-US" dirty="0" err="1">
                <a:effectLst/>
              </a:rPr>
              <a:t>EnvironmentSatisfaction</a:t>
            </a:r>
            <a:r>
              <a:rPr lang="en-US" dirty="0">
                <a:effectLst/>
              </a:rPr>
              <a:t>" , "</a:t>
            </a:r>
            <a:r>
              <a:rPr lang="en-US" dirty="0" err="1">
                <a:effectLst/>
              </a:rPr>
              <a:t>MonthlyIncome</a:t>
            </a:r>
            <a:r>
              <a:rPr lang="en-US" dirty="0">
                <a:effectLst/>
              </a:rPr>
              <a:t>", "</a:t>
            </a:r>
            <a:r>
              <a:rPr lang="en-US" dirty="0" err="1">
                <a:effectLst/>
              </a:rPr>
              <a:t>TotalWorkingYears</a:t>
            </a:r>
            <a:r>
              <a:rPr lang="en-US" dirty="0">
                <a:effectLst/>
              </a:rPr>
              <a:t>", "</a:t>
            </a:r>
            <a:r>
              <a:rPr lang="en-US" dirty="0" err="1">
                <a:effectLst/>
              </a:rPr>
              <a:t>OverTime_Yes</a:t>
            </a:r>
            <a:r>
              <a:rPr lang="en-US" dirty="0">
                <a:effectLst/>
              </a:rPr>
              <a:t>"</a:t>
            </a:r>
            <a:br>
              <a:rPr lang="en-US" dirty="0">
                <a:effectLst/>
              </a:rPr>
            </a:br>
            <a:endParaRPr lang="en-US" dirty="0">
              <a:effectLst/>
            </a:endParaRPr>
          </a:p>
          <a:p>
            <a:endParaRPr lang="fr-FR" dirty="0"/>
          </a:p>
        </p:txBody>
      </p:sp>
      <p:sp>
        <p:nvSpPr>
          <p:cNvPr id="6" name="Espace réservé du contenu 5">
            <a:extLst>
              <a:ext uri="{FF2B5EF4-FFF2-40B4-BE49-F238E27FC236}">
                <a16:creationId xmlns:a16="http://schemas.microsoft.com/office/drawing/2014/main" id="{1C2D5AA9-B012-BCD9-AA95-8DEE1ABDE833}"/>
              </a:ext>
            </a:extLst>
          </p:cNvPr>
          <p:cNvSpPr>
            <a:spLocks noGrp="1"/>
          </p:cNvSpPr>
          <p:nvPr>
            <p:ph sz="quarter" idx="4"/>
          </p:nvPr>
        </p:nvSpPr>
        <p:spPr>
          <a:xfrm>
            <a:off x="6021899" y="2993354"/>
            <a:ext cx="4700059" cy="2906179"/>
          </a:xfrm>
        </p:spPr>
        <p:txBody>
          <a:bodyPr>
            <a:normAutofit fontScale="77500" lnSpcReduction="20000"/>
          </a:bodyPr>
          <a:lstStyle/>
          <a:p>
            <a:r>
              <a:rPr lang="fr-FR" dirty="0"/>
              <a:t>On a fait une copie de notre Data pour l’entrainer sur le Model </a:t>
            </a:r>
            <a:r>
              <a:rPr lang="fr-FR" dirty="0" err="1"/>
              <a:t>Kmeans</a:t>
            </a:r>
            <a:endParaRPr lang="fr-FR" dirty="0"/>
          </a:p>
          <a:p>
            <a:endParaRPr lang="fr-FR" dirty="0"/>
          </a:p>
          <a:p>
            <a:r>
              <a:rPr lang="fr-FR" dirty="0"/>
              <a:t>Transformer les </a:t>
            </a:r>
            <a:r>
              <a:rPr lang="fr-FR"/>
              <a:t>données moyenne 0,ecart-type </a:t>
            </a:r>
            <a:r>
              <a:rPr lang="fr-FR" dirty="0"/>
              <a:t>1 ( </a:t>
            </a:r>
            <a:r>
              <a:rPr lang="fr-FR" dirty="0" err="1"/>
              <a:t>Kmeans</a:t>
            </a:r>
            <a:r>
              <a:rPr lang="fr-FR" dirty="0"/>
              <a:t> Fonctionne avec Distance) </a:t>
            </a:r>
          </a:p>
          <a:p>
            <a:endParaRPr lang="fr-FR" dirty="0"/>
          </a:p>
          <a:p>
            <a:endParaRPr lang="fr-FR" dirty="0"/>
          </a:p>
          <a:p>
            <a:r>
              <a:rPr lang="fr-FR" dirty="0"/>
              <a:t>On a Entrainer notre sur un intervalle de rang entre 2 et 10 max </a:t>
            </a:r>
          </a:p>
        </p:txBody>
      </p:sp>
      <p:sp>
        <p:nvSpPr>
          <p:cNvPr id="7" name="Rectangle : coins arrondis 6">
            <a:extLst>
              <a:ext uri="{FF2B5EF4-FFF2-40B4-BE49-F238E27FC236}">
                <a16:creationId xmlns:a16="http://schemas.microsoft.com/office/drawing/2014/main" id="{50903F81-45BE-215D-704F-597306CBCA9B}"/>
              </a:ext>
            </a:extLst>
          </p:cNvPr>
          <p:cNvSpPr/>
          <p:nvPr/>
        </p:nvSpPr>
        <p:spPr>
          <a:xfrm>
            <a:off x="717239" y="3028949"/>
            <a:ext cx="4698358" cy="799044"/>
          </a:xfrm>
          <a:prstGeom prst="round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F8B94F15-ACDA-353B-D692-7E0CDA95E24C}"/>
              </a:ext>
            </a:extLst>
          </p:cNvPr>
          <p:cNvSpPr/>
          <p:nvPr/>
        </p:nvSpPr>
        <p:spPr>
          <a:xfrm>
            <a:off x="680319" y="3945961"/>
            <a:ext cx="4698358" cy="1913240"/>
          </a:xfrm>
          <a:prstGeom prst="round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Flèche : courbe vers la droite 8">
            <a:extLst>
              <a:ext uri="{FF2B5EF4-FFF2-40B4-BE49-F238E27FC236}">
                <a16:creationId xmlns:a16="http://schemas.microsoft.com/office/drawing/2014/main" id="{6289DD64-1292-9008-2D3D-7D0BA3ACA39A}"/>
              </a:ext>
            </a:extLst>
          </p:cNvPr>
          <p:cNvSpPr/>
          <p:nvPr/>
        </p:nvSpPr>
        <p:spPr>
          <a:xfrm>
            <a:off x="312682" y="3252866"/>
            <a:ext cx="367637" cy="1080937"/>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0" name="Rectangle : coins arrondis 9">
            <a:extLst>
              <a:ext uri="{FF2B5EF4-FFF2-40B4-BE49-F238E27FC236}">
                <a16:creationId xmlns:a16="http://schemas.microsoft.com/office/drawing/2014/main" id="{36495C8F-B338-3EBC-1949-D445CE08376C}"/>
              </a:ext>
            </a:extLst>
          </p:cNvPr>
          <p:cNvSpPr/>
          <p:nvPr/>
        </p:nvSpPr>
        <p:spPr>
          <a:xfrm>
            <a:off x="5893927" y="2903413"/>
            <a:ext cx="5063884" cy="904911"/>
          </a:xfrm>
          <a:prstGeom prst="round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 coins arrondis 10">
            <a:extLst>
              <a:ext uri="{FF2B5EF4-FFF2-40B4-BE49-F238E27FC236}">
                <a16:creationId xmlns:a16="http://schemas.microsoft.com/office/drawing/2014/main" id="{EC8DE9CE-B508-CD48-FE07-130748F06D30}"/>
              </a:ext>
            </a:extLst>
          </p:cNvPr>
          <p:cNvSpPr/>
          <p:nvPr/>
        </p:nvSpPr>
        <p:spPr>
          <a:xfrm>
            <a:off x="5854887" y="4954290"/>
            <a:ext cx="5063884" cy="904911"/>
          </a:xfrm>
          <a:prstGeom prst="round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Flèche : courbe vers la droite 11">
            <a:extLst>
              <a:ext uri="{FF2B5EF4-FFF2-40B4-BE49-F238E27FC236}">
                <a16:creationId xmlns:a16="http://schemas.microsoft.com/office/drawing/2014/main" id="{3CDE0B2A-D852-2BF6-D3C3-9C081BCDBF14}"/>
              </a:ext>
            </a:extLst>
          </p:cNvPr>
          <p:cNvSpPr/>
          <p:nvPr/>
        </p:nvSpPr>
        <p:spPr>
          <a:xfrm>
            <a:off x="5487250" y="3521865"/>
            <a:ext cx="367637" cy="1080937"/>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3" name="Rectangle : coins arrondis 12">
            <a:extLst>
              <a:ext uri="{FF2B5EF4-FFF2-40B4-BE49-F238E27FC236}">
                <a16:creationId xmlns:a16="http://schemas.microsoft.com/office/drawing/2014/main" id="{6651D8C5-DD9B-1C77-036D-4DE92944131A}"/>
              </a:ext>
            </a:extLst>
          </p:cNvPr>
          <p:cNvSpPr/>
          <p:nvPr/>
        </p:nvSpPr>
        <p:spPr>
          <a:xfrm>
            <a:off x="5963460" y="3697891"/>
            <a:ext cx="5063884" cy="904911"/>
          </a:xfrm>
          <a:prstGeom prst="round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Flèche : courbe vers la droite 13">
            <a:extLst>
              <a:ext uri="{FF2B5EF4-FFF2-40B4-BE49-F238E27FC236}">
                <a16:creationId xmlns:a16="http://schemas.microsoft.com/office/drawing/2014/main" id="{0DAD08D0-20B3-B7B9-F77F-3DCF1DAE590E}"/>
              </a:ext>
            </a:extLst>
          </p:cNvPr>
          <p:cNvSpPr/>
          <p:nvPr/>
        </p:nvSpPr>
        <p:spPr>
          <a:xfrm>
            <a:off x="5475142" y="4483366"/>
            <a:ext cx="367637" cy="1080937"/>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Tree>
    <p:extLst>
      <p:ext uri="{BB962C8B-B14F-4D97-AF65-F5344CB8AC3E}">
        <p14:creationId xmlns:p14="http://schemas.microsoft.com/office/powerpoint/2010/main" val="7680613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434382-144D-0723-4C8D-F87B038E9D8B}"/>
              </a:ext>
            </a:extLst>
          </p:cNvPr>
          <p:cNvSpPr>
            <a:spLocks noGrp="1"/>
          </p:cNvSpPr>
          <p:nvPr>
            <p:ph type="title"/>
          </p:nvPr>
        </p:nvSpPr>
        <p:spPr/>
        <p:txBody>
          <a:bodyPr/>
          <a:lstStyle/>
          <a:p>
            <a:r>
              <a:rPr lang="fr-FR" dirty="0"/>
              <a:t>Méthode du Coude(</a:t>
            </a:r>
            <a:r>
              <a:rPr lang="fr-FR" dirty="0" err="1"/>
              <a:t>Elbow</a:t>
            </a:r>
            <a:r>
              <a:rPr lang="fr-FR" dirty="0"/>
              <a:t> Method)</a:t>
            </a:r>
            <a:br>
              <a:rPr lang="fr-FR" dirty="0"/>
            </a:br>
            <a:endParaRPr lang="fr-FR" dirty="0"/>
          </a:p>
        </p:txBody>
      </p:sp>
      <p:pic>
        <p:nvPicPr>
          <p:cNvPr id="8" name="Espace réservé pour une image  7">
            <a:extLst>
              <a:ext uri="{FF2B5EF4-FFF2-40B4-BE49-F238E27FC236}">
                <a16:creationId xmlns:a16="http://schemas.microsoft.com/office/drawing/2014/main" id="{635957CA-BF8D-E250-76DB-68F37F9A7C98}"/>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t="4770" b="4770"/>
          <a:stretch>
            <a:fillRect/>
          </a:stretch>
        </p:blipFill>
        <p:spPr/>
      </p:pic>
      <p:sp>
        <p:nvSpPr>
          <p:cNvPr id="4" name="Espace réservé du texte 3">
            <a:extLst>
              <a:ext uri="{FF2B5EF4-FFF2-40B4-BE49-F238E27FC236}">
                <a16:creationId xmlns:a16="http://schemas.microsoft.com/office/drawing/2014/main" id="{A113C398-977A-BDA7-F120-EBECDB1DE3A7}"/>
              </a:ext>
            </a:extLst>
          </p:cNvPr>
          <p:cNvSpPr>
            <a:spLocks noGrp="1"/>
          </p:cNvSpPr>
          <p:nvPr>
            <p:ph type="body" sz="half" idx="2"/>
          </p:nvPr>
        </p:nvSpPr>
        <p:spPr>
          <a:xfrm>
            <a:off x="680323" y="2237227"/>
            <a:ext cx="5075900" cy="3867545"/>
          </a:xfrm>
        </p:spPr>
        <p:txBody>
          <a:bodyPr>
            <a:normAutofit fontScale="40000" lnSpcReduction="20000"/>
          </a:bodyPr>
          <a:lstStyle/>
          <a:p>
            <a:pPr>
              <a:lnSpc>
                <a:spcPct val="110000"/>
              </a:lnSpc>
            </a:pPr>
            <a:r>
              <a:rPr lang="fr-FR" sz="3400" dirty="0"/>
              <a:t>Ce graphique représente la courbe d’inertie en fonction du nombre de clusters selon la méthode du coude (</a:t>
            </a:r>
            <a:r>
              <a:rPr lang="fr-FR" sz="3400" dirty="0" err="1"/>
              <a:t>Elbow</a:t>
            </a:r>
            <a:r>
              <a:rPr lang="fr-FR" sz="3400" dirty="0"/>
              <a:t> Method).</a:t>
            </a:r>
          </a:p>
          <a:p>
            <a:pPr>
              <a:lnSpc>
                <a:spcPct val="110000"/>
              </a:lnSpc>
            </a:pPr>
            <a:r>
              <a:rPr lang="fr-FR" sz="3400" dirty="0"/>
              <a:t>On observe une forte diminution de l’inertie entre 2 et 3 clusters, ce qui indique une amélioration importante de la qualité du regroupement.</a:t>
            </a:r>
          </a:p>
          <a:p>
            <a:pPr>
              <a:lnSpc>
                <a:spcPct val="110000"/>
              </a:lnSpc>
            </a:pPr>
            <a:r>
              <a:rPr lang="fr-FR" sz="3400" dirty="0"/>
              <a:t>Après 3 clusters, la pente de la courbe devient moins raide. Entre 3 et 5 clusters, la diminution de l’inertie continue mais à un rythme plus lent.</a:t>
            </a:r>
          </a:p>
          <a:p>
            <a:pPr>
              <a:lnSpc>
                <a:spcPct val="110000"/>
              </a:lnSpc>
            </a:pPr>
            <a:r>
              <a:rPr lang="fr-FR" sz="3400" dirty="0"/>
              <a:t>À partir de 5 clusters, la courbe commence à s’aplatir davantage, ce qui signifie que l’ajout de nouveaux clusters n’améliore que très légèrement la qualité du clustering.</a:t>
            </a:r>
          </a:p>
          <a:p>
            <a:pPr>
              <a:lnSpc>
                <a:spcPct val="110000"/>
              </a:lnSpc>
            </a:pPr>
            <a:r>
              <a:rPr lang="fr-FR" sz="3400" dirty="0"/>
              <a:t>Ainsi, le point du coude se situe autour de 5 clusters, ce qui suggère que 5 est un nombre optimal de groupes pour segmenter les employés..</a:t>
            </a:r>
          </a:p>
          <a:p>
            <a:endParaRPr lang="fr-FR" dirty="0"/>
          </a:p>
        </p:txBody>
      </p:sp>
    </p:spTree>
    <p:extLst>
      <p:ext uri="{BB962C8B-B14F-4D97-AF65-F5344CB8AC3E}">
        <p14:creationId xmlns:p14="http://schemas.microsoft.com/office/powerpoint/2010/main" val="16636220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AD41174-E59A-63D8-C984-23EF71E1863C}"/>
              </a:ext>
            </a:extLst>
          </p:cNvPr>
          <p:cNvSpPr>
            <a:spLocks noGrp="1"/>
          </p:cNvSpPr>
          <p:nvPr>
            <p:ph type="title"/>
          </p:nvPr>
        </p:nvSpPr>
        <p:spPr/>
        <p:txBody>
          <a:bodyPr/>
          <a:lstStyle/>
          <a:p>
            <a:r>
              <a:rPr lang="fr-FR" dirty="0"/>
              <a:t>Segmentation des employés avec K-</a:t>
            </a:r>
            <a:r>
              <a:rPr lang="fr-FR" dirty="0" err="1"/>
              <a:t>Means</a:t>
            </a:r>
            <a:r>
              <a:rPr lang="fr-FR" dirty="0"/>
              <a:t> (visualisation PCA)</a:t>
            </a:r>
          </a:p>
        </p:txBody>
      </p:sp>
      <p:pic>
        <p:nvPicPr>
          <p:cNvPr id="6" name="Espace réservé pour une image  5">
            <a:extLst>
              <a:ext uri="{FF2B5EF4-FFF2-40B4-BE49-F238E27FC236}">
                <a16:creationId xmlns:a16="http://schemas.microsoft.com/office/drawing/2014/main" id="{2EFA7FF8-3F7D-FCC9-49ED-53139ED3CDDD}"/>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t="5586" b="5586"/>
          <a:stretch>
            <a:fillRect/>
          </a:stretch>
        </p:blipFill>
        <p:spPr>
          <a:xfrm>
            <a:off x="6417926" y="2336874"/>
            <a:ext cx="5425849" cy="3599312"/>
          </a:xfrm>
        </p:spPr>
      </p:pic>
      <p:sp>
        <p:nvSpPr>
          <p:cNvPr id="4" name="Espace réservé du texte 3">
            <a:extLst>
              <a:ext uri="{FF2B5EF4-FFF2-40B4-BE49-F238E27FC236}">
                <a16:creationId xmlns:a16="http://schemas.microsoft.com/office/drawing/2014/main" id="{69AEBBD5-78BD-ED0C-21FD-8529CB778BC3}"/>
              </a:ext>
            </a:extLst>
          </p:cNvPr>
          <p:cNvSpPr>
            <a:spLocks noGrp="1"/>
          </p:cNvSpPr>
          <p:nvPr>
            <p:ph type="body" sz="half" idx="2"/>
          </p:nvPr>
        </p:nvSpPr>
        <p:spPr>
          <a:xfrm>
            <a:off x="348225" y="2336873"/>
            <a:ext cx="5962634" cy="3599315"/>
          </a:xfrm>
        </p:spPr>
        <p:txBody>
          <a:bodyPr/>
          <a:lstStyle/>
          <a:p>
            <a:r>
              <a:rPr lang="fr-FR" b="1" dirty="0"/>
              <a:t>Ce graphique représente la segmentation des employés obtenue à partir de l’algorithme K-</a:t>
            </a:r>
            <a:r>
              <a:rPr lang="fr-FR" b="1" dirty="0" err="1"/>
              <a:t>Means</a:t>
            </a:r>
            <a:r>
              <a:rPr lang="fr-FR" b="1" dirty="0"/>
              <a:t>.</a:t>
            </a:r>
          </a:p>
          <a:p>
            <a:endParaRPr lang="fr-FR" b="1" dirty="0"/>
          </a:p>
          <a:p>
            <a:r>
              <a:rPr lang="fr-FR" b="1" dirty="0"/>
              <a:t>Les données ont été réduites à deux dimensions (PC1 et PC2) grâce à la méthode PCA afin de visualiser les clusters dans un espace bidimensionnel.</a:t>
            </a:r>
          </a:p>
          <a:p>
            <a:endParaRPr lang="fr-FR" b="1" dirty="0"/>
          </a:p>
          <a:p>
            <a:r>
              <a:rPr lang="fr-FR" b="1" dirty="0"/>
              <a:t>Chaque point correspond à un employé, et chaque couleur représente un cluster différent.</a:t>
            </a:r>
          </a:p>
        </p:txBody>
      </p:sp>
    </p:spTree>
    <p:extLst>
      <p:ext uri="{BB962C8B-B14F-4D97-AF65-F5344CB8AC3E}">
        <p14:creationId xmlns:p14="http://schemas.microsoft.com/office/powerpoint/2010/main" val="752885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F5C411-35F8-800A-8B4A-53D7280CE8FE}"/>
              </a:ext>
            </a:extLst>
          </p:cNvPr>
          <p:cNvSpPr>
            <a:spLocks noGrp="1"/>
          </p:cNvSpPr>
          <p:nvPr>
            <p:ph type="title"/>
          </p:nvPr>
        </p:nvSpPr>
        <p:spPr/>
        <p:txBody>
          <a:bodyPr/>
          <a:lstStyle/>
          <a:p>
            <a:r>
              <a:rPr lang="fr-FR" dirty="0"/>
              <a:t>Observation </a:t>
            </a:r>
          </a:p>
        </p:txBody>
      </p:sp>
      <p:sp>
        <p:nvSpPr>
          <p:cNvPr id="3" name="Espace réservé du contenu 2">
            <a:extLst>
              <a:ext uri="{FF2B5EF4-FFF2-40B4-BE49-F238E27FC236}">
                <a16:creationId xmlns:a16="http://schemas.microsoft.com/office/drawing/2014/main" id="{5D96287C-816E-AB69-604E-EE99EF10AB41}"/>
              </a:ext>
            </a:extLst>
          </p:cNvPr>
          <p:cNvSpPr>
            <a:spLocks noGrp="1"/>
          </p:cNvSpPr>
          <p:nvPr>
            <p:ph idx="1"/>
          </p:nvPr>
        </p:nvSpPr>
        <p:spPr>
          <a:xfrm>
            <a:off x="680321" y="2336873"/>
            <a:ext cx="9939553" cy="3599316"/>
          </a:xfrm>
        </p:spPr>
        <p:txBody>
          <a:bodyPr>
            <a:normAutofit fontScale="92500" lnSpcReduction="10000"/>
          </a:bodyPr>
          <a:lstStyle/>
          <a:p>
            <a:pPr marL="0" indent="0">
              <a:buNone/>
            </a:pPr>
            <a:r>
              <a:rPr lang="fr-FR" dirty="0"/>
              <a:t>On observe </a:t>
            </a:r>
            <a:r>
              <a:rPr lang="fr-FR" b="1" dirty="0"/>
              <a:t>trois groupes principaux d’employés</a:t>
            </a:r>
            <a:r>
              <a:rPr lang="fr-FR" dirty="0"/>
              <a:t> :</a:t>
            </a:r>
          </a:p>
          <a:p>
            <a:pPr marL="0" indent="0">
              <a:buNone/>
            </a:pPr>
            <a:endParaRPr lang="fr-FR" dirty="0"/>
          </a:p>
          <a:p>
            <a:r>
              <a:rPr lang="fr-FR" dirty="0"/>
              <a:t>🔵 </a:t>
            </a:r>
            <a:r>
              <a:rPr lang="fr-FR" b="1" dirty="0"/>
              <a:t>Cluster bleu</a:t>
            </a:r>
            <a:r>
              <a:rPr lang="fr-FR" dirty="0"/>
              <a:t> : groupe le plus dense, représentant la majorité des employés</a:t>
            </a:r>
          </a:p>
          <a:p>
            <a:r>
              <a:rPr lang="fr-FR" dirty="0"/>
              <a:t>🟤 </a:t>
            </a:r>
            <a:r>
              <a:rPr lang="fr-FR" b="1" dirty="0"/>
              <a:t>Cluster marron</a:t>
            </a:r>
            <a:r>
              <a:rPr lang="fr-FR" dirty="0"/>
              <a:t> : groupe distinct avec des caractéristiques similaires entre eux</a:t>
            </a:r>
          </a:p>
          <a:p>
            <a:r>
              <a:rPr lang="fr-FR" dirty="0"/>
              <a:t>🟢 </a:t>
            </a:r>
            <a:r>
              <a:rPr lang="fr-FR" b="1" dirty="0"/>
              <a:t>Cluster vert/turquoise</a:t>
            </a:r>
            <a:r>
              <a:rPr lang="fr-FR" dirty="0"/>
              <a:t> : groupe plus séparé des autres</a:t>
            </a:r>
          </a:p>
          <a:p>
            <a:pPr marL="0" indent="0">
              <a:buNone/>
            </a:pPr>
            <a:endParaRPr lang="fr-FR" dirty="0"/>
          </a:p>
          <a:p>
            <a:pPr marL="0" indent="0">
              <a:buNone/>
            </a:pPr>
            <a:r>
              <a:rPr lang="fr-FR" dirty="0"/>
              <a:t>        Cela signifie que les employés peuvent être </a:t>
            </a:r>
            <a:r>
              <a:rPr lang="fr-FR" b="1" dirty="0"/>
              <a:t>segmentés en plusieurs profils différents</a:t>
            </a:r>
            <a:r>
              <a:rPr lang="fr-FR" dirty="0"/>
              <a:t> selon leurs caractéristiques.</a:t>
            </a:r>
          </a:p>
        </p:txBody>
      </p:sp>
      <p:sp>
        <p:nvSpPr>
          <p:cNvPr id="4" name="Flèche : droite 3">
            <a:extLst>
              <a:ext uri="{FF2B5EF4-FFF2-40B4-BE49-F238E27FC236}">
                <a16:creationId xmlns:a16="http://schemas.microsoft.com/office/drawing/2014/main" id="{84ED4740-43C8-2616-2B44-7F260D27A2AB}"/>
              </a:ext>
            </a:extLst>
          </p:cNvPr>
          <p:cNvSpPr/>
          <p:nvPr/>
        </p:nvSpPr>
        <p:spPr>
          <a:xfrm>
            <a:off x="856783" y="5165557"/>
            <a:ext cx="554921"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7816014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BAD09C-80C5-87FD-8056-9BB39B435B59}"/>
              </a:ext>
            </a:extLst>
          </p:cNvPr>
          <p:cNvSpPr>
            <a:spLocks noGrp="1"/>
          </p:cNvSpPr>
          <p:nvPr>
            <p:ph type="title"/>
          </p:nvPr>
        </p:nvSpPr>
        <p:spPr/>
        <p:txBody>
          <a:bodyPr/>
          <a:lstStyle/>
          <a:p>
            <a:r>
              <a:rPr lang="fr-FR" dirty="0" err="1"/>
              <a:t>Interpretation</a:t>
            </a:r>
            <a:r>
              <a:rPr lang="fr-FR" dirty="0"/>
              <a:t> </a:t>
            </a:r>
          </a:p>
        </p:txBody>
      </p:sp>
      <p:sp>
        <p:nvSpPr>
          <p:cNvPr id="3" name="Espace réservé du texte 2">
            <a:extLst>
              <a:ext uri="{FF2B5EF4-FFF2-40B4-BE49-F238E27FC236}">
                <a16:creationId xmlns:a16="http://schemas.microsoft.com/office/drawing/2014/main" id="{A8ED9600-4C17-3B64-429B-8D6C51B2310F}"/>
              </a:ext>
            </a:extLst>
          </p:cNvPr>
          <p:cNvSpPr>
            <a:spLocks noGrp="1"/>
          </p:cNvSpPr>
          <p:nvPr>
            <p:ph type="body" idx="1"/>
          </p:nvPr>
        </p:nvSpPr>
        <p:spPr>
          <a:xfrm>
            <a:off x="494675" y="2203553"/>
            <a:ext cx="3236305" cy="819120"/>
          </a:xfrm>
        </p:spPr>
        <p:txBody>
          <a:bodyPr/>
          <a:lstStyle/>
          <a:p>
            <a:endParaRPr lang="fr-FR" sz="1800" b="1" dirty="0"/>
          </a:p>
          <a:p>
            <a:endParaRPr lang="fr-FR" sz="1800" b="1" dirty="0"/>
          </a:p>
          <a:p>
            <a:endParaRPr lang="fr-FR" sz="1800" b="1" dirty="0"/>
          </a:p>
          <a:p>
            <a:endParaRPr lang="fr-FR" sz="1800" b="1" dirty="0"/>
          </a:p>
          <a:p>
            <a:endParaRPr lang="fr-FR" sz="1800" b="1" dirty="0"/>
          </a:p>
          <a:p>
            <a:endParaRPr lang="fr-FR" sz="1800" b="1" dirty="0"/>
          </a:p>
          <a:p>
            <a:endParaRPr lang="fr-FR" sz="1800" b="1" dirty="0"/>
          </a:p>
        </p:txBody>
      </p:sp>
      <p:sp>
        <p:nvSpPr>
          <p:cNvPr id="4" name="Espace réservé du texte 3">
            <a:extLst>
              <a:ext uri="{FF2B5EF4-FFF2-40B4-BE49-F238E27FC236}">
                <a16:creationId xmlns:a16="http://schemas.microsoft.com/office/drawing/2014/main" id="{FDF62E49-86BB-9827-BEDE-25B835A26CD7}"/>
              </a:ext>
            </a:extLst>
          </p:cNvPr>
          <p:cNvSpPr>
            <a:spLocks noGrp="1"/>
          </p:cNvSpPr>
          <p:nvPr>
            <p:ph type="body" sz="half" idx="15"/>
          </p:nvPr>
        </p:nvSpPr>
        <p:spPr>
          <a:xfrm>
            <a:off x="680322" y="2913064"/>
            <a:ext cx="3070024" cy="3455652"/>
          </a:xfrm>
        </p:spPr>
        <p:txBody>
          <a:bodyPr>
            <a:normAutofit lnSpcReduction="10000"/>
          </a:bodyPr>
          <a:lstStyle/>
          <a:p>
            <a:r>
              <a:rPr lang="fr-FR" b="1" dirty="0"/>
              <a:t>Profil :</a:t>
            </a:r>
            <a:br>
              <a:rPr lang="fr-FR" dirty="0"/>
            </a:br>
            <a:r>
              <a:rPr lang="fr-FR" dirty="0"/>
              <a:t>Employés plus âgés (souvent &gt; 50 ans), avec une forte ancienneté dans l’entreprise et un salaire mensuel relativement élevé.</a:t>
            </a:r>
          </a:p>
          <a:p>
            <a:r>
              <a:rPr lang="fr-FR" b="1" dirty="0"/>
              <a:t>Observation :</a:t>
            </a:r>
            <a:br>
              <a:rPr lang="fr-FR" dirty="0"/>
            </a:br>
            <a:r>
              <a:rPr lang="fr-FR" dirty="0"/>
              <a:t>Ces employés sont généralement plus stables et moins susceptibles de quitter l’entreprise.</a:t>
            </a:r>
          </a:p>
          <a:p>
            <a:r>
              <a:rPr lang="fr-FR" b="1" dirty="0"/>
              <a:t>Influence sur l’attrition :</a:t>
            </a:r>
            <a:br>
              <a:rPr lang="fr-FR" dirty="0"/>
            </a:br>
            <a:r>
              <a:rPr lang="fr-FR" dirty="0"/>
              <a:t>Faible. Ce cluster correspond souvent aux employés fidèles ou occupant des postes bien rémunérés.</a:t>
            </a:r>
          </a:p>
          <a:p>
            <a:r>
              <a:rPr lang="fr-FR" dirty="0"/>
              <a:t>✅ </a:t>
            </a:r>
            <a:r>
              <a:rPr lang="fr-FR" b="1" dirty="0"/>
              <a:t>Variables dominantes :</a:t>
            </a:r>
            <a:br>
              <a:rPr lang="fr-FR" dirty="0"/>
            </a:br>
            <a:r>
              <a:rPr lang="fr-FR" dirty="0"/>
              <a:t>Age, </a:t>
            </a:r>
            <a:r>
              <a:rPr lang="fr-FR" dirty="0" err="1"/>
              <a:t>YearsAtCompany</a:t>
            </a:r>
            <a:r>
              <a:rPr lang="fr-FR" dirty="0"/>
              <a:t>, </a:t>
            </a:r>
            <a:r>
              <a:rPr lang="fr-FR" dirty="0" err="1"/>
              <a:t>MonthlyIncome</a:t>
            </a:r>
            <a:r>
              <a:rPr lang="fr-FR" dirty="0"/>
              <a:t>.</a:t>
            </a:r>
          </a:p>
        </p:txBody>
      </p:sp>
      <p:sp>
        <p:nvSpPr>
          <p:cNvPr id="12" name="Espace réservé du texte 4">
            <a:extLst>
              <a:ext uri="{FF2B5EF4-FFF2-40B4-BE49-F238E27FC236}">
                <a16:creationId xmlns:a16="http://schemas.microsoft.com/office/drawing/2014/main" id="{51F5D799-7680-53EC-84ED-925F8C40F7FA}"/>
              </a:ext>
            </a:extLst>
          </p:cNvPr>
          <p:cNvSpPr>
            <a:spLocks noGrp="1"/>
          </p:cNvSpPr>
          <p:nvPr>
            <p:ph type="body" sz="quarter" idx="3"/>
          </p:nvPr>
        </p:nvSpPr>
        <p:spPr/>
        <p:txBody>
          <a:bodyPr/>
          <a:lstStyle/>
          <a:p>
            <a:pPr defTabSz="457200"/>
            <a:r>
              <a:rPr lang="fr-FR" sz="1800" b="1" dirty="0" err="1"/>
              <a:t>Clustre</a:t>
            </a:r>
            <a:r>
              <a:rPr lang="fr-FR" sz="1800" b="1" dirty="0"/>
              <a:t> 2 : Employés en </a:t>
            </a:r>
            <a:r>
              <a:rPr lang="fr-FR" sz="1800" b="1" dirty="0" err="1"/>
              <a:t>OverTime</a:t>
            </a:r>
            <a:endParaRPr lang="fr-FR" sz="1800" b="1" dirty="0"/>
          </a:p>
        </p:txBody>
      </p:sp>
      <p:sp>
        <p:nvSpPr>
          <p:cNvPr id="6" name="Espace réservé du texte 5">
            <a:extLst>
              <a:ext uri="{FF2B5EF4-FFF2-40B4-BE49-F238E27FC236}">
                <a16:creationId xmlns:a16="http://schemas.microsoft.com/office/drawing/2014/main" id="{DD6E6BDC-26D7-6199-038B-75FCEA959AD5}"/>
              </a:ext>
            </a:extLst>
          </p:cNvPr>
          <p:cNvSpPr>
            <a:spLocks noGrp="1"/>
          </p:cNvSpPr>
          <p:nvPr>
            <p:ph type="body" sz="half" idx="16"/>
          </p:nvPr>
        </p:nvSpPr>
        <p:spPr>
          <a:xfrm>
            <a:off x="3945470" y="3022673"/>
            <a:ext cx="3063240" cy="3346043"/>
          </a:xfrm>
        </p:spPr>
        <p:txBody>
          <a:bodyPr>
            <a:normAutofit lnSpcReduction="10000"/>
          </a:bodyPr>
          <a:lstStyle/>
          <a:p>
            <a:r>
              <a:rPr lang="fr-FR" b="1" dirty="0"/>
              <a:t>Profil :</a:t>
            </a:r>
            <a:br>
              <a:rPr lang="fr-FR" dirty="0"/>
            </a:br>
            <a:r>
              <a:rPr lang="fr-FR" dirty="0"/>
              <a:t>Employés qui effectuent fréquemment des heures supplémentaires.</a:t>
            </a:r>
          </a:p>
          <a:p>
            <a:r>
              <a:rPr lang="fr-FR" b="1" dirty="0"/>
              <a:t>Observation :</a:t>
            </a:r>
            <a:br>
              <a:rPr lang="fr-FR" dirty="0"/>
            </a:br>
            <a:r>
              <a:rPr lang="fr-FR" dirty="0" err="1"/>
              <a:t>L’OverTime</a:t>
            </a:r>
            <a:r>
              <a:rPr lang="fr-FR" dirty="0"/>
              <a:t> peut être un indicateur de surcharge de travail ou de stress, ce qui peut augmenter le risque de départ.</a:t>
            </a:r>
          </a:p>
          <a:p>
            <a:r>
              <a:rPr lang="fr-FR" b="1" dirty="0"/>
              <a:t>Influence sur l’attrition :</a:t>
            </a:r>
            <a:br>
              <a:rPr lang="fr-FR" dirty="0"/>
            </a:br>
            <a:r>
              <a:rPr lang="fr-FR" dirty="0"/>
              <a:t>Modérée à élevée. Ce cluster regroupe des employés potentiellement à risque d’attrition.</a:t>
            </a:r>
          </a:p>
          <a:p>
            <a:r>
              <a:rPr lang="fr-FR" dirty="0"/>
              <a:t>✅ </a:t>
            </a:r>
            <a:r>
              <a:rPr lang="fr-FR" b="1" dirty="0"/>
              <a:t>Variable dominante :</a:t>
            </a:r>
            <a:br>
              <a:rPr lang="fr-FR" dirty="0"/>
            </a:br>
            <a:r>
              <a:rPr lang="fr-FR" dirty="0" err="1"/>
              <a:t>OverTime</a:t>
            </a:r>
            <a:r>
              <a:rPr lang="fr-FR" dirty="0"/>
              <a:t>.</a:t>
            </a:r>
          </a:p>
          <a:p>
            <a:endParaRPr lang="fr-FR" dirty="0"/>
          </a:p>
        </p:txBody>
      </p:sp>
      <p:sp>
        <p:nvSpPr>
          <p:cNvPr id="7" name="Espace réservé du texte 6">
            <a:extLst>
              <a:ext uri="{FF2B5EF4-FFF2-40B4-BE49-F238E27FC236}">
                <a16:creationId xmlns:a16="http://schemas.microsoft.com/office/drawing/2014/main" id="{EF88AF3D-2785-BE56-18F7-EEDC0E9382D2}"/>
              </a:ext>
            </a:extLst>
          </p:cNvPr>
          <p:cNvSpPr>
            <a:spLocks noGrp="1"/>
          </p:cNvSpPr>
          <p:nvPr>
            <p:ph type="body" sz="quarter" idx="13"/>
          </p:nvPr>
        </p:nvSpPr>
        <p:spPr/>
        <p:txBody>
          <a:bodyPr/>
          <a:lstStyle/>
          <a:p>
            <a:pPr defTabSz="457200"/>
            <a:r>
              <a:rPr lang="fr-FR" sz="1800" b="1" dirty="0"/>
              <a:t>Cluster 1: Employés plus jeune </a:t>
            </a:r>
          </a:p>
        </p:txBody>
      </p:sp>
      <p:sp>
        <p:nvSpPr>
          <p:cNvPr id="8" name="Espace réservé du texte 7">
            <a:extLst>
              <a:ext uri="{FF2B5EF4-FFF2-40B4-BE49-F238E27FC236}">
                <a16:creationId xmlns:a16="http://schemas.microsoft.com/office/drawing/2014/main" id="{AB664561-2FDC-24AD-7CF8-0BE3421D9B8A}"/>
              </a:ext>
            </a:extLst>
          </p:cNvPr>
          <p:cNvSpPr>
            <a:spLocks noGrp="1"/>
          </p:cNvSpPr>
          <p:nvPr>
            <p:ph type="body" sz="half" idx="17"/>
          </p:nvPr>
        </p:nvSpPr>
        <p:spPr>
          <a:xfrm>
            <a:off x="7224156" y="3022673"/>
            <a:ext cx="3070025" cy="3233748"/>
          </a:xfrm>
        </p:spPr>
        <p:txBody>
          <a:bodyPr>
            <a:normAutofit/>
          </a:bodyPr>
          <a:lstStyle/>
          <a:p>
            <a:r>
              <a:rPr lang="fr-FR" b="1" dirty="0"/>
              <a:t>Profil :</a:t>
            </a:r>
            <a:br>
              <a:rPr lang="fr-FR" dirty="0"/>
            </a:br>
            <a:r>
              <a:rPr lang="fr-FR" dirty="0"/>
              <a:t>Employés avec un âge moyen plus faible, une ancienneté plus courte et un salaire intermédiaire. Ils effectuent généralement peu d’heures supplémentaires.</a:t>
            </a:r>
          </a:p>
          <a:p>
            <a:r>
              <a:rPr lang="fr-FR" b="1" dirty="0"/>
              <a:t>Observation :</a:t>
            </a:r>
            <a:br>
              <a:rPr lang="fr-FR" dirty="0"/>
            </a:br>
            <a:r>
              <a:rPr lang="fr-FR" dirty="0"/>
              <a:t>L’attrition est faible à moyenne et dépend fortement d’autres facteurs comme la satisfaction au travail ou les opportunités de carrière.</a:t>
            </a:r>
          </a:p>
          <a:p>
            <a:r>
              <a:rPr lang="fr-FR" b="1" dirty="0"/>
              <a:t>Variables influentes :</a:t>
            </a:r>
            <a:br>
              <a:rPr lang="fr-FR" dirty="0"/>
            </a:br>
            <a:r>
              <a:rPr lang="fr-FR" dirty="0" err="1"/>
              <a:t>JobSatisfaction</a:t>
            </a:r>
            <a:r>
              <a:rPr lang="fr-FR" dirty="0"/>
              <a:t>, </a:t>
            </a:r>
            <a:r>
              <a:rPr lang="fr-FR" dirty="0" err="1"/>
              <a:t>WorkLifeBalance</a:t>
            </a:r>
            <a:r>
              <a:rPr lang="fr-FR" dirty="0"/>
              <a:t>, </a:t>
            </a:r>
            <a:r>
              <a:rPr lang="fr-FR" dirty="0" err="1"/>
              <a:t>YearsInCurrentRole</a:t>
            </a:r>
            <a:r>
              <a:rPr lang="fr-FR" dirty="0"/>
              <a:t>.</a:t>
            </a:r>
          </a:p>
          <a:p>
            <a:endParaRPr lang="fr-FR" dirty="0"/>
          </a:p>
        </p:txBody>
      </p:sp>
      <p:sp>
        <p:nvSpPr>
          <p:cNvPr id="9" name="ZoneTexte 8">
            <a:extLst>
              <a:ext uri="{FF2B5EF4-FFF2-40B4-BE49-F238E27FC236}">
                <a16:creationId xmlns:a16="http://schemas.microsoft.com/office/drawing/2014/main" id="{1D6A0681-7F2A-D091-1EC3-CD053B843125}"/>
              </a:ext>
            </a:extLst>
          </p:cNvPr>
          <p:cNvSpPr txBox="1"/>
          <p:nvPr/>
        </p:nvSpPr>
        <p:spPr>
          <a:xfrm>
            <a:off x="493719" y="2254262"/>
            <a:ext cx="3235349" cy="923330"/>
          </a:xfrm>
          <a:prstGeom prst="rect">
            <a:avLst/>
          </a:prstGeom>
          <a:noFill/>
        </p:spPr>
        <p:txBody>
          <a:bodyPr wrap="square" rtlCol="0">
            <a:spAutoFit/>
          </a:bodyPr>
          <a:lstStyle/>
          <a:p>
            <a:r>
              <a:rPr lang="fr-FR" b="1" dirty="0"/>
              <a:t>Cluster 3 : employés plus âgés et expérimentés</a:t>
            </a:r>
          </a:p>
          <a:p>
            <a:endParaRPr lang="fr-FR" dirty="0"/>
          </a:p>
        </p:txBody>
      </p:sp>
    </p:spTree>
    <p:extLst>
      <p:ext uri="{BB962C8B-B14F-4D97-AF65-F5344CB8AC3E}">
        <p14:creationId xmlns:p14="http://schemas.microsoft.com/office/powerpoint/2010/main" val="1085258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F366B43-DEDE-DC24-B7C7-DE893BC58972}"/>
              </a:ext>
            </a:extLst>
          </p:cNvPr>
          <p:cNvSpPr>
            <a:spLocks noGrp="1"/>
          </p:cNvSpPr>
          <p:nvPr>
            <p:ph type="title"/>
          </p:nvPr>
        </p:nvSpPr>
        <p:spPr/>
        <p:txBody>
          <a:bodyPr/>
          <a:lstStyle/>
          <a:p>
            <a:r>
              <a:rPr lang="fr-FR" dirty="0"/>
              <a:t>Analyse </a:t>
            </a:r>
            <a:r>
              <a:rPr lang="fr-FR" dirty="0" err="1"/>
              <a:t>KMeans</a:t>
            </a:r>
            <a:r>
              <a:rPr lang="fr-FR" dirty="0"/>
              <a:t> </a:t>
            </a:r>
          </a:p>
        </p:txBody>
      </p:sp>
      <p:sp>
        <p:nvSpPr>
          <p:cNvPr id="3" name="Espace réservé du contenu 2">
            <a:extLst>
              <a:ext uri="{FF2B5EF4-FFF2-40B4-BE49-F238E27FC236}">
                <a16:creationId xmlns:a16="http://schemas.microsoft.com/office/drawing/2014/main" id="{7A79417E-A231-40EB-A96C-62EB21D559C6}"/>
              </a:ext>
            </a:extLst>
          </p:cNvPr>
          <p:cNvSpPr>
            <a:spLocks noGrp="1"/>
          </p:cNvSpPr>
          <p:nvPr>
            <p:ph idx="1"/>
          </p:nvPr>
        </p:nvSpPr>
        <p:spPr>
          <a:xfrm>
            <a:off x="680321" y="2085474"/>
            <a:ext cx="9613861" cy="4772526"/>
          </a:xfrm>
        </p:spPr>
        <p:txBody>
          <a:bodyPr>
            <a:normAutofit/>
          </a:bodyPr>
          <a:lstStyle/>
          <a:p>
            <a:pPr marL="0" indent="0">
              <a:buNone/>
            </a:pPr>
            <a:r>
              <a:rPr lang="fr-FR" b="1" dirty="0"/>
              <a:t>Facteurs d’Attrition</a:t>
            </a:r>
          </a:p>
          <a:p>
            <a:r>
              <a:rPr lang="fr-FR" sz="2100" b="1" dirty="0"/>
              <a:t>Problème</a:t>
            </a:r>
            <a:r>
              <a:rPr lang="fr-FR" sz="2100" dirty="0"/>
              <a:t> : </a:t>
            </a:r>
            <a:r>
              <a:rPr lang="fr-FR" sz="2000" dirty="0"/>
              <a:t>Modèle supervisé biaisé vers la classe majoritaire (« No ») à cause du déséquilibre des classes</a:t>
            </a:r>
            <a:r>
              <a:rPr lang="fr-FR" sz="2100" dirty="0"/>
              <a:t>.</a:t>
            </a:r>
          </a:p>
          <a:p>
            <a:r>
              <a:rPr lang="fr-FR" sz="2100" b="1" dirty="0"/>
              <a:t>Solution</a:t>
            </a:r>
            <a:r>
              <a:rPr lang="fr-FR" sz="2100" dirty="0"/>
              <a:t> :</a:t>
            </a:r>
            <a:r>
              <a:rPr lang="fr-FR" sz="2000" dirty="0"/>
              <a:t>Utilisation d’un clustering non supervisé avec </a:t>
            </a:r>
            <a:r>
              <a:rPr lang="fr-FR" sz="2000" b="1" dirty="0"/>
              <a:t>K-</a:t>
            </a:r>
            <a:r>
              <a:rPr lang="fr-FR" sz="2000" b="1" dirty="0" err="1"/>
              <a:t>Means</a:t>
            </a:r>
            <a:r>
              <a:rPr lang="fr-FR" sz="2000" dirty="0"/>
              <a:t> Clustering afin d’identifier différents profils d’employés indépendamment de la variable Attrition.</a:t>
            </a:r>
          </a:p>
          <a:p>
            <a:r>
              <a:rPr lang="fr-FR" sz="2100" b="1" dirty="0"/>
              <a:t>Clusters et facteurs clés</a:t>
            </a:r>
            <a:r>
              <a:rPr lang="fr-FR" sz="2100" dirty="0"/>
              <a:t> :</a:t>
            </a:r>
          </a:p>
          <a:p>
            <a:pPr marL="0" lvl="1" indent="0">
              <a:spcBef>
                <a:spcPts val="1000"/>
              </a:spcBef>
              <a:buNone/>
            </a:pPr>
            <a:r>
              <a:rPr lang="fr-FR" dirty="0"/>
              <a:t>         Employés âgés &amp; expérimentés → salaire élevé, faible attrition.</a:t>
            </a:r>
          </a:p>
          <a:p>
            <a:pPr marL="0" lvl="1" indent="0">
              <a:spcBef>
                <a:spcPts val="1000"/>
              </a:spcBef>
              <a:buNone/>
            </a:pPr>
            <a:r>
              <a:rPr lang="fr-FR" dirty="0"/>
              <a:t>         Jeunes en overtime → forte charge de travail, risque d’attrition élevé.</a:t>
            </a:r>
          </a:p>
          <a:p>
            <a:pPr marL="0" lvl="1" indent="0">
              <a:spcBef>
                <a:spcPts val="1000"/>
              </a:spcBef>
              <a:buNone/>
            </a:pPr>
            <a:r>
              <a:rPr lang="fr-FR" dirty="0"/>
              <a:t>         Employés intermédiaires → âge et ancienneté modérés, risque moyen</a:t>
            </a:r>
            <a:r>
              <a:rPr lang="fr-FR" sz="2100" dirty="0"/>
              <a:t>.</a:t>
            </a:r>
          </a:p>
          <a:p>
            <a:r>
              <a:rPr lang="fr-FR" sz="2100" b="1" dirty="0"/>
              <a:t>Score Silhouette : </a:t>
            </a:r>
            <a:r>
              <a:rPr lang="fr-FR" sz="2000" dirty="0"/>
              <a:t>0.194 → clusters légèrement séparés mais exploitables pour insights RH.</a:t>
            </a:r>
          </a:p>
          <a:p>
            <a:pPr marL="0" indent="0">
              <a:buNone/>
            </a:pPr>
            <a:endParaRPr lang="fr-FR" sz="2100" dirty="0"/>
          </a:p>
          <a:p>
            <a:endParaRPr lang="fr-FR" dirty="0"/>
          </a:p>
        </p:txBody>
      </p:sp>
    </p:spTree>
    <p:extLst>
      <p:ext uri="{BB962C8B-B14F-4D97-AF65-F5344CB8AC3E}">
        <p14:creationId xmlns:p14="http://schemas.microsoft.com/office/powerpoint/2010/main" val="37909772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9212E95-9EC0-BCC3-4135-991AF2B4C43E}"/>
              </a:ext>
            </a:extLst>
          </p:cNvPr>
          <p:cNvSpPr>
            <a:spLocks noGrp="1"/>
          </p:cNvSpPr>
          <p:nvPr>
            <p:ph type="title"/>
          </p:nvPr>
        </p:nvSpPr>
        <p:spPr/>
        <p:txBody>
          <a:bodyPr/>
          <a:lstStyle/>
          <a:p>
            <a:r>
              <a:rPr lang="fr-FR" dirty="0"/>
              <a:t>Recommandation RH</a:t>
            </a:r>
          </a:p>
        </p:txBody>
      </p:sp>
      <p:sp>
        <p:nvSpPr>
          <p:cNvPr id="4" name="Rectangle 1">
            <a:extLst>
              <a:ext uri="{FF2B5EF4-FFF2-40B4-BE49-F238E27FC236}">
                <a16:creationId xmlns:a16="http://schemas.microsoft.com/office/drawing/2014/main" id="{8DB2942B-4F72-0C82-FEF0-0BBAA1A2E30E}"/>
              </a:ext>
            </a:extLst>
          </p:cNvPr>
          <p:cNvSpPr>
            <a:spLocks noGrp="1" noChangeArrowheads="1"/>
          </p:cNvSpPr>
          <p:nvPr>
            <p:ph idx="1"/>
          </p:nvPr>
        </p:nvSpPr>
        <p:spPr bwMode="auto">
          <a:xfrm>
            <a:off x="680321" y="2910724"/>
            <a:ext cx="11408892"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dirty="0">
                <a:effectLst/>
                <a:latin typeface="Arial" panose="020B0604020202020204" pitchFamily="34" charset="0"/>
              </a:rPr>
              <a:t> S</a:t>
            </a:r>
            <a:r>
              <a:rPr kumimoji="0" lang="fr-FR" altLang="fr-FR" b="0" i="0" u="none" strike="noStrike" cap="none" normalizeH="0" baseline="0" dirty="0">
                <a:ln>
                  <a:noFill/>
                </a:ln>
                <a:solidFill>
                  <a:schemeClr val="tx1"/>
                </a:solidFill>
                <a:effectLst/>
                <a:latin typeface="Arial" panose="020B0604020202020204" pitchFamily="34" charset="0"/>
              </a:rPr>
              <a:t>urveiller les </a:t>
            </a:r>
            <a:r>
              <a:rPr kumimoji="0" lang="fr-FR" altLang="fr-FR" b="1" i="0" u="none" strike="noStrike" cap="none" normalizeH="0" baseline="0" dirty="0">
                <a:ln>
                  <a:noFill/>
                </a:ln>
                <a:solidFill>
                  <a:schemeClr val="tx1"/>
                </a:solidFill>
                <a:effectLst/>
                <a:latin typeface="Arial" panose="020B0604020202020204" pitchFamily="34" charset="0"/>
              </a:rPr>
              <a:t>employés jeunes effectuant beaucoup </a:t>
            </a:r>
            <a:r>
              <a:rPr kumimoji="0" lang="fr-FR" altLang="fr-FR" b="1" i="0" u="none" strike="noStrike" cap="none" normalizeH="0" baseline="0" dirty="0" err="1">
                <a:ln>
                  <a:noFill/>
                </a:ln>
                <a:solidFill>
                  <a:schemeClr val="tx1"/>
                </a:solidFill>
                <a:effectLst/>
                <a:latin typeface="Arial" panose="020B0604020202020204" pitchFamily="34" charset="0"/>
              </a:rPr>
              <a:t>d’OverTime</a:t>
            </a:r>
            <a:endParaRPr kumimoji="0" lang="fr-FR" altLang="fr-FR"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lang="fr-FR" altLang="fr-FR" dirty="0">
                <a:effectLst/>
                <a:latin typeface="Arial" panose="020B0604020202020204" pitchFamily="34" charset="0"/>
              </a:rPr>
              <a:t> A</a:t>
            </a:r>
            <a:r>
              <a:rPr kumimoji="0" lang="fr-FR" altLang="fr-FR" b="0" i="0" u="none" strike="noStrike" cap="none" normalizeH="0" baseline="0" dirty="0">
                <a:ln>
                  <a:noFill/>
                </a:ln>
                <a:solidFill>
                  <a:schemeClr val="tx1"/>
                </a:solidFill>
                <a:effectLst/>
                <a:latin typeface="Arial" panose="020B0604020202020204" pitchFamily="34" charset="0"/>
              </a:rPr>
              <a:t>méliorer </a:t>
            </a:r>
            <a:r>
              <a:rPr kumimoji="0" lang="fr-FR" altLang="fr-FR" b="1" i="0" u="none" strike="noStrike" cap="none" normalizeH="0" baseline="0" dirty="0">
                <a:ln>
                  <a:noFill/>
                </a:ln>
                <a:solidFill>
                  <a:schemeClr val="tx1"/>
                </a:solidFill>
                <a:effectLst/>
                <a:latin typeface="Arial" panose="020B0604020202020204" pitchFamily="34" charset="0"/>
              </a:rPr>
              <a:t>l’équilibre travail–vie personnelle</a:t>
            </a:r>
            <a:endParaRPr kumimoji="0" lang="fr-FR" altLang="fr-FR"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dirty="0">
                <a:effectLst/>
                <a:latin typeface="Arial" panose="020B0604020202020204" pitchFamily="34" charset="0"/>
              </a:rPr>
              <a:t> M</a:t>
            </a:r>
            <a:r>
              <a:rPr kumimoji="0" lang="fr-FR" altLang="fr-FR" b="0" i="0" u="none" strike="noStrike" cap="none" normalizeH="0" baseline="0" dirty="0">
                <a:ln>
                  <a:noFill/>
                </a:ln>
                <a:solidFill>
                  <a:schemeClr val="tx1"/>
                </a:solidFill>
                <a:effectLst/>
                <a:latin typeface="Arial" panose="020B0604020202020204" pitchFamily="34" charset="0"/>
              </a:rPr>
              <a:t>ettre en place des stratégies de </a:t>
            </a:r>
            <a:r>
              <a:rPr kumimoji="0" lang="fr-FR" altLang="fr-FR" b="1" i="0" u="none" strike="noStrike" cap="none" normalizeH="0" baseline="0" dirty="0">
                <a:ln>
                  <a:noFill/>
                </a:ln>
                <a:solidFill>
                  <a:schemeClr val="tx1"/>
                </a:solidFill>
                <a:effectLst/>
                <a:latin typeface="Arial" panose="020B0604020202020204" pitchFamily="34" charset="0"/>
              </a:rPr>
              <a:t>fidélisation pour les employés expérimentés</a:t>
            </a:r>
            <a:endParaRPr kumimoji="0" lang="fr-FR" altLang="fr-FR"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653524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98E738F-02FB-8ED6-633F-96043C9C00C2}"/>
              </a:ext>
            </a:extLst>
          </p:cNvPr>
          <p:cNvSpPr>
            <a:spLocks noGrp="1"/>
          </p:cNvSpPr>
          <p:nvPr>
            <p:ph type="title"/>
          </p:nvPr>
        </p:nvSpPr>
        <p:spPr/>
        <p:txBody>
          <a:bodyPr/>
          <a:lstStyle/>
          <a:p>
            <a:r>
              <a:rPr lang="fr-FR" dirty="0"/>
              <a:t>Conclusion</a:t>
            </a:r>
          </a:p>
        </p:txBody>
      </p:sp>
      <p:sp>
        <p:nvSpPr>
          <p:cNvPr id="3" name="Espace réservé du contenu 2">
            <a:extLst>
              <a:ext uri="{FF2B5EF4-FFF2-40B4-BE49-F238E27FC236}">
                <a16:creationId xmlns:a16="http://schemas.microsoft.com/office/drawing/2014/main" id="{0C703B9F-4BA3-811D-AA5E-585F5685FC72}"/>
              </a:ext>
            </a:extLst>
          </p:cNvPr>
          <p:cNvSpPr>
            <a:spLocks noGrp="1"/>
          </p:cNvSpPr>
          <p:nvPr>
            <p:ph idx="1"/>
          </p:nvPr>
        </p:nvSpPr>
        <p:spPr/>
        <p:txBody>
          <a:bodyPr/>
          <a:lstStyle/>
          <a:p>
            <a:r>
              <a:rPr lang="fr-FR" dirty="0"/>
              <a:t>Cette étude a permis d’identifier les principaux facteurs influençant l’attrition des employés à partir du dataset IBM HR Analytics. L’analyse des données et l’utilisation de modèles de machine </a:t>
            </a:r>
            <a:r>
              <a:rPr lang="fr-FR" dirty="0" err="1"/>
              <a:t>learning</a:t>
            </a:r>
            <a:r>
              <a:rPr lang="fr-FR" dirty="0"/>
              <a:t> ont permis de mettre en évidence différents profils d’employés et les variables les plus influentes. Ces résultats peuvent aider les entreprises à mieux comprendre le phénomène de turnover et à mettre en place des stratégies RH plus efficaces.</a:t>
            </a:r>
          </a:p>
        </p:txBody>
      </p:sp>
    </p:spTree>
    <p:extLst>
      <p:ext uri="{BB962C8B-B14F-4D97-AF65-F5344CB8AC3E}">
        <p14:creationId xmlns:p14="http://schemas.microsoft.com/office/powerpoint/2010/main" val="2073366025"/>
      </p:ext>
    </p:extLst>
  </p:cSld>
  <p:clrMapOvr>
    <a:masterClrMapping/>
  </p:clrMapOvr>
</p:sld>
</file>

<file path=ppt/theme/theme1.xml><?xml version="1.0" encoding="utf-8"?>
<a:theme xmlns:a="http://schemas.openxmlformats.org/drawingml/2006/main" name="Berlin">
  <a:themeElements>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92000"/>
                <a:satMod val="200000"/>
                <a:lumMod val="128000"/>
              </a:schemeClr>
            </a:gs>
            <a:gs pos="50000">
              <a:schemeClr val="phClr">
                <a:shade val="100000"/>
                <a:hueMod val="100000"/>
                <a:satMod val="110000"/>
                <a:lumMod val="130000"/>
              </a:schemeClr>
            </a:gs>
            <a:gs pos="100000">
              <a:schemeClr val="phClr">
                <a:shade val="78000"/>
                <a:hueMod val="118000"/>
                <a:satMod val="12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7DC10E3-4FF5-456B-A359-A0F378C1E5FB}"/>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33305</TotalTime>
  <Words>1828</Words>
  <Application>Microsoft Office PowerPoint</Application>
  <PresentationFormat>Grand écran</PresentationFormat>
  <Paragraphs>157</Paragraphs>
  <Slides>22</Slides>
  <Notes>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22</vt:i4>
      </vt:variant>
    </vt:vector>
  </HeadingPairs>
  <TitlesOfParts>
    <vt:vector size="28" baseType="lpstr">
      <vt:lpstr>Arial</vt:lpstr>
      <vt:lpstr>Arial Unicode MS</vt:lpstr>
      <vt:lpstr>Calibri</vt:lpstr>
      <vt:lpstr>Trebuchet MS</vt:lpstr>
      <vt:lpstr>Wingdings</vt:lpstr>
      <vt:lpstr>Berlin</vt:lpstr>
      <vt:lpstr>Etude de Cas IBM RH Analytics</vt:lpstr>
      <vt:lpstr>Interprétation</vt:lpstr>
      <vt:lpstr>Business Undrestanding</vt:lpstr>
      <vt:lpstr>Data Undrestanding</vt:lpstr>
      <vt:lpstr>Objectif</vt:lpstr>
      <vt:lpstr>Data Descriptive</vt:lpstr>
      <vt:lpstr>Modélisation </vt:lpstr>
      <vt:lpstr>Data Préparation</vt:lpstr>
      <vt:lpstr>Data Preparation : RandomForest</vt:lpstr>
      <vt:lpstr>Interprétation des métriques par classe</vt:lpstr>
      <vt:lpstr>Analyse globale</vt:lpstr>
      <vt:lpstr>Conclusion </vt:lpstr>
      <vt:lpstr> Analyse RandomForest</vt:lpstr>
      <vt:lpstr>Du modèle supervisé au modèle non supervisé</vt:lpstr>
      <vt:lpstr>Model Non Superviser KMeans</vt:lpstr>
      <vt:lpstr>Méthode du Coude(Elbow Method) </vt:lpstr>
      <vt:lpstr>Segmentation des employés avec K-Means (visualisation PCA)</vt:lpstr>
      <vt:lpstr>Observation </vt:lpstr>
      <vt:lpstr>Interpretation </vt:lpstr>
      <vt:lpstr>Analyse KMeans </vt:lpstr>
      <vt:lpstr>Recommandation RH</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Dhekra</dc:creator>
  <cp:lastModifiedBy>Dhekra</cp:lastModifiedBy>
  <cp:revision>10</cp:revision>
  <dcterms:created xsi:type="dcterms:W3CDTF">2026-02-01T19:10:21Z</dcterms:created>
  <dcterms:modified xsi:type="dcterms:W3CDTF">2026-03-27T11:57:59Z</dcterms:modified>
</cp:coreProperties>
</file>