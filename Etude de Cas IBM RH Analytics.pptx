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7" r:id="rId1"/>
  </p:sldMasterIdLst>
  <p:notesMasterIdLst>
    <p:notesMasterId r:id="rId24"/>
  </p:notesMasterIdLst>
  <p:sldIdLst>
    <p:sldId id="256" r:id="rId2"/>
    <p:sldId id="272" r:id="rId3"/>
    <p:sldId id="273" r:id="rId4"/>
    <p:sldId id="271" r:id="rId5"/>
    <p:sldId id="257" r:id="rId6"/>
    <p:sldId id="277" r:id="rId7"/>
    <p:sldId id="286" r:id="rId8"/>
    <p:sldId id="274" r:id="rId9"/>
    <p:sldId id="275" r:id="rId10"/>
    <p:sldId id="278" r:id="rId11"/>
    <p:sldId id="262" r:id="rId12"/>
    <p:sldId id="263" r:id="rId13"/>
    <p:sldId id="270" r:id="rId14"/>
    <p:sldId id="267" r:id="rId15"/>
    <p:sldId id="279" r:id="rId16"/>
    <p:sldId id="280" r:id="rId17"/>
    <p:sldId id="281" r:id="rId18"/>
    <p:sldId id="287" r:id="rId19"/>
    <p:sldId id="284" r:id="rId20"/>
    <p:sldId id="285" r:id="rId21"/>
    <p:sldId id="288" r:id="rId22"/>
    <p:sldId id="289"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779" autoAdjust="0"/>
    <p:restoredTop sz="93910" autoAdjust="0"/>
  </p:normalViewPr>
  <p:slideViewPr>
    <p:cSldViewPr snapToGrid="0">
      <p:cViewPr>
        <p:scale>
          <a:sx n="73" d="100"/>
          <a:sy n="73" d="100"/>
        </p:scale>
        <p:origin x="630" y="-144"/>
      </p:cViewPr>
      <p:guideLst/>
    </p:cSldViewPr>
  </p:slideViewPr>
  <p:outlineViewPr>
    <p:cViewPr>
      <p:scale>
        <a:sx n="33" d="100"/>
        <a:sy n="33" d="100"/>
      </p:scale>
      <p:origin x="0" y="-282"/>
    </p:cViewPr>
  </p:outlineViewPr>
  <p:notesTextViewPr>
    <p:cViewPr>
      <p:scale>
        <a:sx n="1" d="1"/>
        <a:sy n="1" d="1"/>
      </p:scale>
      <p:origin x="0" y="0"/>
    </p:cViewPr>
  </p:notesTextViewPr>
  <p:notesViewPr>
    <p:cSldViewPr snapToGrid="0">
      <p:cViewPr varScale="1">
        <p:scale>
          <a:sx n="52" d="100"/>
          <a:sy n="52" d="100"/>
        </p:scale>
        <p:origin x="2946" y="7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2E63E6-A840-4E42-A642-235CD886F966}" type="datetimeFigureOut">
              <a:rPr lang="fr-FR" smtClean="0"/>
              <a:t>27/03/2026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9FC601-B7CC-4270-A3E9-F0C0D8F41877}" type="slidenum">
              <a:rPr lang="fr-FR" smtClean="0"/>
              <a:t>‹N°›</a:t>
            </a:fld>
            <a:endParaRPr lang="fr-FR"/>
          </a:p>
        </p:txBody>
      </p:sp>
    </p:spTree>
    <p:extLst>
      <p:ext uri="{BB962C8B-B14F-4D97-AF65-F5344CB8AC3E}">
        <p14:creationId xmlns:p14="http://schemas.microsoft.com/office/powerpoint/2010/main" val="39554984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359FC601-B7CC-4270-A3E9-F0C0D8F41877}" type="slidenum">
              <a:rPr lang="fr-FR" smtClean="0"/>
              <a:t>2</a:t>
            </a:fld>
            <a:endParaRPr lang="fr-FR"/>
          </a:p>
        </p:txBody>
      </p:sp>
    </p:spTree>
    <p:extLst>
      <p:ext uri="{BB962C8B-B14F-4D97-AF65-F5344CB8AC3E}">
        <p14:creationId xmlns:p14="http://schemas.microsoft.com/office/powerpoint/2010/main" val="37111743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359FC601-B7CC-4270-A3E9-F0C0D8F41877}" type="slidenum">
              <a:rPr lang="fr-FR" smtClean="0"/>
              <a:t>8</a:t>
            </a:fld>
            <a:endParaRPr lang="fr-FR"/>
          </a:p>
        </p:txBody>
      </p:sp>
    </p:spTree>
    <p:extLst>
      <p:ext uri="{BB962C8B-B14F-4D97-AF65-F5344CB8AC3E}">
        <p14:creationId xmlns:p14="http://schemas.microsoft.com/office/powerpoint/2010/main" val="279916823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fr-FR"/>
              <a:t>Modifiez le style du titre</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327020EA-38BB-4820-A095-915BE6F6AC1F}" type="datetimeFigureOut">
              <a:rPr lang="fr-FR" smtClean="0"/>
              <a:t>27/03/2026</a:t>
            </a:fld>
            <a:endParaRPr lang="fr-FR"/>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endParaRPr lang="fr-FR"/>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2" name="Slide Number Placeholder 5"/>
          <p:cNvSpPr>
            <a:spLocks noGrp="1"/>
          </p:cNvSpPr>
          <p:nvPr>
            <p:ph type="sldNum" sz="quarter" idx="12"/>
          </p:nvPr>
        </p:nvSpPr>
        <p:spPr>
          <a:xfrm>
            <a:off x="10352540" y="295729"/>
            <a:ext cx="838199" cy="767687"/>
          </a:xfrm>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9380871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327020EA-38BB-4820-A095-915BE6F6AC1F}" type="datetimeFigureOut">
              <a:rPr lang="fr-FR" smtClean="0"/>
              <a:t>27/03/2026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26578818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327020EA-38BB-4820-A095-915BE6F6AC1F}" type="datetimeFigureOut">
              <a:rPr lang="fr-FR" smtClean="0"/>
              <a:t>27/03/2026</a:t>
            </a:fld>
            <a:endParaRPr lang="fr-FR"/>
          </a:p>
        </p:txBody>
      </p:sp>
      <p:sp>
        <p:nvSpPr>
          <p:cNvPr id="5" name="Footer Placeholder 4"/>
          <p:cNvSpPr>
            <a:spLocks noGrp="1"/>
          </p:cNvSpPr>
          <p:nvPr>
            <p:ph type="ftr" sz="quarter" idx="11"/>
          </p:nvPr>
        </p:nvSpPr>
        <p:spPr/>
        <p:txBody>
          <a:bodyPr/>
          <a:lstStyle/>
          <a:p>
            <a:endParaRPr lang="fr-F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32624423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327020EA-38BB-4820-A095-915BE6F6AC1F}" type="datetimeFigureOut">
              <a:rPr lang="fr-FR" smtClean="0"/>
              <a:t>27/03/2026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27413017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327020EA-38BB-4820-A095-915BE6F6AC1F}" type="datetimeFigureOut">
              <a:rPr lang="fr-FR" smtClean="0"/>
              <a:t>27/03/2026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4055808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fr-FR"/>
              <a:t>Modifiez le style du titre</a:t>
            </a:r>
            <a:endParaRPr lang="en-US" dirty="0"/>
          </a:p>
        </p:txBody>
      </p:sp>
      <p:sp>
        <p:nvSpPr>
          <p:cNvPr id="3" name="Date Placeholder 2"/>
          <p:cNvSpPr>
            <a:spLocks noGrp="1"/>
          </p:cNvSpPr>
          <p:nvPr>
            <p:ph type="dt" sz="half" idx="10"/>
          </p:nvPr>
        </p:nvSpPr>
        <p:spPr/>
        <p:txBody>
          <a:bodyPr/>
          <a:lstStyle/>
          <a:p>
            <a:fld id="{327020EA-38BB-4820-A095-915BE6F6AC1F}" type="datetimeFigureOut">
              <a:rPr lang="fr-FR" smtClean="0"/>
              <a:t>27/03/2026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508099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27020EA-38BB-4820-A095-915BE6F6AC1F}" type="datetimeFigureOut">
              <a:rPr lang="fr-FR" smtClean="0"/>
              <a:t>27/03/2026</a:t>
            </a:fld>
            <a:endParaRPr lang="fr-FR"/>
          </a:p>
        </p:txBody>
      </p:sp>
      <p:sp>
        <p:nvSpPr>
          <p:cNvPr id="3" name="Footer Placeholder 2"/>
          <p:cNvSpPr>
            <a:spLocks noGrp="1"/>
          </p:cNvSpPr>
          <p:nvPr>
            <p:ph type="ftr" sz="quarter" idx="11"/>
          </p:nvPr>
        </p:nvSpPr>
        <p:spPr/>
        <p:txBody>
          <a:bodyPr/>
          <a:lstStyle/>
          <a:p>
            <a:endParaRPr lang="fr-FR"/>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31978857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327020EA-38BB-4820-A095-915BE6F6AC1F}" type="datetimeFigureOut">
              <a:rPr lang="fr-FR" smtClean="0"/>
              <a:t>27/03/2026</a:t>
            </a:fld>
            <a:endParaRPr lang="fr-FR"/>
          </a:p>
        </p:txBody>
      </p:sp>
      <p:sp>
        <p:nvSpPr>
          <p:cNvPr id="6" name="Footer Placeholder 5"/>
          <p:cNvSpPr>
            <a:spLocks noGrp="1"/>
          </p:cNvSpPr>
          <p:nvPr>
            <p:ph type="ftr" sz="quarter" idx="11"/>
          </p:nvPr>
        </p:nvSpPr>
        <p:spPr/>
        <p:txBody>
          <a:bodyPr/>
          <a:lstStyle/>
          <a:p>
            <a:endParaRPr lang="fr-F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26793352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fr-FR"/>
              <a:t>Modifiez le style du titre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fr-FR"/>
              <a:t>Cliquez sur l'icône pour ajouter une image</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327020EA-38BB-4820-A095-915BE6F6AC1F}" type="datetimeFigureOut">
              <a:rPr lang="fr-FR" smtClean="0"/>
              <a:t>27/03/2026</a:t>
            </a:fld>
            <a:endParaRPr lang="fr-FR"/>
          </a:p>
        </p:txBody>
      </p:sp>
      <p:sp>
        <p:nvSpPr>
          <p:cNvPr id="6" name="Footer Placeholder 5"/>
          <p:cNvSpPr>
            <a:spLocks noGrp="1"/>
          </p:cNvSpPr>
          <p:nvPr>
            <p:ph type="ftr" sz="quarter" idx="11"/>
          </p:nvPr>
        </p:nvSpPr>
        <p:spPr/>
        <p:txBody>
          <a:bodyPr/>
          <a:lstStyle/>
          <a:p>
            <a:endParaRPr lang="fr-F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2108441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fr-FR"/>
              <a:t>Modifiez le style du titre</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327020EA-38BB-4820-A095-915BE6F6AC1F}" type="datetimeFigureOut">
              <a:rPr lang="fr-FR" smtClean="0"/>
              <a:t>27/03/2026</a:t>
            </a:fld>
            <a:endParaRPr lang="fr-FR"/>
          </a:p>
        </p:txBody>
      </p:sp>
      <p:sp>
        <p:nvSpPr>
          <p:cNvPr id="6" name="Footer Placeholder 5"/>
          <p:cNvSpPr>
            <a:spLocks noGrp="1"/>
          </p:cNvSpPr>
          <p:nvPr>
            <p:ph type="ftr" sz="quarter" idx="11"/>
          </p:nvPr>
        </p:nvSpPr>
        <p:spPr/>
        <p:txBody>
          <a:bodyPr/>
          <a:lstStyle/>
          <a:p>
            <a:endParaRPr lang="fr-F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10029441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re et légend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fr-FR"/>
              <a:t>Modifiez le style du titre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327020EA-38BB-4820-A095-915BE6F6AC1F}" type="datetimeFigureOut">
              <a:rPr lang="fr-FR" smtClean="0"/>
              <a:t>27/03/2026</a:t>
            </a:fld>
            <a:endParaRPr lang="fr-FR"/>
          </a:p>
        </p:txBody>
      </p:sp>
      <p:sp>
        <p:nvSpPr>
          <p:cNvPr id="5" name="Footer Placeholder 4"/>
          <p:cNvSpPr>
            <a:spLocks noGrp="1"/>
          </p:cNvSpPr>
          <p:nvPr>
            <p:ph type="ftr" sz="quarter" idx="11"/>
          </p:nvPr>
        </p:nvSpPr>
        <p:spPr/>
        <p:txBody>
          <a:bodyPr/>
          <a:lstStyle/>
          <a:p>
            <a:endParaRPr lang="fr-FR"/>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28182175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itation avec légende">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fr-FR"/>
              <a:t>Modifiez le style du titre</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327020EA-38BB-4820-A095-915BE6F6AC1F}" type="datetimeFigureOut">
              <a:rPr lang="fr-FR" smtClean="0"/>
              <a:t>27/03/2026</a:t>
            </a:fld>
            <a:endParaRPr lang="fr-FR"/>
          </a:p>
        </p:txBody>
      </p:sp>
      <p:sp>
        <p:nvSpPr>
          <p:cNvPr id="5" name="Footer Placeholder 4"/>
          <p:cNvSpPr>
            <a:spLocks noGrp="1"/>
          </p:cNvSpPr>
          <p:nvPr>
            <p:ph type="ftr" sz="quarter" idx="11"/>
          </p:nvPr>
        </p:nvSpPr>
        <p:spPr/>
        <p:txBody>
          <a:bodyPr/>
          <a:lstStyle/>
          <a:p>
            <a:endParaRPr lang="fr-FR"/>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60368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arte nom">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327020EA-38BB-4820-A095-915BE6F6AC1F}" type="datetimeFigureOut">
              <a:rPr lang="fr-FR" smtClean="0"/>
              <a:t>27/03/2026</a:t>
            </a:fld>
            <a:endParaRPr lang="fr-FR"/>
          </a:p>
        </p:txBody>
      </p:sp>
      <p:sp>
        <p:nvSpPr>
          <p:cNvPr id="5" name="Footer Placeholder 4"/>
          <p:cNvSpPr>
            <a:spLocks noGrp="1"/>
          </p:cNvSpPr>
          <p:nvPr>
            <p:ph type="ftr" sz="quarter" idx="11"/>
          </p:nvPr>
        </p:nvSpPr>
        <p:spPr/>
        <p:txBody>
          <a:bodyPr/>
          <a:lstStyle/>
          <a:p>
            <a:endParaRPr lang="fr-FR"/>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4820229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fr-FR"/>
              <a:t>Modifiez le style du titre</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327020EA-38BB-4820-A095-915BE6F6AC1F}" type="datetimeFigureOut">
              <a:rPr lang="fr-FR" smtClean="0"/>
              <a:t>27/03/2026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40391188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fr-FR"/>
              <a:t>Modifiez le style du titre</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327020EA-38BB-4820-A095-915BE6F6AC1F}" type="datetimeFigureOut">
              <a:rPr lang="fr-FR" smtClean="0"/>
              <a:t>27/03/2026</a:t>
            </a:fld>
            <a:endParaRPr lang="fr-FR"/>
          </a:p>
        </p:txBody>
      </p:sp>
      <p:sp>
        <p:nvSpPr>
          <p:cNvPr id="8" name="Footer Placeholder 7"/>
          <p:cNvSpPr>
            <a:spLocks noGrp="1"/>
          </p:cNvSpPr>
          <p:nvPr>
            <p:ph type="ftr" sz="quarter" idx="11"/>
          </p:nvPr>
        </p:nvSpPr>
        <p:spPr>
          <a:xfrm>
            <a:off x="561111" y="6391838"/>
            <a:ext cx="3644282" cy="304801"/>
          </a:xfrm>
        </p:spPr>
        <p:txBody>
          <a:bodyPr/>
          <a:lstStyle/>
          <a:p>
            <a:endParaRPr lang="fr-FR"/>
          </a:p>
        </p:txBody>
      </p:sp>
      <p:sp>
        <p:nvSpPr>
          <p:cNvPr id="9" name="Slide Number Placeholder 8"/>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8561345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327020EA-38BB-4820-A095-915BE6F6AC1F}" type="datetimeFigureOut">
              <a:rPr lang="fr-FR" smtClean="0"/>
              <a:t>27/03/2026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32755718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fr-FR"/>
              <a:t>Modifiez le style du titre</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327020EA-38BB-4820-A095-915BE6F6AC1F}" type="datetimeFigureOut">
              <a:rPr lang="fr-FR" smtClean="0"/>
              <a:t>27/03/2026</a:t>
            </a:fld>
            <a:endParaRPr lang="fr-FR"/>
          </a:p>
        </p:txBody>
      </p:sp>
      <p:sp>
        <p:nvSpPr>
          <p:cNvPr id="5" name="Footer Placeholder 4"/>
          <p:cNvSpPr>
            <a:spLocks noGrp="1"/>
          </p:cNvSpPr>
          <p:nvPr>
            <p:ph type="ftr" sz="quarter" idx="11"/>
          </p:nvPr>
        </p:nvSpPr>
        <p:spPr/>
        <p:txBody>
          <a:bodyPr/>
          <a:lstStyle/>
          <a:p>
            <a:endParaRPr lang="fr-FR"/>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8E3C7835-1145-470C-BA34-3B665538908E}" type="slidenum">
              <a:rPr lang="fr-FR" smtClean="0"/>
              <a:t>‹N°›</a:t>
            </a:fld>
            <a:endParaRPr lang="fr-FR"/>
          </a:p>
        </p:txBody>
      </p:sp>
    </p:spTree>
    <p:extLst>
      <p:ext uri="{BB962C8B-B14F-4D97-AF65-F5344CB8AC3E}">
        <p14:creationId xmlns:p14="http://schemas.microsoft.com/office/powerpoint/2010/main" val="37096066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fr-FR"/>
              <a:t>Modifiez le style du titre</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327020EA-38BB-4820-A095-915BE6F6AC1F}" type="datetimeFigureOut">
              <a:rPr lang="fr-FR" smtClean="0"/>
              <a:t>27/03/2026</a:t>
            </a:fld>
            <a:endParaRPr lang="fr-FR"/>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endParaRPr lang="fr-FR"/>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8E3C7835-1145-470C-BA34-3B665538908E}" type="slidenum">
              <a:rPr lang="fr-FR" smtClean="0"/>
              <a:t>‹N°›</a:t>
            </a:fld>
            <a:endParaRPr lang="fr-FR"/>
          </a:p>
        </p:txBody>
      </p:sp>
    </p:spTree>
    <p:extLst>
      <p:ext uri="{BB962C8B-B14F-4D97-AF65-F5344CB8AC3E}">
        <p14:creationId xmlns:p14="http://schemas.microsoft.com/office/powerpoint/2010/main" val="3361516629"/>
      </p:ext>
    </p:extLst>
  </p:cSld>
  <p:clrMap bg1="lt1" tx1="dk1" bg2="lt2" tx2="dk2" accent1="accent1" accent2="accent2" accent3="accent3" accent4="accent4" accent5="accent5" accent6="accent6" hlink="hlink" folHlink="folHlink"/>
  <p:sldLayoutIdLst>
    <p:sldLayoutId id="2147483818" r:id="rId1"/>
    <p:sldLayoutId id="2147483819" r:id="rId2"/>
    <p:sldLayoutId id="2147483820" r:id="rId3"/>
    <p:sldLayoutId id="2147483821" r:id="rId4"/>
    <p:sldLayoutId id="2147483822" r:id="rId5"/>
    <p:sldLayoutId id="2147483823" r:id="rId6"/>
    <p:sldLayoutId id="2147483824" r:id="rId7"/>
    <p:sldLayoutId id="2147483825" r:id="rId8"/>
    <p:sldLayoutId id="2147483826" r:id="rId9"/>
    <p:sldLayoutId id="2147483827" r:id="rId10"/>
    <p:sldLayoutId id="2147483828" r:id="rId11"/>
    <p:sldLayoutId id="2147483829" r:id="rId12"/>
    <p:sldLayoutId id="2147483830" r:id="rId13"/>
    <p:sldLayoutId id="2147483831" r:id="rId14"/>
    <p:sldLayoutId id="2147483832" r:id="rId15"/>
    <p:sldLayoutId id="2147483833" r:id="rId16"/>
    <p:sldLayoutId id="2147483834" r:id="rId17"/>
  </p:sldLayoutIdLst>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E3DA44B-BCDB-639A-2D4D-7D1FFEBFA97F}"/>
              </a:ext>
            </a:extLst>
          </p:cNvPr>
          <p:cNvSpPr>
            <a:spLocks noGrp="1"/>
          </p:cNvSpPr>
          <p:nvPr>
            <p:ph type="ctrTitle"/>
          </p:nvPr>
        </p:nvSpPr>
        <p:spPr/>
        <p:txBody>
          <a:bodyPr anchor="ctr"/>
          <a:lstStyle/>
          <a:p>
            <a:r>
              <a:rPr lang="fr-FR" sz="4600" dirty="0"/>
              <a:t>Etude de Cas IBM RH Analytics</a:t>
            </a:r>
          </a:p>
        </p:txBody>
      </p:sp>
      <p:sp>
        <p:nvSpPr>
          <p:cNvPr id="3" name="Sous-titre 2">
            <a:extLst>
              <a:ext uri="{FF2B5EF4-FFF2-40B4-BE49-F238E27FC236}">
                <a16:creationId xmlns:a16="http://schemas.microsoft.com/office/drawing/2014/main" id="{9A680777-C5C4-EA00-5D3F-76CBC6B91A30}"/>
              </a:ext>
            </a:extLst>
          </p:cNvPr>
          <p:cNvSpPr>
            <a:spLocks noGrp="1"/>
          </p:cNvSpPr>
          <p:nvPr>
            <p:ph type="subTitle" idx="1"/>
          </p:nvPr>
        </p:nvSpPr>
        <p:spPr>
          <a:xfrm>
            <a:off x="1154955" y="4475929"/>
            <a:ext cx="8825658" cy="861420"/>
          </a:xfrm>
        </p:spPr>
        <p:txBody>
          <a:bodyPr>
            <a:normAutofit/>
          </a:bodyPr>
          <a:lstStyle/>
          <a:p>
            <a:pPr algn="r"/>
            <a:r>
              <a:rPr lang="fr-FR" b="1" dirty="0" err="1">
                <a:effectLst/>
              </a:rPr>
              <a:t>Thekra</a:t>
            </a:r>
            <a:r>
              <a:rPr lang="fr-FR" b="1" dirty="0">
                <a:effectLst/>
              </a:rPr>
              <a:t> Ben Ammar</a:t>
            </a:r>
          </a:p>
          <a:p>
            <a:pPr algn="r"/>
            <a:r>
              <a:rPr lang="fr-FR" b="1" dirty="0"/>
              <a:t>08-02-2026</a:t>
            </a:r>
            <a:r>
              <a:rPr lang="fr-FR" b="1" dirty="0">
                <a:effectLst/>
              </a:rPr>
              <a:t>           </a:t>
            </a:r>
          </a:p>
        </p:txBody>
      </p:sp>
    </p:spTree>
    <p:extLst>
      <p:ext uri="{BB962C8B-B14F-4D97-AF65-F5344CB8AC3E}">
        <p14:creationId xmlns:p14="http://schemas.microsoft.com/office/powerpoint/2010/main" val="39639154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A560953-0750-A08D-AE90-0690C0807DC5}"/>
              </a:ext>
            </a:extLst>
          </p:cNvPr>
          <p:cNvSpPr>
            <a:spLocks noGrp="1"/>
          </p:cNvSpPr>
          <p:nvPr>
            <p:ph type="title"/>
          </p:nvPr>
        </p:nvSpPr>
        <p:spPr/>
        <p:txBody>
          <a:bodyPr/>
          <a:lstStyle/>
          <a:p>
            <a:r>
              <a:rPr lang="fr-FR" dirty="0"/>
              <a:t>Interprétation</a:t>
            </a:r>
          </a:p>
        </p:txBody>
      </p:sp>
      <p:sp>
        <p:nvSpPr>
          <p:cNvPr id="3" name="Espace réservé du contenu 2">
            <a:extLst>
              <a:ext uri="{FF2B5EF4-FFF2-40B4-BE49-F238E27FC236}">
                <a16:creationId xmlns:a16="http://schemas.microsoft.com/office/drawing/2014/main" id="{23FF9E3E-02A5-9B45-3002-4B8FA6ED3F67}"/>
              </a:ext>
            </a:extLst>
          </p:cNvPr>
          <p:cNvSpPr>
            <a:spLocks noGrp="1"/>
          </p:cNvSpPr>
          <p:nvPr>
            <p:ph idx="1"/>
          </p:nvPr>
        </p:nvSpPr>
        <p:spPr/>
        <p:txBody>
          <a:bodyPr>
            <a:normAutofit/>
          </a:bodyPr>
          <a:lstStyle/>
          <a:p>
            <a:pPr marL="0" indent="0">
              <a:buNone/>
            </a:pPr>
            <a:r>
              <a:rPr lang="fr-FR" dirty="0"/>
              <a:t>Le jeu de données IBM HR Analytics, provenant de </a:t>
            </a:r>
            <a:r>
              <a:rPr lang="fr-FR" dirty="0" err="1"/>
              <a:t>Kaggle</a:t>
            </a:r>
            <a:r>
              <a:rPr lang="fr-FR" dirty="0"/>
              <a:t>, est un dataset de ressources humaines inspiré des données internes d’IBM. </a:t>
            </a:r>
          </a:p>
          <a:p>
            <a:pPr marL="0" indent="0">
              <a:buNone/>
            </a:pPr>
            <a:r>
              <a:rPr lang="fr-FR" dirty="0"/>
              <a:t>Il contient des informations personnelles, professionnelles et liées aux postes des employés.</a:t>
            </a:r>
          </a:p>
          <a:p>
            <a:pPr marL="0" indent="0">
              <a:buNone/>
            </a:pPr>
            <a:r>
              <a:rPr lang="fr-FR" dirty="0"/>
              <a:t>Ces données permettent d’analyser les facteurs influençant l’attrition des employés et d’appliquer des méthodes de machine </a:t>
            </a:r>
            <a:r>
              <a:rPr lang="fr-FR" dirty="0" err="1"/>
              <a:t>learning</a:t>
            </a:r>
            <a:r>
              <a:rPr lang="fr-FR" dirty="0"/>
              <a:t> supervisé ou non supervisé dans un contexte décisionnel RH.</a:t>
            </a:r>
          </a:p>
        </p:txBody>
      </p:sp>
    </p:spTree>
    <p:extLst>
      <p:ext uri="{BB962C8B-B14F-4D97-AF65-F5344CB8AC3E}">
        <p14:creationId xmlns:p14="http://schemas.microsoft.com/office/powerpoint/2010/main" val="35715796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F11AC2-1197-4A16-A92B-1892030B856E}"/>
              </a:ext>
            </a:extLst>
          </p:cNvPr>
          <p:cNvSpPr>
            <a:spLocks noGrp="1"/>
          </p:cNvSpPr>
          <p:nvPr>
            <p:ph type="title"/>
          </p:nvPr>
        </p:nvSpPr>
        <p:spPr/>
        <p:txBody>
          <a:bodyPr/>
          <a:lstStyle/>
          <a:p>
            <a:r>
              <a:rPr lang="fr-FR" dirty="0"/>
              <a:t>Business </a:t>
            </a:r>
            <a:r>
              <a:rPr lang="fr-FR" dirty="0" err="1"/>
              <a:t>Undrestanding</a:t>
            </a:r>
            <a:endParaRPr lang="fr-FR" dirty="0"/>
          </a:p>
        </p:txBody>
      </p:sp>
      <p:sp>
        <p:nvSpPr>
          <p:cNvPr id="3" name="Espace réservé du contenu 2">
            <a:extLst>
              <a:ext uri="{FF2B5EF4-FFF2-40B4-BE49-F238E27FC236}">
                <a16:creationId xmlns:a16="http://schemas.microsoft.com/office/drawing/2014/main" id="{34F4E721-54C4-F119-BECE-46460020987B}"/>
              </a:ext>
            </a:extLst>
          </p:cNvPr>
          <p:cNvSpPr>
            <a:spLocks noGrp="1"/>
          </p:cNvSpPr>
          <p:nvPr>
            <p:ph idx="1"/>
          </p:nvPr>
        </p:nvSpPr>
        <p:spPr/>
        <p:txBody>
          <a:bodyPr/>
          <a:lstStyle/>
          <a:p>
            <a:pPr marL="0" indent="0">
              <a:buNone/>
            </a:pPr>
            <a:r>
              <a:rPr lang="fr-FR" dirty="0">
                <a:latin typeface="Arial" panose="020B0604020202020204" pitchFamily="34" charset="0"/>
                <a:cs typeface="Arial" panose="020B0604020202020204" pitchFamily="34" charset="0"/>
              </a:rPr>
              <a:t>L’objectif de ce projet est d’analyser le taux de roulement (attrition) et la performance des employés afin de mieux comprendre les facteurs qui influencent le départ des employés au sein de l’entreprise.</a:t>
            </a:r>
          </a:p>
        </p:txBody>
      </p:sp>
    </p:spTree>
    <p:extLst>
      <p:ext uri="{BB962C8B-B14F-4D97-AF65-F5344CB8AC3E}">
        <p14:creationId xmlns:p14="http://schemas.microsoft.com/office/powerpoint/2010/main" val="11495157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BCF5D9E-9F2D-07AB-806A-373DBBD47D68}"/>
              </a:ext>
            </a:extLst>
          </p:cNvPr>
          <p:cNvSpPr>
            <a:spLocks noGrp="1"/>
          </p:cNvSpPr>
          <p:nvPr>
            <p:ph type="title"/>
          </p:nvPr>
        </p:nvSpPr>
        <p:spPr/>
        <p:txBody>
          <a:bodyPr/>
          <a:lstStyle/>
          <a:p>
            <a:r>
              <a:rPr lang="fr-FR" dirty="0"/>
              <a:t>Data </a:t>
            </a:r>
            <a:r>
              <a:rPr lang="fr-FR" dirty="0" err="1"/>
              <a:t>Undrestanding</a:t>
            </a:r>
            <a:endParaRPr lang="fr-FR" dirty="0"/>
          </a:p>
        </p:txBody>
      </p:sp>
      <p:sp>
        <p:nvSpPr>
          <p:cNvPr id="3" name="Espace réservé du contenu 2">
            <a:extLst>
              <a:ext uri="{FF2B5EF4-FFF2-40B4-BE49-F238E27FC236}">
                <a16:creationId xmlns:a16="http://schemas.microsoft.com/office/drawing/2014/main" id="{4A125F2D-B5FA-C87D-6571-7789B8CBEA2D}"/>
              </a:ext>
            </a:extLst>
          </p:cNvPr>
          <p:cNvSpPr>
            <a:spLocks noGrp="1"/>
          </p:cNvSpPr>
          <p:nvPr>
            <p:ph idx="1"/>
          </p:nvPr>
        </p:nvSpPr>
        <p:spPr/>
        <p:txBody>
          <a:bodyPr>
            <a:normAutofit/>
          </a:bodyPr>
          <a:lstStyle/>
          <a:p>
            <a:pPr marL="0" indent="0">
              <a:buNone/>
            </a:pPr>
            <a:r>
              <a:rPr lang="fr-FR" dirty="0">
                <a:latin typeface="Arial" panose="020B0604020202020204" pitchFamily="34" charset="0"/>
                <a:cs typeface="Arial" panose="020B0604020202020204" pitchFamily="34" charset="0"/>
              </a:rPr>
              <a:t>Le dataset IBM HR Analytics contient des informations sur 1470 employés avec 35 variables décrivant leurs caractéristiques personnelles et professionnelles.</a:t>
            </a:r>
          </a:p>
          <a:p>
            <a:pPr marL="0" indent="0">
              <a:buNone/>
            </a:pPr>
            <a:r>
              <a:rPr lang="fr-FR" dirty="0">
                <a:latin typeface="Arial" panose="020B0604020202020204" pitchFamily="34" charset="0"/>
                <a:cs typeface="Arial" panose="020B0604020202020204" pitchFamily="34" charset="0"/>
              </a:rPr>
              <a:t>Ces variables incluent notamment l’âge, le département, le niveau de satisfaction, la rémunération, l’ancienneté et les conditions de travail.</a:t>
            </a:r>
          </a:p>
          <a:p>
            <a:pPr marL="0" indent="0">
              <a:buNone/>
            </a:pPr>
            <a:r>
              <a:rPr lang="fr-FR" dirty="0">
                <a:latin typeface="Arial" panose="020B0604020202020204" pitchFamily="34" charset="0"/>
                <a:cs typeface="Arial" panose="020B0604020202020204" pitchFamily="34" charset="0"/>
              </a:rPr>
              <a:t>La variable Attrition indique si un employé a quitté l’entreprise et constitue la variable cible principale à analyser.</a:t>
            </a:r>
          </a:p>
        </p:txBody>
      </p:sp>
    </p:spTree>
    <p:extLst>
      <p:ext uri="{BB962C8B-B14F-4D97-AF65-F5344CB8AC3E}">
        <p14:creationId xmlns:p14="http://schemas.microsoft.com/office/powerpoint/2010/main" val="6397142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D5D777-C30D-0B01-281C-D03A875E28DE}"/>
              </a:ext>
            </a:extLst>
          </p:cNvPr>
          <p:cNvSpPr>
            <a:spLocks noGrp="1"/>
          </p:cNvSpPr>
          <p:nvPr>
            <p:ph type="title"/>
          </p:nvPr>
        </p:nvSpPr>
        <p:spPr/>
        <p:txBody>
          <a:bodyPr/>
          <a:lstStyle/>
          <a:p>
            <a:r>
              <a:rPr lang="fr-FR" dirty="0"/>
              <a:t>Objectif</a:t>
            </a:r>
          </a:p>
        </p:txBody>
      </p:sp>
      <p:sp>
        <p:nvSpPr>
          <p:cNvPr id="3" name="Espace réservé du contenu 2">
            <a:extLst>
              <a:ext uri="{FF2B5EF4-FFF2-40B4-BE49-F238E27FC236}">
                <a16:creationId xmlns:a16="http://schemas.microsoft.com/office/drawing/2014/main" id="{1D950224-66CB-CD40-BB81-04C3789D0B59}"/>
              </a:ext>
            </a:extLst>
          </p:cNvPr>
          <p:cNvSpPr>
            <a:spLocks noGrp="1"/>
          </p:cNvSpPr>
          <p:nvPr>
            <p:ph idx="1"/>
          </p:nvPr>
        </p:nvSpPr>
        <p:spPr>
          <a:xfrm>
            <a:off x="680321" y="2336872"/>
            <a:ext cx="9613861" cy="3767899"/>
          </a:xfrm>
        </p:spPr>
        <p:txBody>
          <a:bodyPr>
            <a:normAutofit/>
          </a:bodyPr>
          <a:lstStyle/>
          <a:p>
            <a:pPr marL="0" indent="0" algn="r">
              <a:buNone/>
            </a:pPr>
            <a:endParaRPr lang="fr-FR" dirty="0"/>
          </a:p>
          <a:p>
            <a:pPr marL="0" indent="0" algn="r">
              <a:buNone/>
            </a:pPr>
            <a:endParaRPr lang="fr-FR" dirty="0"/>
          </a:p>
          <a:p>
            <a:pPr marL="0" indent="0">
              <a:buNone/>
            </a:pPr>
            <a:r>
              <a:rPr lang="fr-FR" dirty="0">
                <a:latin typeface="Arial" panose="020B0604020202020204" pitchFamily="34" charset="0"/>
                <a:cs typeface="Arial" panose="020B0604020202020204" pitchFamily="34" charset="0"/>
              </a:rPr>
              <a:t>Prédire l’Attrition des employés et identifier les facteurs qui influencent le départ, afin de mieux comprendre le turnover et d’aider à la prise de décision en ressources humaines.</a:t>
            </a:r>
          </a:p>
        </p:txBody>
      </p:sp>
    </p:spTree>
    <p:extLst>
      <p:ext uri="{BB962C8B-B14F-4D97-AF65-F5344CB8AC3E}">
        <p14:creationId xmlns:p14="http://schemas.microsoft.com/office/powerpoint/2010/main" val="15631960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9F1598-E275-D281-4EF5-270060125218}"/>
              </a:ext>
            </a:extLst>
          </p:cNvPr>
          <p:cNvSpPr>
            <a:spLocks noGrp="1"/>
          </p:cNvSpPr>
          <p:nvPr>
            <p:ph type="title"/>
          </p:nvPr>
        </p:nvSpPr>
        <p:spPr/>
        <p:txBody>
          <a:bodyPr/>
          <a:lstStyle/>
          <a:p>
            <a:r>
              <a:rPr lang="fr-FR" dirty="0"/>
              <a:t>Data Descriptive</a:t>
            </a:r>
          </a:p>
        </p:txBody>
      </p:sp>
      <p:sp>
        <p:nvSpPr>
          <p:cNvPr id="3" name="Espace réservé du contenu 2">
            <a:extLst>
              <a:ext uri="{FF2B5EF4-FFF2-40B4-BE49-F238E27FC236}">
                <a16:creationId xmlns:a16="http://schemas.microsoft.com/office/drawing/2014/main" id="{42E8A058-D2AF-AE1F-F283-CC84DA963851}"/>
              </a:ext>
            </a:extLst>
          </p:cNvPr>
          <p:cNvSpPr>
            <a:spLocks noGrp="1"/>
          </p:cNvSpPr>
          <p:nvPr>
            <p:ph idx="1"/>
          </p:nvPr>
        </p:nvSpPr>
        <p:spPr/>
        <p:txBody>
          <a:bodyPr/>
          <a:lstStyle/>
          <a:p>
            <a:pPr marL="0" indent="0">
              <a:buNone/>
            </a:pPr>
            <a:r>
              <a:rPr lang="fr-FR" dirty="0">
                <a:latin typeface="Arial" panose="020B0604020202020204" pitchFamily="34" charset="0"/>
                <a:cs typeface="Arial" panose="020B0604020202020204" pitchFamily="34" charset="0"/>
              </a:rPr>
              <a:t>Une analyse descriptive a été réalisée afin d’explorer les données et de comprendre la distribution des variables.</a:t>
            </a:r>
          </a:p>
          <a:p>
            <a:pPr marL="0" indent="0">
              <a:buNone/>
            </a:pPr>
            <a:r>
              <a:rPr lang="fr-FR" dirty="0">
                <a:latin typeface="Arial" panose="020B0604020202020204" pitchFamily="34" charset="0"/>
                <a:cs typeface="Arial" panose="020B0604020202020204" pitchFamily="34" charset="0"/>
              </a:rPr>
              <a:t>Des statistiques agrégées ont été calculées entre la variable cible (Attrition) et les différentes variables explicatives afin d’identifier les tendances et relations potentielles.</a:t>
            </a:r>
          </a:p>
        </p:txBody>
      </p:sp>
    </p:spTree>
    <p:extLst>
      <p:ext uri="{BB962C8B-B14F-4D97-AF65-F5344CB8AC3E}">
        <p14:creationId xmlns:p14="http://schemas.microsoft.com/office/powerpoint/2010/main" val="37148699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F31791E-C7D5-535F-71BA-B5E64EFB3A15}"/>
              </a:ext>
            </a:extLst>
          </p:cNvPr>
          <p:cNvSpPr>
            <a:spLocks noGrp="1"/>
          </p:cNvSpPr>
          <p:nvPr>
            <p:ph type="title"/>
          </p:nvPr>
        </p:nvSpPr>
        <p:spPr/>
        <p:txBody>
          <a:bodyPr/>
          <a:lstStyle/>
          <a:p>
            <a:r>
              <a:rPr lang="fr-FR" dirty="0"/>
              <a:t>Modélisation </a:t>
            </a:r>
          </a:p>
        </p:txBody>
      </p:sp>
      <p:sp>
        <p:nvSpPr>
          <p:cNvPr id="3" name="Espace réservé du contenu 2">
            <a:extLst>
              <a:ext uri="{FF2B5EF4-FFF2-40B4-BE49-F238E27FC236}">
                <a16:creationId xmlns:a16="http://schemas.microsoft.com/office/drawing/2014/main" id="{0B3EA515-CAE8-2BD4-92B2-40FFB317CD24}"/>
              </a:ext>
            </a:extLst>
          </p:cNvPr>
          <p:cNvSpPr>
            <a:spLocks noGrp="1"/>
          </p:cNvSpPr>
          <p:nvPr>
            <p:ph idx="1"/>
          </p:nvPr>
        </p:nvSpPr>
        <p:spPr/>
        <p:txBody>
          <a:bodyPr/>
          <a:lstStyle/>
          <a:p>
            <a:pPr marL="0" indent="0">
              <a:buNone/>
            </a:pPr>
            <a:r>
              <a:rPr lang="fr-FR" dirty="0">
                <a:latin typeface="Arial" panose="020B0604020202020204" pitchFamily="34" charset="0"/>
                <a:cs typeface="Arial" panose="020B0604020202020204" pitchFamily="34" charset="0"/>
              </a:rPr>
              <a:t>Dans ce projet, deux approches de machine </a:t>
            </a:r>
            <a:r>
              <a:rPr lang="fr-FR" dirty="0" err="1">
                <a:latin typeface="Arial" panose="020B0604020202020204" pitchFamily="34" charset="0"/>
                <a:cs typeface="Arial" panose="020B0604020202020204" pitchFamily="34" charset="0"/>
              </a:rPr>
              <a:t>learning</a:t>
            </a:r>
            <a:r>
              <a:rPr lang="fr-FR" dirty="0">
                <a:latin typeface="Arial" panose="020B0604020202020204" pitchFamily="34" charset="0"/>
                <a:cs typeface="Arial" panose="020B0604020202020204" pitchFamily="34" charset="0"/>
              </a:rPr>
              <a:t> ont été utilisées :</a:t>
            </a:r>
          </a:p>
          <a:p>
            <a:endParaRPr lang="fr-FR" dirty="0">
              <a:latin typeface="Arial" panose="020B0604020202020204" pitchFamily="34" charset="0"/>
              <a:cs typeface="Arial" panose="020B0604020202020204" pitchFamily="34" charset="0"/>
            </a:endParaRPr>
          </a:p>
          <a:p>
            <a:pPr marL="0" indent="0">
              <a:buNone/>
            </a:pPr>
            <a:r>
              <a:rPr lang="fr-FR" dirty="0" err="1">
                <a:latin typeface="Arial" panose="020B0604020202020204" pitchFamily="34" charset="0"/>
                <a:cs typeface="Arial" panose="020B0604020202020204" pitchFamily="34" charset="0"/>
              </a:rPr>
              <a:t>Random</a:t>
            </a:r>
            <a:r>
              <a:rPr lang="fr-FR" dirty="0">
                <a:latin typeface="Arial" panose="020B0604020202020204" pitchFamily="34" charset="0"/>
                <a:cs typeface="Arial" panose="020B0604020202020204" pitchFamily="34" charset="0"/>
              </a:rPr>
              <a:t> Forest (apprentissage supervisé)</a:t>
            </a:r>
          </a:p>
          <a:p>
            <a:pPr marL="0" indent="0">
              <a:buNone/>
            </a:pPr>
            <a:r>
              <a:rPr lang="fr-FR" dirty="0">
                <a:latin typeface="Arial" panose="020B0604020202020204" pitchFamily="34" charset="0"/>
                <a:cs typeface="Arial" panose="020B0604020202020204" pitchFamily="34" charset="0"/>
              </a:rPr>
              <a:t>K-</a:t>
            </a:r>
            <a:r>
              <a:rPr lang="fr-FR" dirty="0" err="1">
                <a:latin typeface="Arial" panose="020B0604020202020204" pitchFamily="34" charset="0"/>
                <a:cs typeface="Arial" panose="020B0604020202020204" pitchFamily="34" charset="0"/>
              </a:rPr>
              <a:t>Means</a:t>
            </a:r>
            <a:r>
              <a:rPr lang="fr-FR" dirty="0">
                <a:latin typeface="Arial" panose="020B0604020202020204" pitchFamily="34" charset="0"/>
                <a:cs typeface="Arial" panose="020B0604020202020204" pitchFamily="34" charset="0"/>
              </a:rPr>
              <a:t> Clustering (apprentissage non supervisé)</a:t>
            </a:r>
          </a:p>
          <a:p>
            <a:endParaRPr lang="fr-FR" dirty="0">
              <a:latin typeface="Arial" panose="020B0604020202020204" pitchFamily="34" charset="0"/>
              <a:cs typeface="Arial" panose="020B0604020202020204" pitchFamily="34" charset="0"/>
            </a:endParaRPr>
          </a:p>
          <a:p>
            <a:pPr marL="0" indent="0">
              <a:buNone/>
            </a:pPr>
            <a:r>
              <a:rPr lang="fr-FR" dirty="0">
                <a:latin typeface="Arial" panose="020B0604020202020204" pitchFamily="34" charset="0"/>
                <a:cs typeface="Arial" panose="020B0604020202020204" pitchFamily="34" charset="0"/>
              </a:rPr>
              <a:t>Ces méthodes permettent d’analyser les comportements des employés et de prédire l’attrition.</a:t>
            </a:r>
          </a:p>
        </p:txBody>
      </p:sp>
    </p:spTree>
    <p:extLst>
      <p:ext uri="{BB962C8B-B14F-4D97-AF65-F5344CB8AC3E}">
        <p14:creationId xmlns:p14="http://schemas.microsoft.com/office/powerpoint/2010/main" val="2245347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95FBCB3-ED2F-5A34-F77D-CA2EAF5812BE}"/>
              </a:ext>
            </a:extLst>
          </p:cNvPr>
          <p:cNvSpPr>
            <a:spLocks noGrp="1"/>
          </p:cNvSpPr>
          <p:nvPr>
            <p:ph type="title"/>
          </p:nvPr>
        </p:nvSpPr>
        <p:spPr/>
        <p:txBody>
          <a:bodyPr/>
          <a:lstStyle/>
          <a:p>
            <a:r>
              <a:rPr lang="fr-FR" dirty="0"/>
              <a:t>Data Préparation</a:t>
            </a:r>
          </a:p>
        </p:txBody>
      </p:sp>
      <p:sp>
        <p:nvSpPr>
          <p:cNvPr id="3" name="Espace réservé du texte 2">
            <a:extLst>
              <a:ext uri="{FF2B5EF4-FFF2-40B4-BE49-F238E27FC236}">
                <a16:creationId xmlns:a16="http://schemas.microsoft.com/office/drawing/2014/main" id="{CB85E64F-3037-87CD-C11E-A7E61DB45956}"/>
              </a:ext>
            </a:extLst>
          </p:cNvPr>
          <p:cNvSpPr>
            <a:spLocks noGrp="1"/>
          </p:cNvSpPr>
          <p:nvPr>
            <p:ph type="body" idx="1"/>
          </p:nvPr>
        </p:nvSpPr>
        <p:spPr>
          <a:xfrm>
            <a:off x="828973" y="3183675"/>
            <a:ext cx="2052830" cy="462239"/>
          </a:xfrm>
        </p:spPr>
        <p:txBody>
          <a:bodyPr/>
          <a:lstStyle/>
          <a:p>
            <a:r>
              <a:rPr lang="fr-FR" dirty="0">
                <a:latin typeface="Arial" panose="020B0604020202020204" pitchFamily="34" charset="0"/>
                <a:cs typeface="Arial" panose="020B0604020202020204" pitchFamily="34" charset="0"/>
              </a:rPr>
              <a:t>Préparation</a:t>
            </a:r>
          </a:p>
        </p:txBody>
      </p:sp>
      <p:sp>
        <p:nvSpPr>
          <p:cNvPr id="7" name="Espace réservé du texte 6">
            <a:extLst>
              <a:ext uri="{FF2B5EF4-FFF2-40B4-BE49-F238E27FC236}">
                <a16:creationId xmlns:a16="http://schemas.microsoft.com/office/drawing/2014/main" id="{A93E3D8D-6378-9795-3C4C-25A1E79279CF}"/>
              </a:ext>
            </a:extLst>
          </p:cNvPr>
          <p:cNvSpPr>
            <a:spLocks noGrp="1"/>
          </p:cNvSpPr>
          <p:nvPr>
            <p:ph sz="half" idx="2"/>
          </p:nvPr>
        </p:nvSpPr>
        <p:spPr>
          <a:xfrm>
            <a:off x="5161988" y="3045223"/>
            <a:ext cx="2628389" cy="437751"/>
          </a:xfrm>
        </p:spPr>
        <p:txBody>
          <a:bodyPr>
            <a:noAutofit/>
          </a:bodyPr>
          <a:lstStyle/>
          <a:p>
            <a:pPr marL="0" indent="0">
              <a:buNone/>
            </a:pPr>
            <a:r>
              <a:rPr lang="fr-FR" sz="2400" dirty="0">
                <a:solidFill>
                  <a:schemeClr val="accent1"/>
                </a:solidFill>
                <a:latin typeface="Arial" panose="020B0604020202020204" pitchFamily="34" charset="0"/>
                <a:cs typeface="Arial" panose="020B0604020202020204" pitchFamily="34" charset="0"/>
              </a:rPr>
              <a:t>Transformation</a:t>
            </a:r>
          </a:p>
        </p:txBody>
      </p:sp>
      <p:sp>
        <p:nvSpPr>
          <p:cNvPr id="5" name="Espace réservé du texte 4">
            <a:extLst>
              <a:ext uri="{FF2B5EF4-FFF2-40B4-BE49-F238E27FC236}">
                <a16:creationId xmlns:a16="http://schemas.microsoft.com/office/drawing/2014/main" id="{CD61335C-079E-4E40-084E-C6622B1DBCD5}"/>
              </a:ext>
            </a:extLst>
          </p:cNvPr>
          <p:cNvSpPr>
            <a:spLocks noGrp="1"/>
          </p:cNvSpPr>
          <p:nvPr>
            <p:ph type="body" sz="quarter" idx="3"/>
          </p:nvPr>
        </p:nvSpPr>
        <p:spPr>
          <a:xfrm>
            <a:off x="777218" y="4974718"/>
            <a:ext cx="2269082" cy="576262"/>
          </a:xfrm>
        </p:spPr>
        <p:txBody>
          <a:bodyPr/>
          <a:lstStyle/>
          <a:p>
            <a:r>
              <a:rPr lang="fr-FR" dirty="0">
                <a:latin typeface="Arial" panose="020B0604020202020204" pitchFamily="34" charset="0"/>
                <a:cs typeface="Arial" panose="020B0604020202020204" pitchFamily="34" charset="0"/>
              </a:rPr>
              <a:t>Nettoyage</a:t>
            </a:r>
          </a:p>
        </p:txBody>
      </p:sp>
      <p:sp>
        <p:nvSpPr>
          <p:cNvPr id="6" name="Espace réservé du texte 5">
            <a:extLst>
              <a:ext uri="{FF2B5EF4-FFF2-40B4-BE49-F238E27FC236}">
                <a16:creationId xmlns:a16="http://schemas.microsoft.com/office/drawing/2014/main" id="{78D003B3-8AD8-2657-D355-68ABA2604670}"/>
              </a:ext>
            </a:extLst>
          </p:cNvPr>
          <p:cNvSpPr>
            <a:spLocks noGrp="1"/>
          </p:cNvSpPr>
          <p:nvPr>
            <p:ph type="body" sz="half" idx="4294967295"/>
          </p:nvPr>
        </p:nvSpPr>
        <p:spPr>
          <a:xfrm>
            <a:off x="828973" y="5820510"/>
            <a:ext cx="2349500" cy="868362"/>
          </a:xfrm>
        </p:spPr>
        <p:txBody>
          <a:bodyPr>
            <a:normAutofit fontScale="85000" lnSpcReduction="20000"/>
          </a:bodyPr>
          <a:lstStyle/>
          <a:p>
            <a:pPr marL="285750" indent="-285750">
              <a:buFont typeface="Wingdings" panose="05000000000000000000" pitchFamily="2" charset="2"/>
              <a:buChar char="Ø"/>
            </a:pPr>
            <a:r>
              <a:rPr lang="fr-FR" dirty="0">
                <a:latin typeface="Arial" panose="020B0604020202020204" pitchFamily="34" charset="0"/>
                <a:cs typeface="Arial" panose="020B0604020202020204" pitchFamily="34" charset="0"/>
              </a:rPr>
              <a:t>Vérification des valeurs manquantes (aucune dans ce dataset).</a:t>
            </a:r>
          </a:p>
        </p:txBody>
      </p:sp>
      <p:sp>
        <p:nvSpPr>
          <p:cNvPr id="8" name="Espace réservé du texte 7">
            <a:extLst>
              <a:ext uri="{FF2B5EF4-FFF2-40B4-BE49-F238E27FC236}">
                <a16:creationId xmlns:a16="http://schemas.microsoft.com/office/drawing/2014/main" id="{BCFE8F34-4F2B-029A-91BA-A1D37C256643}"/>
              </a:ext>
            </a:extLst>
          </p:cNvPr>
          <p:cNvSpPr>
            <a:spLocks noGrp="1"/>
          </p:cNvSpPr>
          <p:nvPr>
            <p:ph type="body" sz="half" idx="4294967295"/>
          </p:nvPr>
        </p:nvSpPr>
        <p:spPr>
          <a:xfrm>
            <a:off x="4994552" y="3690740"/>
            <a:ext cx="6615173" cy="2998132"/>
          </a:xfrm>
        </p:spPr>
        <p:txBody>
          <a:bodyPr>
            <a:noAutofit/>
          </a:bodyPr>
          <a:lstStyle/>
          <a:p>
            <a:pPr marL="285750" indent="-285750">
              <a:lnSpc>
                <a:spcPct val="80000"/>
              </a:lnSpc>
              <a:buFont typeface="Wingdings" panose="05000000000000000000" pitchFamily="2" charset="2"/>
              <a:buChar char="Ø"/>
            </a:pPr>
            <a:r>
              <a:rPr lang="fr-FR" sz="1500" dirty="0">
                <a:latin typeface="Arial" panose="020B0604020202020204" pitchFamily="34" charset="0"/>
                <a:cs typeface="Arial" panose="020B0604020202020204" pitchFamily="34" charset="0"/>
              </a:rPr>
              <a:t>Choisir le cible : « </a:t>
            </a:r>
            <a:r>
              <a:rPr lang="fr-FR" sz="1500" dirty="0" err="1">
                <a:latin typeface="Arial" panose="020B0604020202020204" pitchFamily="34" charset="0"/>
                <a:cs typeface="Arial" panose="020B0604020202020204" pitchFamily="34" charset="0"/>
              </a:rPr>
              <a:t>target</a:t>
            </a:r>
            <a:r>
              <a:rPr lang="fr-FR" sz="1500" dirty="0">
                <a:latin typeface="Arial" panose="020B0604020202020204" pitchFamily="34" charset="0"/>
                <a:cs typeface="Arial" panose="020B0604020202020204" pitchFamily="34" charset="0"/>
              </a:rPr>
              <a:t> = Attrition »</a:t>
            </a:r>
          </a:p>
          <a:p>
            <a:pPr marL="285750" indent="-285750">
              <a:lnSpc>
                <a:spcPct val="80000"/>
              </a:lnSpc>
              <a:buFont typeface="Wingdings" panose="05000000000000000000" pitchFamily="2" charset="2"/>
              <a:buChar char="Ø"/>
            </a:pPr>
            <a:r>
              <a:rPr lang="fr-FR" sz="1500" dirty="0">
                <a:latin typeface="Arial" panose="020B0604020202020204" pitchFamily="34" charset="0"/>
                <a:cs typeface="Arial" panose="020B0604020202020204" pitchFamily="34" charset="0"/>
              </a:rPr>
              <a:t>Séparation de données :  </a:t>
            </a:r>
          </a:p>
          <a:p>
            <a:pPr marL="0" indent="0">
              <a:lnSpc>
                <a:spcPct val="80000"/>
              </a:lnSpc>
              <a:buNone/>
            </a:pPr>
            <a:r>
              <a:rPr lang="fr-FR" sz="1500" dirty="0">
                <a:latin typeface="Arial" panose="020B0604020202020204" pitchFamily="34" charset="0"/>
                <a:cs typeface="Arial" panose="020B0604020202020204" pitchFamily="34" charset="0"/>
              </a:rPr>
              <a:t>          y= </a:t>
            </a:r>
            <a:r>
              <a:rPr lang="fr-FR" sz="1500" dirty="0" err="1">
                <a:latin typeface="Arial" panose="020B0604020202020204" pitchFamily="34" charset="0"/>
                <a:cs typeface="Arial" panose="020B0604020202020204" pitchFamily="34" charset="0"/>
              </a:rPr>
              <a:t>target</a:t>
            </a:r>
            <a:endParaRPr lang="fr-FR" sz="1500" dirty="0">
              <a:latin typeface="Arial" panose="020B0604020202020204" pitchFamily="34" charset="0"/>
              <a:cs typeface="Arial" panose="020B0604020202020204" pitchFamily="34" charset="0"/>
            </a:endParaRPr>
          </a:p>
          <a:p>
            <a:pPr marL="0" indent="0">
              <a:lnSpc>
                <a:spcPct val="80000"/>
              </a:lnSpc>
              <a:buNone/>
            </a:pPr>
            <a:r>
              <a:rPr lang="fr-FR" sz="1500" dirty="0">
                <a:latin typeface="Arial" panose="020B0604020202020204" pitchFamily="34" charset="0"/>
                <a:cs typeface="Arial" panose="020B0604020202020204" pitchFamily="34" charset="0"/>
              </a:rPr>
              <a:t>          X = toutes les données sauf « la </a:t>
            </a:r>
            <a:r>
              <a:rPr lang="fr-FR" sz="1500" dirty="0" err="1">
                <a:latin typeface="Arial" panose="020B0604020202020204" pitchFamily="34" charset="0"/>
                <a:cs typeface="Arial" panose="020B0604020202020204" pitchFamily="34" charset="0"/>
              </a:rPr>
              <a:t>target</a:t>
            </a:r>
            <a:r>
              <a:rPr lang="fr-FR" sz="1500" dirty="0">
                <a:latin typeface="Arial" panose="020B0604020202020204" pitchFamily="34" charset="0"/>
                <a:cs typeface="Arial" panose="020B0604020202020204" pitchFamily="34" charset="0"/>
              </a:rPr>
              <a:t> »</a:t>
            </a:r>
          </a:p>
          <a:p>
            <a:pPr marL="285750" indent="-285750">
              <a:lnSpc>
                <a:spcPct val="80000"/>
              </a:lnSpc>
              <a:buFont typeface="Wingdings" panose="05000000000000000000" pitchFamily="2" charset="2"/>
              <a:buChar char="Ø"/>
            </a:pPr>
            <a:r>
              <a:rPr lang="fr-FR" sz="1500" dirty="0">
                <a:latin typeface="Arial" panose="020B0604020202020204" pitchFamily="34" charset="0"/>
                <a:cs typeface="Arial" panose="020B0604020202020204" pitchFamily="34" charset="0"/>
              </a:rPr>
              <a:t>Séparation des colonnes:</a:t>
            </a:r>
          </a:p>
          <a:p>
            <a:pPr marL="0" indent="0">
              <a:lnSpc>
                <a:spcPct val="80000"/>
              </a:lnSpc>
              <a:buNone/>
            </a:pPr>
            <a:r>
              <a:rPr lang="fr-FR" sz="1500" dirty="0">
                <a:latin typeface="Arial" panose="020B0604020202020204" pitchFamily="34" charset="0"/>
                <a:cs typeface="Arial" panose="020B0604020202020204" pitchFamily="34" charset="0"/>
              </a:rPr>
              <a:t>           Les colonnes numérique : Age, Salaire, Ancienneté          </a:t>
            </a:r>
          </a:p>
          <a:p>
            <a:pPr marL="0" indent="0">
              <a:lnSpc>
                <a:spcPct val="80000"/>
              </a:lnSpc>
              <a:buNone/>
            </a:pPr>
            <a:r>
              <a:rPr lang="fr-FR" sz="1500" dirty="0">
                <a:latin typeface="Arial" panose="020B0604020202020204" pitchFamily="34" charset="0"/>
                <a:cs typeface="Arial" panose="020B0604020202020204" pitchFamily="34" charset="0"/>
              </a:rPr>
              <a:t>           Les colonnes catégoriels : Département, Rôle, </a:t>
            </a:r>
            <a:r>
              <a:rPr lang="fr-FR" sz="1500" dirty="0" err="1">
                <a:latin typeface="Arial" panose="020B0604020202020204" pitchFamily="34" charset="0"/>
                <a:cs typeface="Arial" panose="020B0604020202020204" pitchFamily="34" charset="0"/>
              </a:rPr>
              <a:t>EducationField</a:t>
            </a:r>
            <a:r>
              <a:rPr lang="fr-FR" sz="1500" dirty="0">
                <a:latin typeface="Arial" panose="020B0604020202020204" pitchFamily="34" charset="0"/>
                <a:cs typeface="Arial" panose="020B0604020202020204" pitchFamily="34" charset="0"/>
              </a:rPr>
              <a:t>…</a:t>
            </a:r>
          </a:p>
          <a:p>
            <a:pPr marL="285750" indent="-285750">
              <a:lnSpc>
                <a:spcPct val="80000"/>
              </a:lnSpc>
              <a:buFont typeface="Wingdings" panose="05000000000000000000" pitchFamily="2" charset="2"/>
              <a:buChar char="Ø"/>
            </a:pPr>
            <a:r>
              <a:rPr lang="fr-FR" sz="1500" dirty="0">
                <a:latin typeface="Arial" panose="020B0604020202020204" pitchFamily="34" charset="0"/>
                <a:cs typeface="Arial" panose="020B0604020202020204" pitchFamily="34" charset="0"/>
              </a:rPr>
              <a:t>Normaliser  Les colonnes numérique </a:t>
            </a:r>
          </a:p>
          <a:p>
            <a:pPr marL="285750" indent="-285750">
              <a:lnSpc>
                <a:spcPct val="80000"/>
              </a:lnSpc>
              <a:buFont typeface="Wingdings" panose="05000000000000000000" pitchFamily="2" charset="2"/>
              <a:buChar char="Ø"/>
            </a:pPr>
            <a:r>
              <a:rPr lang="fr-FR" sz="1500" dirty="0">
                <a:latin typeface="Arial" panose="020B0604020202020204" pitchFamily="34" charset="0"/>
                <a:cs typeface="Arial" panose="020B0604020202020204" pitchFamily="34" charset="0"/>
              </a:rPr>
              <a:t>Encodage 1/0 ou </a:t>
            </a:r>
            <a:r>
              <a:rPr lang="fr-FR" sz="1500" dirty="0" err="1">
                <a:latin typeface="Arial" panose="020B0604020202020204" pitchFamily="34" charset="0"/>
                <a:cs typeface="Arial" panose="020B0604020202020204" pitchFamily="34" charset="0"/>
              </a:rPr>
              <a:t>One-hot</a:t>
            </a:r>
            <a:r>
              <a:rPr lang="fr-FR" sz="1500" dirty="0">
                <a:latin typeface="Arial" panose="020B0604020202020204" pitchFamily="34" charset="0"/>
                <a:cs typeface="Arial" panose="020B0604020202020204" pitchFamily="34" charset="0"/>
              </a:rPr>
              <a:t> Les colonnes catégoriels </a:t>
            </a:r>
          </a:p>
        </p:txBody>
      </p:sp>
      <p:sp>
        <p:nvSpPr>
          <p:cNvPr id="9" name="ZoneTexte 8">
            <a:extLst>
              <a:ext uri="{FF2B5EF4-FFF2-40B4-BE49-F238E27FC236}">
                <a16:creationId xmlns:a16="http://schemas.microsoft.com/office/drawing/2014/main" id="{8CFB5F31-5E5E-7D77-C60E-DAF266571D7C}"/>
              </a:ext>
            </a:extLst>
          </p:cNvPr>
          <p:cNvSpPr txBox="1"/>
          <p:nvPr/>
        </p:nvSpPr>
        <p:spPr>
          <a:xfrm>
            <a:off x="964370" y="2254079"/>
            <a:ext cx="8034727" cy="369332"/>
          </a:xfrm>
          <a:prstGeom prst="rect">
            <a:avLst/>
          </a:prstGeom>
          <a:noFill/>
        </p:spPr>
        <p:txBody>
          <a:bodyPr wrap="square" rtlCol="0">
            <a:spAutoFit/>
          </a:bodyPr>
          <a:lstStyle/>
          <a:p>
            <a:r>
              <a:rPr lang="fr-FR" dirty="0">
                <a:latin typeface="Arial" panose="020B0604020202020204" pitchFamily="34" charset="0"/>
                <a:cs typeface="Arial" panose="020B0604020202020204" pitchFamily="34" charset="0"/>
              </a:rPr>
              <a:t>Préparer le dataset IBM HR Analytics pour les modèles de Machine Learning</a:t>
            </a:r>
          </a:p>
        </p:txBody>
      </p:sp>
      <p:sp>
        <p:nvSpPr>
          <p:cNvPr id="11" name="Rectangle : coins arrondis 10">
            <a:extLst>
              <a:ext uri="{FF2B5EF4-FFF2-40B4-BE49-F238E27FC236}">
                <a16:creationId xmlns:a16="http://schemas.microsoft.com/office/drawing/2014/main" id="{BB586161-F94F-3411-CD4D-8365636720B8}"/>
              </a:ext>
            </a:extLst>
          </p:cNvPr>
          <p:cNvSpPr/>
          <p:nvPr/>
        </p:nvSpPr>
        <p:spPr>
          <a:xfrm>
            <a:off x="777218" y="3140374"/>
            <a:ext cx="2052830" cy="576262"/>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 coins arrondis 12">
            <a:extLst>
              <a:ext uri="{FF2B5EF4-FFF2-40B4-BE49-F238E27FC236}">
                <a16:creationId xmlns:a16="http://schemas.microsoft.com/office/drawing/2014/main" id="{0F1F1F7A-27D2-2AFC-4ECE-D9214FFC3E40}"/>
              </a:ext>
            </a:extLst>
          </p:cNvPr>
          <p:cNvSpPr/>
          <p:nvPr/>
        </p:nvSpPr>
        <p:spPr>
          <a:xfrm>
            <a:off x="736188" y="5020688"/>
            <a:ext cx="2114193" cy="576262"/>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 coins arrondis 13">
            <a:extLst>
              <a:ext uri="{FF2B5EF4-FFF2-40B4-BE49-F238E27FC236}">
                <a16:creationId xmlns:a16="http://schemas.microsoft.com/office/drawing/2014/main" id="{DB718FB5-3750-936C-CAFD-B1AFA240128E}"/>
              </a:ext>
            </a:extLst>
          </p:cNvPr>
          <p:cNvSpPr/>
          <p:nvPr/>
        </p:nvSpPr>
        <p:spPr>
          <a:xfrm>
            <a:off x="4981731" y="2964798"/>
            <a:ext cx="3070025" cy="576262"/>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Flèche : courbe vers la droite 14">
            <a:extLst>
              <a:ext uri="{FF2B5EF4-FFF2-40B4-BE49-F238E27FC236}">
                <a16:creationId xmlns:a16="http://schemas.microsoft.com/office/drawing/2014/main" id="{E34DF08A-27DB-3B9B-C768-0C00EC734C1D}"/>
              </a:ext>
            </a:extLst>
          </p:cNvPr>
          <p:cNvSpPr/>
          <p:nvPr/>
        </p:nvSpPr>
        <p:spPr>
          <a:xfrm>
            <a:off x="361900" y="3280493"/>
            <a:ext cx="341960" cy="990885"/>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6" name="Flèche : courbe vers la droite 15">
            <a:extLst>
              <a:ext uri="{FF2B5EF4-FFF2-40B4-BE49-F238E27FC236}">
                <a16:creationId xmlns:a16="http://schemas.microsoft.com/office/drawing/2014/main" id="{48229210-3625-C5EA-9264-A257BFB0CAF6}"/>
              </a:ext>
            </a:extLst>
          </p:cNvPr>
          <p:cNvSpPr/>
          <p:nvPr/>
        </p:nvSpPr>
        <p:spPr>
          <a:xfrm>
            <a:off x="327764" y="5309576"/>
            <a:ext cx="328422" cy="868569"/>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7" name="Flèche : courbe vers la droite 16">
            <a:extLst>
              <a:ext uri="{FF2B5EF4-FFF2-40B4-BE49-F238E27FC236}">
                <a16:creationId xmlns:a16="http://schemas.microsoft.com/office/drawing/2014/main" id="{CB9020F3-8EA0-0B5E-346E-7ACEC41B62C5}"/>
              </a:ext>
            </a:extLst>
          </p:cNvPr>
          <p:cNvSpPr/>
          <p:nvPr/>
        </p:nvSpPr>
        <p:spPr>
          <a:xfrm>
            <a:off x="4671030" y="3396664"/>
            <a:ext cx="252874" cy="785299"/>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8" name="Flèche : courbe vers la droite 17">
            <a:extLst>
              <a:ext uri="{FF2B5EF4-FFF2-40B4-BE49-F238E27FC236}">
                <a16:creationId xmlns:a16="http://schemas.microsoft.com/office/drawing/2014/main" id="{13577D9E-71CC-8FDD-0530-CE999D12D8B2}"/>
              </a:ext>
            </a:extLst>
          </p:cNvPr>
          <p:cNvSpPr/>
          <p:nvPr/>
        </p:nvSpPr>
        <p:spPr>
          <a:xfrm>
            <a:off x="4594263" y="3183674"/>
            <a:ext cx="358556" cy="2367305"/>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9" name="Flèche : courbe vers la droite 18">
            <a:extLst>
              <a:ext uri="{FF2B5EF4-FFF2-40B4-BE49-F238E27FC236}">
                <a16:creationId xmlns:a16="http://schemas.microsoft.com/office/drawing/2014/main" id="{F5EE7A8C-B72B-BFC3-4855-9E77BC9D228C}"/>
              </a:ext>
            </a:extLst>
          </p:cNvPr>
          <p:cNvSpPr/>
          <p:nvPr/>
        </p:nvSpPr>
        <p:spPr>
          <a:xfrm>
            <a:off x="4250566" y="3045223"/>
            <a:ext cx="667219" cy="3643649"/>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0" name="ZoneTexte 9">
            <a:extLst>
              <a:ext uri="{FF2B5EF4-FFF2-40B4-BE49-F238E27FC236}">
                <a16:creationId xmlns:a16="http://schemas.microsoft.com/office/drawing/2014/main" id="{DFCE8F3E-7F5D-AF6A-8947-D5BF787F520A}"/>
              </a:ext>
            </a:extLst>
          </p:cNvPr>
          <p:cNvSpPr txBox="1"/>
          <p:nvPr/>
        </p:nvSpPr>
        <p:spPr>
          <a:xfrm>
            <a:off x="736188" y="3879293"/>
            <a:ext cx="3265548" cy="923330"/>
          </a:xfrm>
          <a:prstGeom prst="rect">
            <a:avLst/>
          </a:prstGeom>
          <a:noFill/>
        </p:spPr>
        <p:txBody>
          <a:bodyPr wrap="square" rtlCol="0">
            <a:spAutoFit/>
          </a:bodyPr>
          <a:lstStyle/>
          <a:p>
            <a:pPr marL="285750" indent="-285750">
              <a:lnSpc>
                <a:spcPct val="80000"/>
              </a:lnSpc>
              <a:spcBef>
                <a:spcPts val="1000"/>
              </a:spcBef>
              <a:buClr>
                <a:schemeClr val="accent1"/>
              </a:buClr>
              <a:buSzPct val="80000"/>
              <a:buFont typeface="Wingdings" panose="05000000000000000000" pitchFamily="2" charset="2"/>
              <a:buChar char="Ø"/>
            </a:pPr>
            <a:r>
              <a:rPr lang="fr-FR" sz="1500" dirty="0">
                <a:solidFill>
                  <a:schemeClr val="tx1">
                    <a:lumMod val="75000"/>
                    <a:lumOff val="25000"/>
                  </a:schemeClr>
                </a:solidFill>
                <a:latin typeface="Arial" panose="020B0604020202020204" pitchFamily="34" charset="0"/>
                <a:cs typeface="Arial" panose="020B0604020202020204" pitchFamily="34" charset="0"/>
              </a:rPr>
              <a:t>S’assurer que les données sont propres, cohérentes et exploitables </a:t>
            </a:r>
          </a:p>
          <a:p>
            <a:endParaRPr lang="fr-FR" dirty="0"/>
          </a:p>
        </p:txBody>
      </p:sp>
    </p:spTree>
    <p:extLst>
      <p:ext uri="{BB962C8B-B14F-4D97-AF65-F5344CB8AC3E}">
        <p14:creationId xmlns:p14="http://schemas.microsoft.com/office/powerpoint/2010/main" val="42823265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D6A0E83-624D-FD17-1BC4-DF77C5AB7542}"/>
              </a:ext>
            </a:extLst>
          </p:cNvPr>
          <p:cNvSpPr>
            <a:spLocks noGrp="1"/>
          </p:cNvSpPr>
          <p:nvPr>
            <p:ph type="title"/>
          </p:nvPr>
        </p:nvSpPr>
        <p:spPr/>
        <p:txBody>
          <a:bodyPr/>
          <a:lstStyle/>
          <a:p>
            <a:r>
              <a:rPr lang="fr-FR" dirty="0"/>
              <a:t>Data Préparation : </a:t>
            </a:r>
            <a:r>
              <a:rPr lang="fr-FR" dirty="0" err="1"/>
              <a:t>RandomForest</a:t>
            </a:r>
            <a:endParaRPr lang="fr-FR" dirty="0"/>
          </a:p>
        </p:txBody>
      </p:sp>
      <p:sp>
        <p:nvSpPr>
          <p:cNvPr id="3" name="Espace réservé du texte 2">
            <a:extLst>
              <a:ext uri="{FF2B5EF4-FFF2-40B4-BE49-F238E27FC236}">
                <a16:creationId xmlns:a16="http://schemas.microsoft.com/office/drawing/2014/main" id="{18E62DA1-20E5-E40C-327A-B1220E0498BE}"/>
              </a:ext>
            </a:extLst>
          </p:cNvPr>
          <p:cNvSpPr>
            <a:spLocks noGrp="1"/>
          </p:cNvSpPr>
          <p:nvPr>
            <p:ph type="body" idx="1"/>
          </p:nvPr>
        </p:nvSpPr>
        <p:spPr>
          <a:xfrm>
            <a:off x="1819017" y="2503935"/>
            <a:ext cx="3009746" cy="576262"/>
          </a:xfrm>
        </p:spPr>
        <p:txBody>
          <a:bodyPr/>
          <a:lstStyle/>
          <a:p>
            <a:r>
              <a:rPr lang="fr-FR" dirty="0">
                <a:latin typeface="Arial" panose="020B0604020202020204" pitchFamily="34" charset="0"/>
                <a:cs typeface="Arial" panose="020B0604020202020204" pitchFamily="34" charset="0"/>
              </a:rPr>
              <a:t>Diviser les données</a:t>
            </a:r>
          </a:p>
        </p:txBody>
      </p:sp>
      <p:sp>
        <p:nvSpPr>
          <p:cNvPr id="7" name="Espace réservé du texte 6">
            <a:extLst>
              <a:ext uri="{FF2B5EF4-FFF2-40B4-BE49-F238E27FC236}">
                <a16:creationId xmlns:a16="http://schemas.microsoft.com/office/drawing/2014/main" id="{BAE9DDF9-8B2C-F3F2-7444-5BBD89FD33CB}"/>
              </a:ext>
            </a:extLst>
          </p:cNvPr>
          <p:cNvSpPr>
            <a:spLocks noGrp="1"/>
          </p:cNvSpPr>
          <p:nvPr>
            <p:ph sz="half" idx="2"/>
          </p:nvPr>
        </p:nvSpPr>
        <p:spPr>
          <a:xfrm>
            <a:off x="6956028" y="2593316"/>
            <a:ext cx="1875629" cy="301914"/>
          </a:xfrm>
        </p:spPr>
        <p:txBody>
          <a:bodyPr>
            <a:noAutofit/>
          </a:bodyPr>
          <a:lstStyle/>
          <a:p>
            <a:pPr marL="0" indent="0">
              <a:buNone/>
            </a:pPr>
            <a:r>
              <a:rPr lang="fr-FR" sz="2400" dirty="0">
                <a:solidFill>
                  <a:schemeClr val="accent1"/>
                </a:solidFill>
                <a:latin typeface="Arial" panose="020B0604020202020204" pitchFamily="34" charset="0"/>
                <a:cs typeface="Arial" panose="020B0604020202020204" pitchFamily="34" charset="0"/>
              </a:rPr>
              <a:t>Prédiction</a:t>
            </a:r>
          </a:p>
        </p:txBody>
      </p:sp>
      <p:sp>
        <p:nvSpPr>
          <p:cNvPr id="5" name="Espace réservé du texte 4">
            <a:extLst>
              <a:ext uri="{FF2B5EF4-FFF2-40B4-BE49-F238E27FC236}">
                <a16:creationId xmlns:a16="http://schemas.microsoft.com/office/drawing/2014/main" id="{B4FB0EA8-D17E-5568-92B0-1F90F5933BED}"/>
              </a:ext>
            </a:extLst>
          </p:cNvPr>
          <p:cNvSpPr>
            <a:spLocks noGrp="1"/>
          </p:cNvSpPr>
          <p:nvPr>
            <p:ph type="body" sz="quarter" idx="3"/>
          </p:nvPr>
        </p:nvSpPr>
        <p:spPr>
          <a:xfrm>
            <a:off x="1882143" y="4118761"/>
            <a:ext cx="4162177" cy="576262"/>
          </a:xfrm>
        </p:spPr>
        <p:txBody>
          <a:bodyPr/>
          <a:lstStyle/>
          <a:p>
            <a:r>
              <a:rPr lang="fr-FR" dirty="0">
                <a:latin typeface="Arial" panose="020B0604020202020204" pitchFamily="34" charset="0"/>
                <a:cs typeface="Arial" panose="020B0604020202020204" pitchFamily="34" charset="0"/>
              </a:rPr>
              <a:t>Entraînement du modèle </a:t>
            </a:r>
          </a:p>
        </p:txBody>
      </p:sp>
      <p:sp>
        <p:nvSpPr>
          <p:cNvPr id="4" name="Espace réservé du texte 3">
            <a:extLst>
              <a:ext uri="{FF2B5EF4-FFF2-40B4-BE49-F238E27FC236}">
                <a16:creationId xmlns:a16="http://schemas.microsoft.com/office/drawing/2014/main" id="{7F9C38BF-CF13-F2D5-1BDC-6F26D667888B}"/>
              </a:ext>
            </a:extLst>
          </p:cNvPr>
          <p:cNvSpPr>
            <a:spLocks noGrp="1"/>
          </p:cNvSpPr>
          <p:nvPr>
            <p:ph sz="quarter" idx="4"/>
          </p:nvPr>
        </p:nvSpPr>
        <p:spPr>
          <a:xfrm>
            <a:off x="1808161" y="3307885"/>
            <a:ext cx="2767650" cy="791872"/>
          </a:xfrm>
        </p:spPr>
        <p:txBody>
          <a:bodyPr>
            <a:noAutofit/>
          </a:bodyPr>
          <a:lstStyle/>
          <a:p>
            <a:r>
              <a:rPr lang="fr-FR" sz="1800" dirty="0">
                <a:latin typeface="Arial" panose="020B0604020202020204" pitchFamily="34" charset="0"/>
                <a:cs typeface="Arial" panose="020B0604020202020204" pitchFamily="34" charset="0"/>
              </a:rPr>
              <a:t>        Test 20%</a:t>
            </a:r>
          </a:p>
          <a:p>
            <a:r>
              <a:rPr lang="fr-FR" sz="1800" dirty="0">
                <a:latin typeface="Arial" panose="020B0604020202020204" pitchFamily="34" charset="0"/>
                <a:cs typeface="Arial" panose="020B0604020202020204" pitchFamily="34" charset="0"/>
              </a:rPr>
              <a:t>        Train 80%</a:t>
            </a:r>
          </a:p>
        </p:txBody>
      </p:sp>
      <p:sp>
        <p:nvSpPr>
          <p:cNvPr id="11" name="Rectangle 2">
            <a:extLst>
              <a:ext uri="{FF2B5EF4-FFF2-40B4-BE49-F238E27FC236}">
                <a16:creationId xmlns:a16="http://schemas.microsoft.com/office/drawing/2014/main" id="{A1A2AA90-67A4-BED7-D59F-C620EE5244DA}"/>
              </a:ext>
            </a:extLst>
          </p:cNvPr>
          <p:cNvSpPr>
            <a:spLocks noGrp="1" noChangeArrowheads="1"/>
          </p:cNvSpPr>
          <p:nvPr>
            <p:ph type="body" sz="half" idx="4294967295"/>
          </p:nvPr>
        </p:nvSpPr>
        <p:spPr bwMode="auto">
          <a:xfrm>
            <a:off x="1929481" y="5044887"/>
            <a:ext cx="3743325" cy="9130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fontAlgn="base">
              <a:lnSpc>
                <a:spcPct val="100000"/>
              </a:lnSpc>
              <a:buFont typeface="Wingdings" panose="05000000000000000000" pitchFamily="2" charset="2"/>
              <a:buChar char="Ø"/>
              <a:tabLst/>
            </a:pPr>
            <a:r>
              <a:rPr lang="fr-FR" altLang="fr-FR" sz="1500" dirty="0">
                <a:latin typeface="Arial" panose="020B0604020202020204" pitchFamily="34" charset="0"/>
                <a:cs typeface="Arial" panose="020B0604020202020204" pitchFamily="34" charset="0"/>
              </a:rPr>
              <a:t>Création du </a:t>
            </a:r>
            <a:r>
              <a:rPr lang="fr-FR" altLang="fr-FR" sz="1500" dirty="0" err="1">
                <a:latin typeface="Arial" panose="020B0604020202020204" pitchFamily="34" charset="0"/>
                <a:cs typeface="Arial" panose="020B0604020202020204" pitchFamily="34" charset="0"/>
              </a:rPr>
              <a:t>Random</a:t>
            </a:r>
            <a:r>
              <a:rPr lang="fr-FR" altLang="fr-FR" sz="1500" dirty="0">
                <a:latin typeface="Arial" panose="020B0604020202020204" pitchFamily="34" charset="0"/>
                <a:cs typeface="Arial" panose="020B0604020202020204" pitchFamily="34" charset="0"/>
              </a:rPr>
              <a:t> Forest Classifier</a:t>
            </a:r>
          </a:p>
          <a:p>
            <a:pPr marL="285750" marR="0" lvl="0" indent="-285750" fontAlgn="base">
              <a:lnSpc>
                <a:spcPct val="100000"/>
              </a:lnSpc>
              <a:buFont typeface="Wingdings" panose="05000000000000000000" pitchFamily="2" charset="2"/>
              <a:buChar char="Ø"/>
              <a:tabLst/>
            </a:pPr>
            <a:r>
              <a:rPr lang="fr-FR" altLang="fr-FR" sz="1500" dirty="0">
                <a:latin typeface="Arial" panose="020B0604020202020204" pitchFamily="34" charset="0"/>
                <a:cs typeface="Arial" panose="020B0604020202020204" pitchFamily="34" charset="0"/>
              </a:rPr>
              <a:t>Apprentissage sur les données d’entraînement (</a:t>
            </a:r>
            <a:r>
              <a:rPr lang="fr-FR" altLang="fr-FR" sz="1500" dirty="0" err="1">
                <a:latin typeface="Arial" panose="020B0604020202020204" pitchFamily="34" charset="0"/>
                <a:cs typeface="Arial" panose="020B0604020202020204" pitchFamily="34" charset="0"/>
              </a:rPr>
              <a:t>X_train</a:t>
            </a:r>
            <a:r>
              <a:rPr lang="fr-FR" altLang="fr-FR" sz="1500" dirty="0">
                <a:latin typeface="Arial" panose="020B0604020202020204" pitchFamily="34" charset="0"/>
                <a:cs typeface="Arial" panose="020B0604020202020204" pitchFamily="34" charset="0"/>
              </a:rPr>
              <a:t>, </a:t>
            </a:r>
            <a:r>
              <a:rPr lang="fr-FR" altLang="fr-FR" sz="1500" dirty="0" err="1">
                <a:latin typeface="Arial" panose="020B0604020202020204" pitchFamily="34" charset="0"/>
                <a:cs typeface="Arial" panose="020B0604020202020204" pitchFamily="34" charset="0"/>
              </a:rPr>
              <a:t>y_train</a:t>
            </a:r>
            <a:r>
              <a:rPr lang="fr-FR" altLang="fr-FR" sz="1500" dirty="0">
                <a:latin typeface="Arial" panose="020B0604020202020204" pitchFamily="34" charset="0"/>
                <a:cs typeface="Arial" panose="020B0604020202020204" pitchFamily="34" charset="0"/>
              </a:rPr>
              <a:t>)</a:t>
            </a:r>
          </a:p>
        </p:txBody>
      </p:sp>
      <p:sp>
        <p:nvSpPr>
          <p:cNvPr id="8" name="Espace réservé du texte 7">
            <a:extLst>
              <a:ext uri="{FF2B5EF4-FFF2-40B4-BE49-F238E27FC236}">
                <a16:creationId xmlns:a16="http://schemas.microsoft.com/office/drawing/2014/main" id="{B4D278ED-CE00-763B-2C53-4FCB733C4C63}"/>
              </a:ext>
            </a:extLst>
          </p:cNvPr>
          <p:cNvSpPr>
            <a:spLocks noGrp="1"/>
          </p:cNvSpPr>
          <p:nvPr>
            <p:ph type="body" sz="half" idx="4294967295"/>
          </p:nvPr>
        </p:nvSpPr>
        <p:spPr>
          <a:xfrm>
            <a:off x="6892749" y="3233128"/>
            <a:ext cx="3877816" cy="941387"/>
          </a:xfrm>
        </p:spPr>
        <p:txBody>
          <a:bodyPr>
            <a:normAutofit/>
          </a:bodyPr>
          <a:lstStyle/>
          <a:p>
            <a:pPr marL="285750" indent="-285750" fontAlgn="base">
              <a:buFont typeface="Wingdings" panose="05000000000000000000" pitchFamily="2" charset="2"/>
              <a:buChar char="Ø"/>
            </a:pPr>
            <a:r>
              <a:rPr lang="fr-FR" sz="1500" dirty="0">
                <a:latin typeface="Arial" panose="020B0604020202020204" pitchFamily="34" charset="0"/>
                <a:cs typeface="Arial" panose="020B0604020202020204" pitchFamily="34" charset="0"/>
              </a:rPr>
              <a:t>Application du modèle sur </a:t>
            </a:r>
            <a:r>
              <a:rPr lang="fr-FR" sz="1500" dirty="0" err="1">
                <a:latin typeface="Arial" panose="020B0604020202020204" pitchFamily="34" charset="0"/>
                <a:cs typeface="Arial" panose="020B0604020202020204" pitchFamily="34" charset="0"/>
              </a:rPr>
              <a:t>X_test</a:t>
            </a:r>
            <a:r>
              <a:rPr lang="fr-FR" sz="1500" dirty="0">
                <a:latin typeface="Arial" panose="020B0604020202020204" pitchFamily="34" charset="0"/>
                <a:cs typeface="Arial" panose="020B0604020202020204" pitchFamily="34" charset="0"/>
              </a:rPr>
              <a:t> pour obtenir </a:t>
            </a:r>
            <a:r>
              <a:rPr lang="fr-FR" sz="1500" dirty="0" err="1">
                <a:latin typeface="Arial" panose="020B0604020202020204" pitchFamily="34" charset="0"/>
                <a:cs typeface="Arial" panose="020B0604020202020204" pitchFamily="34" charset="0"/>
              </a:rPr>
              <a:t>y_pred</a:t>
            </a:r>
            <a:r>
              <a:rPr lang="fr-FR" sz="1500" dirty="0">
                <a:latin typeface="Arial" panose="020B0604020202020204" pitchFamily="34" charset="0"/>
                <a:cs typeface="Arial" panose="020B0604020202020204" pitchFamily="34" charset="0"/>
              </a:rPr>
              <a:t> (Oui/Non)</a:t>
            </a:r>
          </a:p>
        </p:txBody>
      </p:sp>
      <p:sp>
        <p:nvSpPr>
          <p:cNvPr id="9" name="Rectangle : coins arrondis 8">
            <a:extLst>
              <a:ext uri="{FF2B5EF4-FFF2-40B4-BE49-F238E27FC236}">
                <a16:creationId xmlns:a16="http://schemas.microsoft.com/office/drawing/2014/main" id="{32CB34F4-94AC-A45D-1C51-EDBD6CC40AD6}"/>
              </a:ext>
            </a:extLst>
          </p:cNvPr>
          <p:cNvSpPr/>
          <p:nvPr/>
        </p:nvSpPr>
        <p:spPr>
          <a:xfrm>
            <a:off x="1733976" y="2417039"/>
            <a:ext cx="3063239" cy="75005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Flèche : courbe vers la droite 11">
            <a:extLst>
              <a:ext uri="{FF2B5EF4-FFF2-40B4-BE49-F238E27FC236}">
                <a16:creationId xmlns:a16="http://schemas.microsoft.com/office/drawing/2014/main" id="{3AB84404-6059-7B3A-F7C3-60322DCB1743}"/>
              </a:ext>
            </a:extLst>
          </p:cNvPr>
          <p:cNvSpPr/>
          <p:nvPr/>
        </p:nvSpPr>
        <p:spPr>
          <a:xfrm>
            <a:off x="1393316" y="2792066"/>
            <a:ext cx="298140" cy="749227"/>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3" name="Rectangle : coins arrondis 12">
            <a:extLst>
              <a:ext uri="{FF2B5EF4-FFF2-40B4-BE49-F238E27FC236}">
                <a16:creationId xmlns:a16="http://schemas.microsoft.com/office/drawing/2014/main" id="{9075511A-2CA4-6B75-444A-881C8F67B3FC}"/>
              </a:ext>
            </a:extLst>
          </p:cNvPr>
          <p:cNvSpPr/>
          <p:nvPr/>
        </p:nvSpPr>
        <p:spPr>
          <a:xfrm>
            <a:off x="1808161" y="4150475"/>
            <a:ext cx="4190161" cy="70696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Flèche : courbe vers la droite 13">
            <a:extLst>
              <a:ext uri="{FF2B5EF4-FFF2-40B4-BE49-F238E27FC236}">
                <a16:creationId xmlns:a16="http://schemas.microsoft.com/office/drawing/2014/main" id="{206E0E41-455A-893E-83ED-78C2E535F96E}"/>
              </a:ext>
            </a:extLst>
          </p:cNvPr>
          <p:cNvSpPr/>
          <p:nvPr/>
        </p:nvSpPr>
        <p:spPr>
          <a:xfrm>
            <a:off x="6418826" y="2797495"/>
            <a:ext cx="298140" cy="749227"/>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5" name="Rectangle : coins arrondis 14">
            <a:extLst>
              <a:ext uri="{FF2B5EF4-FFF2-40B4-BE49-F238E27FC236}">
                <a16:creationId xmlns:a16="http://schemas.microsoft.com/office/drawing/2014/main" id="{50624EB4-6CF8-33F9-BD77-C753C2E91F12}"/>
              </a:ext>
            </a:extLst>
          </p:cNvPr>
          <p:cNvSpPr/>
          <p:nvPr/>
        </p:nvSpPr>
        <p:spPr>
          <a:xfrm>
            <a:off x="6776044" y="2417039"/>
            <a:ext cx="2885682" cy="6858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Flèche : courbe vers la droite 15">
            <a:extLst>
              <a:ext uri="{FF2B5EF4-FFF2-40B4-BE49-F238E27FC236}">
                <a16:creationId xmlns:a16="http://schemas.microsoft.com/office/drawing/2014/main" id="{DD506BDC-2D65-3061-DD8A-76F4F633C99F}"/>
              </a:ext>
            </a:extLst>
          </p:cNvPr>
          <p:cNvSpPr/>
          <p:nvPr/>
        </p:nvSpPr>
        <p:spPr>
          <a:xfrm>
            <a:off x="6415835" y="4546411"/>
            <a:ext cx="298140" cy="749227"/>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7" name="ZoneTexte 16">
            <a:extLst>
              <a:ext uri="{FF2B5EF4-FFF2-40B4-BE49-F238E27FC236}">
                <a16:creationId xmlns:a16="http://schemas.microsoft.com/office/drawing/2014/main" id="{F1FB5721-763F-E4AE-FB34-8D161BC740D0}"/>
              </a:ext>
            </a:extLst>
          </p:cNvPr>
          <p:cNvSpPr txBox="1"/>
          <p:nvPr/>
        </p:nvSpPr>
        <p:spPr>
          <a:xfrm flipH="1">
            <a:off x="6741351" y="4259427"/>
            <a:ext cx="4645679" cy="461665"/>
          </a:xfrm>
          <a:prstGeom prst="rect">
            <a:avLst/>
          </a:prstGeom>
          <a:noFill/>
        </p:spPr>
        <p:txBody>
          <a:bodyPr wrap="square" rtlCol="0">
            <a:spAutoFit/>
          </a:bodyPr>
          <a:lstStyle/>
          <a:p>
            <a:pPr>
              <a:spcBef>
                <a:spcPts val="1000"/>
              </a:spcBef>
              <a:buClr>
                <a:schemeClr val="accent1"/>
              </a:buClr>
              <a:buSzPct val="80000"/>
            </a:pPr>
            <a:r>
              <a:rPr lang="fr-FR" sz="2400" dirty="0">
                <a:solidFill>
                  <a:schemeClr val="accent1"/>
                </a:solidFill>
                <a:latin typeface="Arial" panose="020B0604020202020204" pitchFamily="34" charset="0"/>
                <a:cs typeface="Arial" panose="020B0604020202020204" pitchFamily="34" charset="0"/>
              </a:rPr>
              <a:t>Évaluation des performances</a:t>
            </a:r>
          </a:p>
        </p:txBody>
      </p:sp>
      <p:sp>
        <p:nvSpPr>
          <p:cNvPr id="18" name="ZoneTexte 17">
            <a:extLst>
              <a:ext uri="{FF2B5EF4-FFF2-40B4-BE49-F238E27FC236}">
                <a16:creationId xmlns:a16="http://schemas.microsoft.com/office/drawing/2014/main" id="{77D343CD-F87D-194B-525E-2A7BD66D30E5}"/>
              </a:ext>
            </a:extLst>
          </p:cNvPr>
          <p:cNvSpPr txBox="1"/>
          <p:nvPr/>
        </p:nvSpPr>
        <p:spPr>
          <a:xfrm>
            <a:off x="6776044" y="5060148"/>
            <a:ext cx="3700180" cy="323165"/>
          </a:xfrm>
          <a:prstGeom prst="rect">
            <a:avLst/>
          </a:prstGeom>
          <a:noFill/>
        </p:spPr>
        <p:txBody>
          <a:bodyPr wrap="none" rtlCol="0">
            <a:spAutoFit/>
          </a:bodyPr>
          <a:lstStyle/>
          <a:p>
            <a:pPr marL="285750" indent="-285750" fontAlgn="base">
              <a:spcBef>
                <a:spcPts val="1000"/>
              </a:spcBef>
              <a:buClr>
                <a:schemeClr val="accent1"/>
              </a:buClr>
              <a:buSzPct val="80000"/>
              <a:buFont typeface="Wingdings" panose="05000000000000000000" pitchFamily="2" charset="2"/>
              <a:buChar char="Ø"/>
            </a:pPr>
            <a:r>
              <a:rPr lang="fr-FR" sz="1500" dirty="0" err="1">
                <a:solidFill>
                  <a:schemeClr val="tx1">
                    <a:lumMod val="75000"/>
                    <a:lumOff val="25000"/>
                  </a:schemeClr>
                </a:solidFill>
                <a:latin typeface="Arial" panose="020B0604020202020204" pitchFamily="34" charset="0"/>
                <a:cs typeface="Arial" panose="020B0604020202020204" pitchFamily="34" charset="0"/>
              </a:rPr>
              <a:t>Accuracy</a:t>
            </a:r>
            <a:r>
              <a:rPr lang="fr-FR" sz="1500" dirty="0">
                <a:solidFill>
                  <a:schemeClr val="tx1">
                    <a:lumMod val="75000"/>
                    <a:lumOff val="25000"/>
                  </a:schemeClr>
                </a:solidFill>
                <a:latin typeface="Arial" panose="020B0604020202020204" pitchFamily="34" charset="0"/>
                <a:cs typeface="Arial" panose="020B0604020202020204" pitchFamily="34" charset="0"/>
              </a:rPr>
              <a:t>, Confusion Matrix, F1-Score</a:t>
            </a:r>
          </a:p>
        </p:txBody>
      </p:sp>
      <p:sp>
        <p:nvSpPr>
          <p:cNvPr id="19" name="Rectangle : coins arrondis 18">
            <a:extLst>
              <a:ext uri="{FF2B5EF4-FFF2-40B4-BE49-F238E27FC236}">
                <a16:creationId xmlns:a16="http://schemas.microsoft.com/office/drawing/2014/main" id="{452ADE03-DE0C-C24D-D02A-746B9C77C1A6}"/>
              </a:ext>
            </a:extLst>
          </p:cNvPr>
          <p:cNvSpPr/>
          <p:nvPr/>
        </p:nvSpPr>
        <p:spPr>
          <a:xfrm>
            <a:off x="6776044" y="4118761"/>
            <a:ext cx="4645678" cy="791872"/>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Flèche : courbe vers la droite 19">
            <a:extLst>
              <a:ext uri="{FF2B5EF4-FFF2-40B4-BE49-F238E27FC236}">
                <a16:creationId xmlns:a16="http://schemas.microsoft.com/office/drawing/2014/main" id="{0E08D9F6-7E66-2B99-0A42-C7E315CFE028}"/>
              </a:ext>
            </a:extLst>
          </p:cNvPr>
          <p:cNvSpPr/>
          <p:nvPr/>
        </p:nvSpPr>
        <p:spPr>
          <a:xfrm>
            <a:off x="1455177" y="4546411"/>
            <a:ext cx="301470" cy="749227"/>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19661899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250BB89-2EF6-0CA8-A028-A58C1C309E16}"/>
              </a:ext>
            </a:extLst>
          </p:cNvPr>
          <p:cNvSpPr>
            <a:spLocks noGrp="1"/>
          </p:cNvSpPr>
          <p:nvPr>
            <p:ph type="title"/>
          </p:nvPr>
        </p:nvSpPr>
        <p:spPr/>
        <p:txBody>
          <a:bodyPr/>
          <a:lstStyle/>
          <a:p>
            <a:r>
              <a:rPr lang="fr-FR" b="1" dirty="0"/>
              <a:t>Interprétation des métriques par classe</a:t>
            </a:r>
            <a:endParaRPr lang="fr-FR" dirty="0"/>
          </a:p>
        </p:txBody>
      </p:sp>
      <p:sp>
        <p:nvSpPr>
          <p:cNvPr id="5" name="Espace réservé du texte 4">
            <a:extLst>
              <a:ext uri="{FF2B5EF4-FFF2-40B4-BE49-F238E27FC236}">
                <a16:creationId xmlns:a16="http://schemas.microsoft.com/office/drawing/2014/main" id="{412B085E-56E6-9688-E777-BC58339BCC24}"/>
              </a:ext>
            </a:extLst>
          </p:cNvPr>
          <p:cNvSpPr>
            <a:spLocks noGrp="1"/>
          </p:cNvSpPr>
          <p:nvPr>
            <p:ph type="body" idx="1"/>
          </p:nvPr>
        </p:nvSpPr>
        <p:spPr>
          <a:xfrm>
            <a:off x="4972691" y="2336873"/>
            <a:ext cx="2733657" cy="576262"/>
          </a:xfrm>
        </p:spPr>
        <p:txBody>
          <a:bodyPr/>
          <a:lstStyle/>
          <a:p>
            <a:r>
              <a:rPr lang="fr-FR" dirty="0">
                <a:solidFill>
                  <a:schemeClr val="accent1"/>
                </a:solidFill>
                <a:latin typeface="Arial" panose="020B0604020202020204" pitchFamily="34" charset="0"/>
                <a:cs typeface="Arial" panose="020B0604020202020204" pitchFamily="34" charset="0"/>
              </a:rPr>
              <a:t>Classe No</a:t>
            </a:r>
          </a:p>
        </p:txBody>
      </p:sp>
      <p:sp>
        <p:nvSpPr>
          <p:cNvPr id="8" name="Espace réservé du texte 7">
            <a:extLst>
              <a:ext uri="{FF2B5EF4-FFF2-40B4-BE49-F238E27FC236}">
                <a16:creationId xmlns:a16="http://schemas.microsoft.com/office/drawing/2014/main" id="{A9472948-5533-8FAF-53A7-AA5EC0CBB5EC}"/>
              </a:ext>
            </a:extLst>
          </p:cNvPr>
          <p:cNvSpPr>
            <a:spLocks noGrp="1"/>
          </p:cNvSpPr>
          <p:nvPr>
            <p:ph type="body" sz="half" idx="15"/>
          </p:nvPr>
        </p:nvSpPr>
        <p:spPr>
          <a:xfrm>
            <a:off x="8303447" y="3032323"/>
            <a:ext cx="3070025" cy="2913513"/>
          </a:xfrm>
        </p:spPr>
        <p:txBody>
          <a:bodyPr>
            <a:normAutofit fontScale="92500" lnSpcReduction="20000"/>
          </a:bodyPr>
          <a:lstStyle/>
          <a:p>
            <a:r>
              <a:rPr lang="fr-FR" b="1" dirty="0" err="1">
                <a:latin typeface="Arial" panose="020B0604020202020204" pitchFamily="34" charset="0"/>
                <a:cs typeface="Arial" panose="020B0604020202020204" pitchFamily="34" charset="0"/>
              </a:rPr>
              <a:t>Precision</a:t>
            </a:r>
            <a:r>
              <a:rPr lang="fr-FR" b="1" dirty="0">
                <a:latin typeface="Arial" panose="020B0604020202020204" pitchFamily="34" charset="0"/>
                <a:cs typeface="Arial" panose="020B0604020202020204" pitchFamily="34" charset="0"/>
              </a:rPr>
              <a:t> 0.471</a:t>
            </a:r>
            <a:r>
              <a:rPr lang="fr-FR" dirty="0">
                <a:latin typeface="Arial" panose="020B0604020202020204" pitchFamily="34" charset="0"/>
                <a:cs typeface="Arial" panose="020B0604020202020204" pitchFamily="34" charset="0"/>
              </a:rPr>
              <a:t> → Quand le modèle prédit </a:t>
            </a:r>
            <a:r>
              <a:rPr lang="fr-FR" b="1" dirty="0">
                <a:latin typeface="Arial" panose="020B0604020202020204" pitchFamily="34" charset="0"/>
                <a:cs typeface="Arial" panose="020B0604020202020204" pitchFamily="34" charset="0"/>
              </a:rPr>
              <a:t>“Yes”, </a:t>
            </a:r>
            <a:r>
              <a:rPr lang="fr-FR" dirty="0">
                <a:latin typeface="Arial" panose="020B0604020202020204" pitchFamily="34" charset="0"/>
                <a:cs typeface="Arial" panose="020B0604020202020204" pitchFamily="34" charset="0"/>
              </a:rPr>
              <a:t>il a raison 47,1 % du temps</a:t>
            </a:r>
          </a:p>
          <a:p>
            <a:r>
              <a:rPr lang="fr-FR" b="1" dirty="0" err="1">
                <a:latin typeface="Arial" panose="020B0604020202020204" pitchFamily="34" charset="0"/>
                <a:cs typeface="Arial" panose="020B0604020202020204" pitchFamily="34" charset="0"/>
              </a:rPr>
              <a:t>Recall</a:t>
            </a:r>
            <a:r>
              <a:rPr lang="fr-FR" b="1" dirty="0">
                <a:latin typeface="Arial" panose="020B0604020202020204" pitchFamily="34" charset="0"/>
                <a:cs typeface="Arial" panose="020B0604020202020204" pitchFamily="34" charset="0"/>
              </a:rPr>
              <a:t> 0.340</a:t>
            </a:r>
            <a:r>
              <a:rPr lang="fr-FR" dirty="0">
                <a:latin typeface="Arial" panose="020B0604020202020204" pitchFamily="34" charset="0"/>
                <a:cs typeface="Arial" panose="020B0604020202020204" pitchFamily="34" charset="0"/>
              </a:rPr>
              <a:t> → Sur tous les vrais </a:t>
            </a:r>
            <a:r>
              <a:rPr lang="fr-FR" b="1" dirty="0">
                <a:latin typeface="Arial" panose="020B0604020202020204" pitchFamily="34" charset="0"/>
                <a:cs typeface="Arial" panose="020B0604020202020204" pitchFamily="34" charset="0"/>
              </a:rPr>
              <a:t>“Yes”, </a:t>
            </a:r>
            <a:r>
              <a:rPr lang="fr-FR" dirty="0">
                <a:latin typeface="Arial" panose="020B0604020202020204" pitchFamily="34" charset="0"/>
                <a:cs typeface="Arial" panose="020B0604020202020204" pitchFamily="34" charset="0"/>
              </a:rPr>
              <a:t>il n’en détecte que 34 %</a:t>
            </a:r>
          </a:p>
          <a:p>
            <a:r>
              <a:rPr lang="fr-FR" b="1" dirty="0">
                <a:latin typeface="Arial" panose="020B0604020202020204" pitchFamily="34" charset="0"/>
                <a:cs typeface="Arial" panose="020B0604020202020204" pitchFamily="34" charset="0"/>
              </a:rPr>
              <a:t>F1-score 0.395</a:t>
            </a:r>
            <a:r>
              <a:rPr lang="fr-FR" dirty="0">
                <a:latin typeface="Arial" panose="020B0604020202020204" pitchFamily="34" charset="0"/>
                <a:cs typeface="Arial" panose="020B0604020202020204" pitchFamily="34" charset="0"/>
              </a:rPr>
              <a:t> → Faible, montre que le modèle a du mal à équilibrer précision et rappel</a:t>
            </a:r>
          </a:p>
          <a:p>
            <a:r>
              <a:rPr lang="fr-FR" b="1" dirty="0">
                <a:latin typeface="Arial" panose="020B0604020202020204" pitchFamily="34" charset="0"/>
                <a:cs typeface="Arial" panose="020B0604020202020204" pitchFamily="34" charset="0"/>
              </a:rPr>
              <a:t>Support 47</a:t>
            </a:r>
            <a:r>
              <a:rPr lang="fr-FR" dirty="0">
                <a:latin typeface="Arial" panose="020B0604020202020204" pitchFamily="34" charset="0"/>
                <a:cs typeface="Arial" panose="020B0604020202020204" pitchFamily="34" charset="0"/>
              </a:rPr>
              <a:t> → Nombre réel de </a:t>
            </a:r>
            <a:r>
              <a:rPr lang="fr-FR" b="1" dirty="0">
                <a:latin typeface="Arial" panose="020B0604020202020204" pitchFamily="34" charset="0"/>
                <a:cs typeface="Arial" panose="020B0604020202020204" pitchFamily="34" charset="0"/>
              </a:rPr>
              <a:t>“Yes” </a:t>
            </a:r>
            <a:r>
              <a:rPr lang="fr-FR" dirty="0">
                <a:latin typeface="Arial" panose="020B0604020202020204" pitchFamily="34" charset="0"/>
                <a:cs typeface="Arial" panose="020B0604020202020204" pitchFamily="34" charset="0"/>
              </a:rPr>
              <a:t>dans le test</a:t>
            </a:r>
          </a:p>
          <a:p>
            <a:r>
              <a:rPr lang="fr-FR" dirty="0">
                <a:latin typeface="Arial" panose="020B0604020202020204" pitchFamily="34" charset="0"/>
                <a:cs typeface="Arial" panose="020B0604020202020204" pitchFamily="34" charset="0"/>
              </a:rPr>
              <a:t>⚠️ La classe minoritaire reste </a:t>
            </a:r>
            <a:r>
              <a:rPr lang="fr-FR" b="1" dirty="0">
                <a:latin typeface="Arial" panose="020B0604020202020204" pitchFamily="34" charset="0"/>
                <a:cs typeface="Arial" panose="020B0604020202020204" pitchFamily="34" charset="0"/>
              </a:rPr>
              <a:t>difficile à détecter</a:t>
            </a:r>
            <a:r>
              <a:rPr lang="fr-FR" dirty="0">
                <a:latin typeface="Arial" panose="020B0604020202020204" pitchFamily="34" charset="0"/>
                <a:cs typeface="Arial" panose="020B0604020202020204" pitchFamily="34" charset="0"/>
              </a:rPr>
              <a:t>, mais il y a une amélioration par rapport au cas précédent (avant </a:t>
            </a:r>
            <a:r>
              <a:rPr lang="fr-FR" dirty="0" err="1">
                <a:latin typeface="Arial" panose="020B0604020202020204" pitchFamily="34" charset="0"/>
                <a:cs typeface="Arial" panose="020B0604020202020204" pitchFamily="34" charset="0"/>
              </a:rPr>
              <a:t>class_weight</a:t>
            </a:r>
            <a:r>
              <a:rPr lang="fr-FR" dirty="0">
                <a:latin typeface="Arial" panose="020B0604020202020204" pitchFamily="34" charset="0"/>
                <a:cs typeface="Arial" panose="020B0604020202020204" pitchFamily="34" charset="0"/>
              </a:rPr>
              <a:t>).</a:t>
            </a:r>
          </a:p>
          <a:p>
            <a:endParaRPr lang="fr-FR" dirty="0"/>
          </a:p>
        </p:txBody>
      </p:sp>
      <p:sp>
        <p:nvSpPr>
          <p:cNvPr id="7" name="Espace réservé du texte 6">
            <a:extLst>
              <a:ext uri="{FF2B5EF4-FFF2-40B4-BE49-F238E27FC236}">
                <a16:creationId xmlns:a16="http://schemas.microsoft.com/office/drawing/2014/main" id="{9226D1FA-CEBE-1D1D-5422-B303DDF95E96}"/>
              </a:ext>
            </a:extLst>
          </p:cNvPr>
          <p:cNvSpPr>
            <a:spLocks noGrp="1"/>
          </p:cNvSpPr>
          <p:nvPr>
            <p:ph type="body" sz="quarter" idx="3"/>
          </p:nvPr>
        </p:nvSpPr>
        <p:spPr>
          <a:xfrm>
            <a:off x="8453348" y="2336873"/>
            <a:ext cx="3070025" cy="576262"/>
          </a:xfrm>
        </p:spPr>
        <p:txBody>
          <a:bodyPr/>
          <a:lstStyle/>
          <a:p>
            <a:r>
              <a:rPr lang="fr-FR" dirty="0">
                <a:solidFill>
                  <a:schemeClr val="accent1"/>
                </a:solidFill>
                <a:latin typeface="Arial" panose="020B0604020202020204" pitchFamily="34" charset="0"/>
                <a:cs typeface="Arial" panose="020B0604020202020204" pitchFamily="34" charset="0"/>
              </a:rPr>
              <a:t>Classe Yes</a:t>
            </a:r>
          </a:p>
        </p:txBody>
      </p:sp>
      <p:sp>
        <p:nvSpPr>
          <p:cNvPr id="6" name="Espace réservé du texte 5">
            <a:extLst>
              <a:ext uri="{FF2B5EF4-FFF2-40B4-BE49-F238E27FC236}">
                <a16:creationId xmlns:a16="http://schemas.microsoft.com/office/drawing/2014/main" id="{192F2CEE-9CE0-7E64-EBD5-3DE8537D024E}"/>
              </a:ext>
            </a:extLst>
          </p:cNvPr>
          <p:cNvSpPr>
            <a:spLocks noGrp="1"/>
          </p:cNvSpPr>
          <p:nvPr>
            <p:ph type="body" sz="quarter" idx="13"/>
          </p:nvPr>
        </p:nvSpPr>
        <p:spPr>
          <a:xfrm>
            <a:off x="4643108" y="3032323"/>
            <a:ext cx="3063240" cy="2913513"/>
          </a:xfrm>
        </p:spPr>
        <p:txBody>
          <a:bodyPr/>
          <a:lstStyle/>
          <a:p>
            <a:pPr>
              <a:lnSpc>
                <a:spcPct val="80000"/>
              </a:lnSpc>
            </a:pPr>
            <a:r>
              <a:rPr lang="fr-FR" sz="1300" b="1" dirty="0" err="1">
                <a:solidFill>
                  <a:schemeClr val="tx1">
                    <a:lumMod val="75000"/>
                    <a:lumOff val="25000"/>
                  </a:schemeClr>
                </a:solidFill>
                <a:latin typeface="Arial" panose="020B0604020202020204" pitchFamily="34" charset="0"/>
                <a:cs typeface="Arial" panose="020B0604020202020204" pitchFamily="34" charset="0"/>
              </a:rPr>
              <a:t>Precision</a:t>
            </a:r>
            <a:r>
              <a:rPr lang="fr-FR" sz="1300" b="1" dirty="0">
                <a:solidFill>
                  <a:schemeClr val="tx1">
                    <a:lumMod val="75000"/>
                    <a:lumOff val="25000"/>
                  </a:schemeClr>
                </a:solidFill>
                <a:latin typeface="Arial" panose="020B0604020202020204" pitchFamily="34" charset="0"/>
                <a:cs typeface="Arial" panose="020B0604020202020204" pitchFamily="34" charset="0"/>
              </a:rPr>
              <a:t> 0.881 → </a:t>
            </a:r>
            <a:r>
              <a:rPr lang="fr-FR" sz="1300" dirty="0">
                <a:solidFill>
                  <a:schemeClr val="tx1">
                    <a:lumMod val="75000"/>
                    <a:lumOff val="25000"/>
                  </a:schemeClr>
                </a:solidFill>
                <a:latin typeface="Arial" panose="020B0604020202020204" pitchFamily="34" charset="0"/>
                <a:cs typeface="Arial" panose="020B0604020202020204" pitchFamily="34" charset="0"/>
              </a:rPr>
              <a:t>Parmi toutes les prédictions </a:t>
            </a:r>
            <a:r>
              <a:rPr lang="fr-FR" sz="1300" b="1" dirty="0">
                <a:solidFill>
                  <a:schemeClr val="tx1">
                    <a:lumMod val="75000"/>
                    <a:lumOff val="25000"/>
                  </a:schemeClr>
                </a:solidFill>
                <a:latin typeface="Arial" panose="020B0604020202020204" pitchFamily="34" charset="0"/>
                <a:cs typeface="Arial" panose="020B0604020202020204" pitchFamily="34" charset="0"/>
              </a:rPr>
              <a:t>“No”</a:t>
            </a:r>
            <a:r>
              <a:rPr lang="fr-FR" sz="1300" dirty="0">
                <a:solidFill>
                  <a:schemeClr val="tx1">
                    <a:lumMod val="75000"/>
                    <a:lumOff val="25000"/>
                  </a:schemeClr>
                </a:solidFill>
                <a:latin typeface="Arial" panose="020B0604020202020204" pitchFamily="34" charset="0"/>
                <a:cs typeface="Arial" panose="020B0604020202020204" pitchFamily="34" charset="0"/>
              </a:rPr>
              <a:t>, 88,1 % sont correctes</a:t>
            </a:r>
          </a:p>
          <a:p>
            <a:pPr>
              <a:lnSpc>
                <a:spcPct val="80000"/>
              </a:lnSpc>
            </a:pPr>
            <a:r>
              <a:rPr lang="fr-FR" sz="1300" b="1" dirty="0" err="1">
                <a:solidFill>
                  <a:schemeClr val="tx1">
                    <a:lumMod val="75000"/>
                    <a:lumOff val="25000"/>
                  </a:schemeClr>
                </a:solidFill>
                <a:latin typeface="Arial" panose="020B0604020202020204" pitchFamily="34" charset="0"/>
                <a:cs typeface="Arial" panose="020B0604020202020204" pitchFamily="34" charset="0"/>
              </a:rPr>
              <a:t>Recall</a:t>
            </a:r>
            <a:r>
              <a:rPr lang="fr-FR" sz="1300" b="1" dirty="0">
                <a:solidFill>
                  <a:schemeClr val="tx1">
                    <a:lumMod val="75000"/>
                    <a:lumOff val="25000"/>
                  </a:schemeClr>
                </a:solidFill>
                <a:latin typeface="Arial" panose="020B0604020202020204" pitchFamily="34" charset="0"/>
                <a:cs typeface="Arial" panose="020B0604020202020204" pitchFamily="34" charset="0"/>
              </a:rPr>
              <a:t> 0.927 → </a:t>
            </a:r>
            <a:r>
              <a:rPr lang="fr-FR" sz="1300" dirty="0">
                <a:solidFill>
                  <a:schemeClr val="tx1">
                    <a:lumMod val="75000"/>
                    <a:lumOff val="25000"/>
                  </a:schemeClr>
                </a:solidFill>
                <a:latin typeface="Arial" panose="020B0604020202020204" pitchFamily="34" charset="0"/>
                <a:cs typeface="Arial" panose="020B0604020202020204" pitchFamily="34" charset="0"/>
              </a:rPr>
              <a:t>Parmi tous les vrais </a:t>
            </a:r>
            <a:r>
              <a:rPr lang="fr-FR" sz="1300" b="1" dirty="0">
                <a:solidFill>
                  <a:schemeClr val="tx1">
                    <a:lumMod val="75000"/>
                    <a:lumOff val="25000"/>
                  </a:schemeClr>
                </a:solidFill>
                <a:latin typeface="Arial" panose="020B0604020202020204" pitchFamily="34" charset="0"/>
                <a:cs typeface="Arial" panose="020B0604020202020204" pitchFamily="34" charset="0"/>
              </a:rPr>
              <a:t>“No”, </a:t>
            </a:r>
            <a:r>
              <a:rPr lang="fr-FR" sz="1300" dirty="0">
                <a:solidFill>
                  <a:schemeClr val="tx1">
                    <a:lumMod val="75000"/>
                    <a:lumOff val="25000"/>
                  </a:schemeClr>
                </a:solidFill>
                <a:latin typeface="Arial" panose="020B0604020202020204" pitchFamily="34" charset="0"/>
                <a:cs typeface="Arial" panose="020B0604020202020204" pitchFamily="34" charset="0"/>
              </a:rPr>
              <a:t>le modèle en détecte 92,7 %</a:t>
            </a:r>
          </a:p>
          <a:p>
            <a:pPr>
              <a:lnSpc>
                <a:spcPct val="80000"/>
              </a:lnSpc>
            </a:pPr>
            <a:r>
              <a:rPr lang="fr-FR" sz="1300" b="1" dirty="0">
                <a:solidFill>
                  <a:schemeClr val="tx1">
                    <a:lumMod val="75000"/>
                    <a:lumOff val="25000"/>
                  </a:schemeClr>
                </a:solidFill>
                <a:latin typeface="Arial" panose="020B0604020202020204" pitchFamily="34" charset="0"/>
                <a:cs typeface="Arial" panose="020B0604020202020204" pitchFamily="34" charset="0"/>
              </a:rPr>
              <a:t>F1-score 0.903 </a:t>
            </a:r>
            <a:r>
              <a:rPr lang="fr-FR" sz="1300" dirty="0">
                <a:solidFill>
                  <a:schemeClr val="tx1">
                    <a:lumMod val="75000"/>
                    <a:lumOff val="25000"/>
                  </a:schemeClr>
                </a:solidFill>
                <a:latin typeface="Arial" panose="020B0604020202020204" pitchFamily="34" charset="0"/>
                <a:cs typeface="Arial" panose="020B0604020202020204" pitchFamily="34" charset="0"/>
              </a:rPr>
              <a:t>→ Bon équilibre entre précision et rappel</a:t>
            </a:r>
          </a:p>
          <a:p>
            <a:pPr>
              <a:lnSpc>
                <a:spcPct val="80000"/>
              </a:lnSpc>
            </a:pPr>
            <a:r>
              <a:rPr lang="fr-FR" sz="1300" b="1" dirty="0">
                <a:solidFill>
                  <a:schemeClr val="tx1">
                    <a:lumMod val="75000"/>
                    <a:lumOff val="25000"/>
                  </a:schemeClr>
                </a:solidFill>
                <a:latin typeface="Arial" panose="020B0604020202020204" pitchFamily="34" charset="0"/>
                <a:cs typeface="Arial" panose="020B0604020202020204" pitchFamily="34" charset="0"/>
              </a:rPr>
              <a:t>Support 247 </a:t>
            </a:r>
            <a:r>
              <a:rPr lang="fr-FR" sz="1300" dirty="0">
                <a:solidFill>
                  <a:schemeClr val="tx1">
                    <a:lumMod val="75000"/>
                    <a:lumOff val="25000"/>
                  </a:schemeClr>
                </a:solidFill>
                <a:latin typeface="Arial" panose="020B0604020202020204" pitchFamily="34" charset="0"/>
                <a:cs typeface="Arial" panose="020B0604020202020204" pitchFamily="34" charset="0"/>
              </a:rPr>
              <a:t>→ Nombre réel de </a:t>
            </a:r>
            <a:r>
              <a:rPr lang="fr-FR" sz="1300" b="1" dirty="0">
                <a:solidFill>
                  <a:schemeClr val="tx1">
                    <a:lumMod val="75000"/>
                    <a:lumOff val="25000"/>
                  </a:schemeClr>
                </a:solidFill>
                <a:latin typeface="Arial" panose="020B0604020202020204" pitchFamily="34" charset="0"/>
                <a:cs typeface="Arial" panose="020B0604020202020204" pitchFamily="34" charset="0"/>
              </a:rPr>
              <a:t>“No” </a:t>
            </a:r>
            <a:r>
              <a:rPr lang="fr-FR" sz="1300" dirty="0">
                <a:solidFill>
                  <a:schemeClr val="tx1">
                    <a:lumMod val="75000"/>
                    <a:lumOff val="25000"/>
                  </a:schemeClr>
                </a:solidFill>
                <a:latin typeface="Arial" panose="020B0604020202020204" pitchFamily="34" charset="0"/>
                <a:cs typeface="Arial" panose="020B0604020202020204" pitchFamily="34" charset="0"/>
              </a:rPr>
              <a:t>dans le test</a:t>
            </a:r>
          </a:p>
          <a:p>
            <a:pPr>
              <a:lnSpc>
                <a:spcPct val="80000"/>
              </a:lnSpc>
            </a:pPr>
            <a:r>
              <a:rPr lang="fr-FR" sz="1300" b="1" dirty="0">
                <a:solidFill>
                  <a:schemeClr val="tx1">
                    <a:lumMod val="75000"/>
                    <a:lumOff val="25000"/>
                  </a:schemeClr>
                </a:solidFill>
                <a:latin typeface="Arial" panose="020B0604020202020204" pitchFamily="34" charset="0"/>
                <a:cs typeface="Arial" panose="020B0604020202020204" pitchFamily="34" charset="0"/>
              </a:rPr>
              <a:t>✅ Très bonne performance sur la classe majoritaire</a:t>
            </a:r>
          </a:p>
          <a:p>
            <a:endParaRPr lang="fr-FR" dirty="0"/>
          </a:p>
        </p:txBody>
      </p:sp>
      <p:pic>
        <p:nvPicPr>
          <p:cNvPr id="11" name="Image 10">
            <a:extLst>
              <a:ext uri="{FF2B5EF4-FFF2-40B4-BE49-F238E27FC236}">
                <a16:creationId xmlns:a16="http://schemas.microsoft.com/office/drawing/2014/main" id="{A2A3DD2F-E476-D022-1A11-E431A9E8B9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9802" y="2456062"/>
            <a:ext cx="4115443" cy="3401168"/>
          </a:xfrm>
          <a:prstGeom prst="rect">
            <a:avLst/>
          </a:prstGeom>
        </p:spPr>
      </p:pic>
      <p:sp>
        <p:nvSpPr>
          <p:cNvPr id="12" name="Rectangle 11">
            <a:extLst>
              <a:ext uri="{FF2B5EF4-FFF2-40B4-BE49-F238E27FC236}">
                <a16:creationId xmlns:a16="http://schemas.microsoft.com/office/drawing/2014/main" id="{2C5A0E9F-4BFD-343A-CB6C-DD028DCDEF61}"/>
              </a:ext>
            </a:extLst>
          </p:cNvPr>
          <p:cNvSpPr/>
          <p:nvPr/>
        </p:nvSpPr>
        <p:spPr>
          <a:xfrm>
            <a:off x="299803" y="2456062"/>
            <a:ext cx="4115442" cy="3428270"/>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229344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9E1F22-FA3B-319E-7526-65FEEB047E56}"/>
              </a:ext>
            </a:extLst>
          </p:cNvPr>
          <p:cNvSpPr>
            <a:spLocks noGrp="1"/>
          </p:cNvSpPr>
          <p:nvPr>
            <p:ph type="title"/>
          </p:nvPr>
        </p:nvSpPr>
        <p:spPr/>
        <p:txBody>
          <a:bodyPr/>
          <a:lstStyle/>
          <a:p>
            <a:r>
              <a:rPr lang="fr-FR" b="1" dirty="0"/>
              <a:t>Analyse globale</a:t>
            </a:r>
            <a:endParaRPr lang="fr-FR" dirty="0"/>
          </a:p>
        </p:txBody>
      </p:sp>
      <p:sp>
        <p:nvSpPr>
          <p:cNvPr id="3" name="Espace réservé du texte 2">
            <a:extLst>
              <a:ext uri="{FF2B5EF4-FFF2-40B4-BE49-F238E27FC236}">
                <a16:creationId xmlns:a16="http://schemas.microsoft.com/office/drawing/2014/main" id="{0724DEC6-4958-B29E-BAD6-DA7AD08206F2}"/>
              </a:ext>
            </a:extLst>
          </p:cNvPr>
          <p:cNvSpPr>
            <a:spLocks noGrp="1"/>
          </p:cNvSpPr>
          <p:nvPr>
            <p:ph type="body" idx="1"/>
          </p:nvPr>
        </p:nvSpPr>
        <p:spPr/>
        <p:txBody>
          <a:bodyPr/>
          <a:lstStyle/>
          <a:p>
            <a:r>
              <a:rPr lang="fr-FR" dirty="0" err="1">
                <a:solidFill>
                  <a:schemeClr val="accent1"/>
                </a:solidFill>
                <a:latin typeface="Arial" panose="020B0604020202020204" pitchFamily="34" charset="0"/>
                <a:cs typeface="Arial" panose="020B0604020202020204" pitchFamily="34" charset="0"/>
              </a:rPr>
              <a:t>Accuracy</a:t>
            </a:r>
            <a:endParaRPr lang="fr-FR" dirty="0">
              <a:solidFill>
                <a:schemeClr val="accent1"/>
              </a:solidFill>
              <a:latin typeface="Arial" panose="020B0604020202020204" pitchFamily="34" charset="0"/>
              <a:cs typeface="Arial" panose="020B0604020202020204" pitchFamily="34" charset="0"/>
            </a:endParaRPr>
          </a:p>
        </p:txBody>
      </p:sp>
      <p:sp>
        <p:nvSpPr>
          <p:cNvPr id="4" name="Espace réservé du texte 3">
            <a:extLst>
              <a:ext uri="{FF2B5EF4-FFF2-40B4-BE49-F238E27FC236}">
                <a16:creationId xmlns:a16="http://schemas.microsoft.com/office/drawing/2014/main" id="{BE756D16-B878-7190-8B09-149ED18BAD9E}"/>
              </a:ext>
            </a:extLst>
          </p:cNvPr>
          <p:cNvSpPr>
            <a:spLocks noGrp="1"/>
          </p:cNvSpPr>
          <p:nvPr>
            <p:ph type="body" sz="half" idx="15"/>
          </p:nvPr>
        </p:nvSpPr>
        <p:spPr>
          <a:xfrm>
            <a:off x="1161793" y="3429000"/>
            <a:ext cx="3141879" cy="2847293"/>
          </a:xfrm>
        </p:spPr>
        <p:txBody>
          <a:bodyPr/>
          <a:lstStyle/>
          <a:p>
            <a:r>
              <a:rPr lang="fr-FR" sz="1500" b="1" dirty="0" err="1">
                <a:latin typeface="Arial" panose="020B0604020202020204" pitchFamily="34" charset="0"/>
                <a:cs typeface="Arial" panose="020B0604020202020204" pitchFamily="34" charset="0"/>
              </a:rPr>
              <a:t>Accuracy</a:t>
            </a:r>
            <a:r>
              <a:rPr lang="fr-FR" sz="1500" b="1" dirty="0">
                <a:latin typeface="Arial" panose="020B0604020202020204" pitchFamily="34" charset="0"/>
                <a:cs typeface="Arial" panose="020B0604020202020204" pitchFamily="34" charset="0"/>
              </a:rPr>
              <a:t> 0.833</a:t>
            </a:r>
            <a:r>
              <a:rPr lang="fr-FR" sz="1500" dirty="0">
                <a:latin typeface="Arial" panose="020B0604020202020204" pitchFamily="34" charset="0"/>
                <a:cs typeface="Arial" panose="020B0604020202020204" pitchFamily="34" charset="0"/>
              </a:rPr>
              <a:t> → 83,3 % des prédictions globales sont correctes</a:t>
            </a:r>
            <a:br>
              <a:rPr lang="fr-FR" sz="1500" dirty="0">
                <a:latin typeface="Arial" panose="020B0604020202020204" pitchFamily="34" charset="0"/>
                <a:cs typeface="Arial" panose="020B0604020202020204" pitchFamily="34" charset="0"/>
              </a:rPr>
            </a:br>
            <a:r>
              <a:rPr lang="fr-FR" sz="1500" dirty="0">
                <a:latin typeface="Arial" panose="020B0604020202020204" pitchFamily="34" charset="0"/>
                <a:cs typeface="Arial" panose="020B0604020202020204" pitchFamily="34" charset="0"/>
              </a:rPr>
              <a:t>❌  pour des classes déséquilibrées, l’</a:t>
            </a:r>
            <a:r>
              <a:rPr lang="fr-FR" sz="1500" dirty="0" err="1">
                <a:latin typeface="Arial" panose="020B0604020202020204" pitchFamily="34" charset="0"/>
                <a:cs typeface="Arial" panose="020B0604020202020204" pitchFamily="34" charset="0"/>
              </a:rPr>
              <a:t>accuracy</a:t>
            </a:r>
            <a:r>
              <a:rPr lang="fr-FR" sz="1500" dirty="0">
                <a:latin typeface="Arial" panose="020B0604020202020204" pitchFamily="34" charset="0"/>
                <a:cs typeface="Arial" panose="020B0604020202020204" pitchFamily="34" charset="0"/>
              </a:rPr>
              <a:t> peut être trompeuse → le modèle favorise naturellement “No”</a:t>
            </a:r>
          </a:p>
          <a:p>
            <a:endParaRPr lang="fr-FR" dirty="0"/>
          </a:p>
        </p:txBody>
      </p:sp>
      <p:sp>
        <p:nvSpPr>
          <p:cNvPr id="5" name="Espace réservé du texte 4">
            <a:extLst>
              <a:ext uri="{FF2B5EF4-FFF2-40B4-BE49-F238E27FC236}">
                <a16:creationId xmlns:a16="http://schemas.microsoft.com/office/drawing/2014/main" id="{BF47B05A-B67E-DD44-7E30-6E773A8682E9}"/>
              </a:ext>
            </a:extLst>
          </p:cNvPr>
          <p:cNvSpPr>
            <a:spLocks noGrp="1"/>
          </p:cNvSpPr>
          <p:nvPr>
            <p:ph type="body" sz="quarter" idx="3"/>
          </p:nvPr>
        </p:nvSpPr>
        <p:spPr/>
        <p:txBody>
          <a:bodyPr/>
          <a:lstStyle/>
          <a:p>
            <a:r>
              <a:rPr lang="fr-FR" dirty="0">
                <a:solidFill>
                  <a:schemeClr val="accent1"/>
                </a:solidFill>
                <a:latin typeface="Arial" panose="020B0604020202020204" pitchFamily="34" charset="0"/>
                <a:cs typeface="Arial" panose="020B0604020202020204" pitchFamily="34" charset="0"/>
              </a:rPr>
              <a:t>Macro </a:t>
            </a:r>
            <a:r>
              <a:rPr lang="fr-FR" dirty="0" err="1">
                <a:solidFill>
                  <a:schemeClr val="accent1"/>
                </a:solidFill>
                <a:latin typeface="Arial" panose="020B0604020202020204" pitchFamily="34" charset="0"/>
                <a:cs typeface="Arial" panose="020B0604020202020204" pitchFamily="34" charset="0"/>
              </a:rPr>
              <a:t>avg</a:t>
            </a:r>
            <a:endParaRPr lang="fr-FR" dirty="0">
              <a:solidFill>
                <a:schemeClr val="accent1"/>
              </a:solidFill>
              <a:latin typeface="Arial" panose="020B0604020202020204" pitchFamily="34" charset="0"/>
              <a:cs typeface="Arial" panose="020B0604020202020204" pitchFamily="34" charset="0"/>
            </a:endParaRPr>
          </a:p>
        </p:txBody>
      </p:sp>
      <p:sp>
        <p:nvSpPr>
          <p:cNvPr id="6" name="Espace réservé du texte 5">
            <a:extLst>
              <a:ext uri="{FF2B5EF4-FFF2-40B4-BE49-F238E27FC236}">
                <a16:creationId xmlns:a16="http://schemas.microsoft.com/office/drawing/2014/main" id="{0890A8F5-7BDD-1678-F015-19ADEC25131F}"/>
              </a:ext>
            </a:extLst>
          </p:cNvPr>
          <p:cNvSpPr>
            <a:spLocks noGrp="1"/>
          </p:cNvSpPr>
          <p:nvPr>
            <p:ph type="body" sz="half" idx="16"/>
          </p:nvPr>
        </p:nvSpPr>
        <p:spPr>
          <a:xfrm>
            <a:off x="4532271" y="3429000"/>
            <a:ext cx="3147009" cy="2847293"/>
          </a:xfrm>
        </p:spPr>
        <p:txBody>
          <a:bodyPr/>
          <a:lstStyle/>
          <a:p>
            <a:r>
              <a:rPr lang="fr-FR" sz="1500" b="1" dirty="0">
                <a:latin typeface="Arial" panose="020B0604020202020204" pitchFamily="34" charset="0"/>
                <a:cs typeface="Arial" panose="020B0604020202020204" pitchFamily="34" charset="0"/>
              </a:rPr>
              <a:t>Macro </a:t>
            </a:r>
            <a:r>
              <a:rPr lang="fr-FR" sz="1500" b="1" dirty="0" err="1">
                <a:latin typeface="Arial" panose="020B0604020202020204" pitchFamily="34" charset="0"/>
                <a:cs typeface="Arial" panose="020B0604020202020204" pitchFamily="34" charset="0"/>
              </a:rPr>
              <a:t>avg</a:t>
            </a:r>
            <a:r>
              <a:rPr lang="fr-FR" sz="1500" dirty="0">
                <a:latin typeface="Arial" panose="020B0604020202020204" pitchFamily="34" charset="0"/>
                <a:cs typeface="Arial" panose="020B0604020202020204" pitchFamily="34" charset="0"/>
              </a:rPr>
              <a:t> (moyenne simple des deux classes)</a:t>
            </a:r>
          </a:p>
          <a:p>
            <a:pPr lvl="1"/>
            <a:r>
              <a:rPr lang="fr-FR" sz="1500" dirty="0" err="1">
                <a:latin typeface="Arial" panose="020B0604020202020204" pitchFamily="34" charset="0"/>
                <a:cs typeface="Arial" panose="020B0604020202020204" pitchFamily="34" charset="0"/>
              </a:rPr>
              <a:t>Precision</a:t>
            </a:r>
            <a:r>
              <a:rPr lang="fr-FR" sz="1500" dirty="0">
                <a:latin typeface="Arial" panose="020B0604020202020204" pitchFamily="34" charset="0"/>
                <a:cs typeface="Arial" panose="020B0604020202020204" pitchFamily="34" charset="0"/>
              </a:rPr>
              <a:t> 0.676</a:t>
            </a:r>
          </a:p>
          <a:p>
            <a:pPr lvl="1"/>
            <a:r>
              <a:rPr lang="fr-FR" sz="1500" dirty="0" err="1">
                <a:latin typeface="Arial" panose="020B0604020202020204" pitchFamily="34" charset="0"/>
                <a:cs typeface="Arial" panose="020B0604020202020204" pitchFamily="34" charset="0"/>
              </a:rPr>
              <a:t>Recall</a:t>
            </a:r>
            <a:r>
              <a:rPr lang="fr-FR" sz="1500" dirty="0">
                <a:latin typeface="Arial" panose="020B0604020202020204" pitchFamily="34" charset="0"/>
                <a:cs typeface="Arial" panose="020B0604020202020204" pitchFamily="34" charset="0"/>
              </a:rPr>
              <a:t> 0.634</a:t>
            </a:r>
          </a:p>
          <a:p>
            <a:pPr lvl="1"/>
            <a:r>
              <a:rPr lang="fr-FR" sz="1500" dirty="0">
                <a:latin typeface="Arial" panose="020B0604020202020204" pitchFamily="34" charset="0"/>
                <a:cs typeface="Arial" panose="020B0604020202020204" pitchFamily="34" charset="0"/>
              </a:rPr>
              <a:t> F1 0.649</a:t>
            </a:r>
            <a:br>
              <a:rPr lang="fr-FR" sz="1500" dirty="0">
                <a:latin typeface="Arial" panose="020B0604020202020204" pitchFamily="34" charset="0"/>
                <a:cs typeface="Arial" panose="020B0604020202020204" pitchFamily="34" charset="0"/>
              </a:rPr>
            </a:br>
            <a:r>
              <a:rPr lang="fr-FR" sz="1500" dirty="0">
                <a:latin typeface="Arial" panose="020B0604020202020204" pitchFamily="34" charset="0"/>
                <a:cs typeface="Arial" panose="020B0604020202020204" pitchFamily="34" charset="0"/>
              </a:rPr>
              <a:t>→ Donne une idée du </a:t>
            </a:r>
            <a:r>
              <a:rPr lang="fr-FR" sz="1500" b="1" dirty="0">
                <a:latin typeface="Arial" panose="020B0604020202020204" pitchFamily="34" charset="0"/>
                <a:cs typeface="Arial" panose="020B0604020202020204" pitchFamily="34" charset="0"/>
              </a:rPr>
              <a:t>comportement global</a:t>
            </a:r>
            <a:r>
              <a:rPr lang="fr-FR" sz="1500" dirty="0">
                <a:latin typeface="Arial" panose="020B0604020202020204" pitchFamily="34" charset="0"/>
                <a:cs typeface="Arial" panose="020B0604020202020204" pitchFamily="34" charset="0"/>
              </a:rPr>
              <a:t> du modèle sur chaque classe à égalité</a:t>
            </a:r>
          </a:p>
          <a:p>
            <a:endParaRPr lang="fr-FR" dirty="0"/>
          </a:p>
        </p:txBody>
      </p:sp>
      <p:sp>
        <p:nvSpPr>
          <p:cNvPr id="7" name="Espace réservé du texte 6">
            <a:extLst>
              <a:ext uri="{FF2B5EF4-FFF2-40B4-BE49-F238E27FC236}">
                <a16:creationId xmlns:a16="http://schemas.microsoft.com/office/drawing/2014/main" id="{3E4D75AB-3B8B-10EC-4EA5-DC3FDDB0E8F6}"/>
              </a:ext>
            </a:extLst>
          </p:cNvPr>
          <p:cNvSpPr>
            <a:spLocks noGrp="1"/>
          </p:cNvSpPr>
          <p:nvPr>
            <p:ph type="body" sz="quarter" idx="13"/>
          </p:nvPr>
        </p:nvSpPr>
        <p:spPr/>
        <p:txBody>
          <a:bodyPr/>
          <a:lstStyle/>
          <a:p>
            <a:r>
              <a:rPr lang="fr-FR" dirty="0" err="1">
                <a:solidFill>
                  <a:schemeClr val="accent1"/>
                </a:solidFill>
                <a:latin typeface="Arial" panose="020B0604020202020204" pitchFamily="34" charset="0"/>
                <a:cs typeface="Arial" panose="020B0604020202020204" pitchFamily="34" charset="0"/>
              </a:rPr>
              <a:t>Weight</a:t>
            </a:r>
            <a:r>
              <a:rPr lang="fr-FR" dirty="0">
                <a:solidFill>
                  <a:schemeClr val="accent1"/>
                </a:solidFill>
                <a:latin typeface="Arial" panose="020B0604020202020204" pitchFamily="34" charset="0"/>
                <a:cs typeface="Arial" panose="020B0604020202020204" pitchFamily="34" charset="0"/>
              </a:rPr>
              <a:t> </a:t>
            </a:r>
            <a:r>
              <a:rPr lang="fr-FR" dirty="0" err="1">
                <a:solidFill>
                  <a:schemeClr val="accent1"/>
                </a:solidFill>
                <a:latin typeface="Arial" panose="020B0604020202020204" pitchFamily="34" charset="0"/>
                <a:cs typeface="Arial" panose="020B0604020202020204" pitchFamily="34" charset="0"/>
              </a:rPr>
              <a:t>avg</a:t>
            </a:r>
            <a:endParaRPr lang="fr-FR" dirty="0">
              <a:solidFill>
                <a:schemeClr val="accent1"/>
              </a:solidFill>
              <a:latin typeface="Arial" panose="020B0604020202020204" pitchFamily="34" charset="0"/>
              <a:cs typeface="Arial" panose="020B0604020202020204" pitchFamily="34" charset="0"/>
            </a:endParaRPr>
          </a:p>
        </p:txBody>
      </p:sp>
      <p:sp>
        <p:nvSpPr>
          <p:cNvPr id="8" name="Espace réservé du texte 7">
            <a:extLst>
              <a:ext uri="{FF2B5EF4-FFF2-40B4-BE49-F238E27FC236}">
                <a16:creationId xmlns:a16="http://schemas.microsoft.com/office/drawing/2014/main" id="{849D97A1-6EA7-06FB-8A86-265AD25FF42D}"/>
              </a:ext>
            </a:extLst>
          </p:cNvPr>
          <p:cNvSpPr>
            <a:spLocks noGrp="1"/>
          </p:cNvSpPr>
          <p:nvPr>
            <p:ph type="body" sz="half" idx="17"/>
          </p:nvPr>
        </p:nvSpPr>
        <p:spPr>
          <a:xfrm>
            <a:off x="7907879" y="3428999"/>
            <a:ext cx="3145536" cy="2847293"/>
          </a:xfrm>
        </p:spPr>
        <p:txBody>
          <a:bodyPr/>
          <a:lstStyle/>
          <a:p>
            <a:r>
              <a:rPr lang="fr-FR" sz="1500" b="1" dirty="0" err="1">
                <a:latin typeface="Arial" panose="020B0604020202020204" pitchFamily="34" charset="0"/>
                <a:cs typeface="Arial" panose="020B0604020202020204" pitchFamily="34" charset="0"/>
              </a:rPr>
              <a:t>Weighted</a:t>
            </a:r>
            <a:r>
              <a:rPr lang="fr-FR" sz="1500" b="1" dirty="0">
                <a:latin typeface="Arial" panose="020B0604020202020204" pitchFamily="34" charset="0"/>
                <a:cs typeface="Arial" panose="020B0604020202020204" pitchFamily="34" charset="0"/>
              </a:rPr>
              <a:t> </a:t>
            </a:r>
            <a:r>
              <a:rPr lang="fr-FR" sz="1500" b="1" dirty="0" err="1">
                <a:latin typeface="Arial" panose="020B0604020202020204" pitchFamily="34" charset="0"/>
                <a:cs typeface="Arial" panose="020B0604020202020204" pitchFamily="34" charset="0"/>
              </a:rPr>
              <a:t>avg</a:t>
            </a:r>
            <a:r>
              <a:rPr lang="fr-FR" sz="1500" dirty="0">
                <a:latin typeface="Arial" panose="020B0604020202020204" pitchFamily="34" charset="0"/>
                <a:cs typeface="Arial" panose="020B0604020202020204" pitchFamily="34" charset="0"/>
              </a:rPr>
              <a:t> (moyenne pondérée par support)</a:t>
            </a:r>
          </a:p>
          <a:p>
            <a:r>
              <a:rPr lang="fr-FR" sz="1500" dirty="0">
                <a:latin typeface="Arial" panose="020B0604020202020204" pitchFamily="34" charset="0"/>
                <a:cs typeface="Arial" panose="020B0604020202020204" pitchFamily="34" charset="0"/>
              </a:rPr>
              <a:t>        </a:t>
            </a:r>
            <a:r>
              <a:rPr lang="fr-FR" sz="1500" dirty="0" err="1">
                <a:latin typeface="Arial" panose="020B0604020202020204" pitchFamily="34" charset="0"/>
                <a:cs typeface="Arial" panose="020B0604020202020204" pitchFamily="34" charset="0"/>
              </a:rPr>
              <a:t>Precision</a:t>
            </a:r>
            <a:r>
              <a:rPr lang="fr-FR" sz="1500" dirty="0">
                <a:latin typeface="Arial" panose="020B0604020202020204" pitchFamily="34" charset="0"/>
                <a:cs typeface="Arial" panose="020B0604020202020204" pitchFamily="34" charset="0"/>
              </a:rPr>
              <a:t> 0.815</a:t>
            </a:r>
          </a:p>
          <a:p>
            <a:pPr lvl="1"/>
            <a:r>
              <a:rPr lang="fr-FR" sz="1500" dirty="0" err="1">
                <a:latin typeface="Arial" panose="020B0604020202020204" pitchFamily="34" charset="0"/>
                <a:cs typeface="Arial" panose="020B0604020202020204" pitchFamily="34" charset="0"/>
              </a:rPr>
              <a:t>Recall</a:t>
            </a:r>
            <a:r>
              <a:rPr lang="fr-FR" sz="1500" dirty="0">
                <a:latin typeface="Arial" panose="020B0604020202020204" pitchFamily="34" charset="0"/>
                <a:cs typeface="Arial" panose="020B0604020202020204" pitchFamily="34" charset="0"/>
              </a:rPr>
              <a:t> 0.833</a:t>
            </a:r>
          </a:p>
          <a:p>
            <a:pPr lvl="1"/>
            <a:r>
              <a:rPr lang="fr-FR" sz="1500" dirty="0">
                <a:latin typeface="Arial" panose="020B0604020202020204" pitchFamily="34" charset="0"/>
                <a:cs typeface="Arial" panose="020B0604020202020204" pitchFamily="34" charset="0"/>
              </a:rPr>
              <a:t>F1 0.822</a:t>
            </a:r>
            <a:br>
              <a:rPr lang="fr-FR" sz="1500" dirty="0">
                <a:latin typeface="Arial" panose="020B0604020202020204" pitchFamily="34" charset="0"/>
                <a:cs typeface="Arial" panose="020B0604020202020204" pitchFamily="34" charset="0"/>
              </a:rPr>
            </a:br>
            <a:r>
              <a:rPr lang="fr-FR" sz="1500" dirty="0">
                <a:latin typeface="Arial" panose="020B0604020202020204" pitchFamily="34" charset="0"/>
                <a:cs typeface="Arial" panose="020B0604020202020204" pitchFamily="34" charset="0"/>
              </a:rPr>
              <a:t>→ Domine par la classe majoritaire </a:t>
            </a:r>
            <a:r>
              <a:rPr lang="fr-FR" sz="1500" b="1" dirty="0">
                <a:latin typeface="Arial" panose="020B0604020202020204" pitchFamily="34" charset="0"/>
                <a:cs typeface="Arial" panose="020B0604020202020204" pitchFamily="34" charset="0"/>
              </a:rPr>
              <a:t>“No” </a:t>
            </a:r>
            <a:r>
              <a:rPr lang="fr-FR" sz="1500" dirty="0">
                <a:latin typeface="Arial" panose="020B0604020202020204" pitchFamily="34" charset="0"/>
                <a:cs typeface="Arial" panose="020B0604020202020204" pitchFamily="34" charset="0"/>
              </a:rPr>
              <a:t>→ cache un peu les difficultés sur </a:t>
            </a:r>
            <a:r>
              <a:rPr lang="fr-FR" sz="1500" b="1" dirty="0">
                <a:latin typeface="Arial" panose="020B0604020202020204" pitchFamily="34" charset="0"/>
                <a:cs typeface="Arial" panose="020B0604020202020204" pitchFamily="34" charset="0"/>
              </a:rPr>
              <a:t>“Yes”</a:t>
            </a:r>
          </a:p>
          <a:p>
            <a:endParaRPr lang="fr-FR" dirty="0"/>
          </a:p>
        </p:txBody>
      </p:sp>
    </p:spTree>
    <p:extLst>
      <p:ext uri="{BB962C8B-B14F-4D97-AF65-F5344CB8AC3E}">
        <p14:creationId xmlns:p14="http://schemas.microsoft.com/office/powerpoint/2010/main" val="23079521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B05AF3A-B7C2-F40A-B61B-1DC58C94F910}"/>
              </a:ext>
            </a:extLst>
          </p:cNvPr>
          <p:cNvSpPr>
            <a:spLocks noGrp="1"/>
          </p:cNvSpPr>
          <p:nvPr>
            <p:ph type="title"/>
          </p:nvPr>
        </p:nvSpPr>
        <p:spPr/>
        <p:txBody>
          <a:bodyPr/>
          <a:lstStyle/>
          <a:p>
            <a:r>
              <a:rPr lang="fr-FR" b="1" dirty="0"/>
              <a:t>Conclusion</a:t>
            </a:r>
            <a:br>
              <a:rPr lang="fr-FR" b="1" dirty="0"/>
            </a:br>
            <a:endParaRPr lang="fr-FR" dirty="0"/>
          </a:p>
        </p:txBody>
      </p:sp>
      <p:sp>
        <p:nvSpPr>
          <p:cNvPr id="3" name="Espace réservé du contenu 2">
            <a:extLst>
              <a:ext uri="{FF2B5EF4-FFF2-40B4-BE49-F238E27FC236}">
                <a16:creationId xmlns:a16="http://schemas.microsoft.com/office/drawing/2014/main" id="{22A38E1D-4D76-AE6B-2E2E-4DC1D64A4532}"/>
              </a:ext>
            </a:extLst>
          </p:cNvPr>
          <p:cNvSpPr>
            <a:spLocks noGrp="1"/>
          </p:cNvSpPr>
          <p:nvPr>
            <p:ph idx="1"/>
          </p:nvPr>
        </p:nvSpPr>
        <p:spPr/>
        <p:txBody>
          <a:bodyPr>
            <a:normAutofit fontScale="92500" lnSpcReduction="10000"/>
          </a:bodyPr>
          <a:lstStyle/>
          <a:p>
            <a:r>
              <a:rPr lang="fr-FR" dirty="0">
                <a:latin typeface="Arial" panose="020B0604020202020204" pitchFamily="34" charset="0"/>
                <a:cs typeface="Arial" panose="020B0604020202020204" pitchFamily="34" charset="0"/>
              </a:rPr>
              <a:t>Le modèle </a:t>
            </a:r>
            <a:r>
              <a:rPr lang="fr-FR" b="1" dirty="0">
                <a:latin typeface="Arial" panose="020B0604020202020204" pitchFamily="34" charset="0"/>
                <a:cs typeface="Arial" panose="020B0604020202020204" pitchFamily="34" charset="0"/>
              </a:rPr>
              <a:t>prédit très bien la classe majoritaire “No”</a:t>
            </a:r>
            <a:r>
              <a:rPr lang="fr-FR" dirty="0">
                <a:latin typeface="Arial" panose="020B0604020202020204" pitchFamily="34" charset="0"/>
                <a:cs typeface="Arial" panose="020B0604020202020204" pitchFamily="34" charset="0"/>
              </a:rPr>
              <a:t>, avec un F1-score de 0.903.</a:t>
            </a:r>
          </a:p>
          <a:p>
            <a:r>
              <a:rPr lang="fr-FR" dirty="0">
                <a:latin typeface="Arial" panose="020B0604020202020204" pitchFamily="34" charset="0"/>
                <a:cs typeface="Arial" panose="020B0604020202020204" pitchFamily="34" charset="0"/>
              </a:rPr>
              <a:t>La classe minoritaire </a:t>
            </a:r>
            <a:r>
              <a:rPr lang="fr-FR" b="1" dirty="0">
                <a:latin typeface="Arial" panose="020B0604020202020204" pitchFamily="34" charset="0"/>
                <a:cs typeface="Arial" panose="020B0604020202020204" pitchFamily="34" charset="0"/>
              </a:rPr>
              <a:t>“Yes” est encore mal détectée</a:t>
            </a:r>
            <a:r>
              <a:rPr lang="fr-FR" dirty="0">
                <a:latin typeface="Arial" panose="020B0604020202020204" pitchFamily="34" charset="0"/>
                <a:cs typeface="Arial" panose="020B0604020202020204" pitchFamily="34" charset="0"/>
              </a:rPr>
              <a:t>, </a:t>
            </a:r>
            <a:r>
              <a:rPr lang="fr-FR" dirty="0" err="1">
                <a:latin typeface="Arial" panose="020B0604020202020204" pitchFamily="34" charset="0"/>
                <a:cs typeface="Arial" panose="020B0604020202020204" pitchFamily="34" charset="0"/>
              </a:rPr>
              <a:t>recall</a:t>
            </a:r>
            <a:r>
              <a:rPr lang="fr-FR" dirty="0">
                <a:latin typeface="Arial" panose="020B0604020202020204" pitchFamily="34" charset="0"/>
                <a:cs typeface="Arial" panose="020B0604020202020204" pitchFamily="34" charset="0"/>
              </a:rPr>
              <a:t> faible (0.34), ce qui signifie que </a:t>
            </a:r>
            <a:r>
              <a:rPr lang="fr-FR" b="1" dirty="0">
                <a:latin typeface="Arial" panose="020B0604020202020204" pitchFamily="34" charset="0"/>
                <a:cs typeface="Arial" panose="020B0604020202020204" pitchFamily="34" charset="0"/>
              </a:rPr>
              <a:t>la plupart des vrais “Yes” sont manqués</a:t>
            </a:r>
            <a:r>
              <a:rPr lang="fr-FR" dirty="0">
                <a:latin typeface="Arial" panose="020B0604020202020204" pitchFamily="34" charset="0"/>
                <a:cs typeface="Arial" panose="020B0604020202020204" pitchFamily="34" charset="0"/>
              </a:rPr>
              <a:t>.</a:t>
            </a:r>
          </a:p>
          <a:p>
            <a:r>
              <a:rPr lang="fr-FR" dirty="0">
                <a:latin typeface="Arial" panose="020B0604020202020204" pitchFamily="34" charset="0"/>
                <a:cs typeface="Arial" panose="020B0604020202020204" pitchFamily="34" charset="0"/>
              </a:rPr>
              <a:t>La précision de “Yes” (0.471) montre que quand le modèle prédit “Yes”, il est correct moins de la moitié du temps.</a:t>
            </a:r>
          </a:p>
          <a:p>
            <a:r>
              <a:rPr lang="fr-FR" dirty="0">
                <a:latin typeface="Arial" panose="020B0604020202020204" pitchFamily="34" charset="0"/>
                <a:cs typeface="Arial" panose="020B0604020202020204" pitchFamily="34" charset="0"/>
              </a:rPr>
              <a:t>L’</a:t>
            </a:r>
            <a:r>
              <a:rPr lang="fr-FR" dirty="0" err="1">
                <a:latin typeface="Arial" panose="020B0604020202020204" pitchFamily="34" charset="0"/>
                <a:cs typeface="Arial" panose="020B0604020202020204" pitchFamily="34" charset="0"/>
              </a:rPr>
              <a:t>accuracy</a:t>
            </a:r>
            <a:r>
              <a:rPr lang="fr-FR" dirty="0">
                <a:latin typeface="Arial" panose="020B0604020202020204" pitchFamily="34" charset="0"/>
                <a:cs typeface="Arial" panose="020B0604020202020204" pitchFamily="34" charset="0"/>
              </a:rPr>
              <a:t> globale (0.833) est trompeuse, car elle reflète surtout la bonne prédiction de “No”.</a:t>
            </a:r>
          </a:p>
          <a:p>
            <a:r>
              <a:rPr lang="fr-FR" dirty="0">
                <a:latin typeface="Arial" panose="020B0604020202020204" pitchFamily="34" charset="0"/>
                <a:cs typeface="Arial" panose="020B0604020202020204" pitchFamily="34" charset="0"/>
              </a:rPr>
              <a:t>Des mesures comme </a:t>
            </a:r>
            <a:r>
              <a:rPr lang="fr-FR" b="1" dirty="0">
                <a:latin typeface="Arial" panose="020B0604020202020204" pitchFamily="34" charset="0"/>
                <a:cs typeface="Arial" panose="020B0604020202020204" pitchFamily="34" charset="0"/>
              </a:rPr>
              <a:t>macro F1</a:t>
            </a:r>
            <a:r>
              <a:rPr lang="fr-FR" dirty="0">
                <a:latin typeface="Arial" panose="020B0604020202020204" pitchFamily="34" charset="0"/>
                <a:cs typeface="Arial" panose="020B0604020202020204" pitchFamily="34" charset="0"/>
              </a:rPr>
              <a:t> (0.649) donnent une meilleure idée de la performance réelle sur les deux classes.</a:t>
            </a:r>
          </a:p>
          <a:p>
            <a:r>
              <a:rPr lang="fr-FR" dirty="0">
                <a:latin typeface="Arial" panose="020B0604020202020204" pitchFamily="34" charset="0"/>
                <a:cs typeface="Arial" panose="020B0604020202020204" pitchFamily="34" charset="0"/>
              </a:rPr>
              <a:t>Le déséquilibre des classes reste le problème principal pour améliorer la détection de “Yes”.</a:t>
            </a:r>
          </a:p>
          <a:p>
            <a:endParaRPr lang="fr-FR" dirty="0"/>
          </a:p>
        </p:txBody>
      </p:sp>
    </p:spTree>
    <p:extLst>
      <p:ext uri="{BB962C8B-B14F-4D97-AF65-F5344CB8AC3E}">
        <p14:creationId xmlns:p14="http://schemas.microsoft.com/office/powerpoint/2010/main" val="31990591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BCFF87-D5AB-6EFE-5BDB-62806A248E79}"/>
              </a:ext>
            </a:extLst>
          </p:cNvPr>
          <p:cNvSpPr>
            <a:spLocks noGrp="1"/>
          </p:cNvSpPr>
          <p:nvPr>
            <p:ph type="title"/>
          </p:nvPr>
        </p:nvSpPr>
        <p:spPr/>
        <p:txBody>
          <a:bodyPr/>
          <a:lstStyle/>
          <a:p>
            <a:r>
              <a:rPr lang="fr-FR" dirty="0"/>
              <a:t> Analyse </a:t>
            </a:r>
            <a:r>
              <a:rPr lang="fr-FR" dirty="0" err="1"/>
              <a:t>RandomForest</a:t>
            </a:r>
            <a:endParaRPr lang="fr-FR" dirty="0"/>
          </a:p>
        </p:txBody>
      </p:sp>
      <p:sp>
        <p:nvSpPr>
          <p:cNvPr id="3" name="Espace réservé du contenu 2">
            <a:extLst>
              <a:ext uri="{FF2B5EF4-FFF2-40B4-BE49-F238E27FC236}">
                <a16:creationId xmlns:a16="http://schemas.microsoft.com/office/drawing/2014/main" id="{7E92B5FF-DA7F-9A00-BFD8-F85B8B3B473A}"/>
              </a:ext>
            </a:extLst>
          </p:cNvPr>
          <p:cNvSpPr>
            <a:spLocks noGrp="1"/>
          </p:cNvSpPr>
          <p:nvPr>
            <p:ph idx="1"/>
          </p:nvPr>
        </p:nvSpPr>
        <p:spPr/>
        <p:txBody>
          <a:bodyPr/>
          <a:lstStyle/>
          <a:p>
            <a:r>
              <a:rPr lang="fr-FR" dirty="0">
                <a:latin typeface="Arial" panose="020B0604020202020204" pitchFamily="34" charset="0"/>
                <a:cs typeface="Arial" panose="020B0604020202020204" pitchFamily="34" charset="0"/>
              </a:rPr>
              <a:t>Le modèle </a:t>
            </a:r>
            <a:r>
              <a:rPr lang="fr-FR" dirty="0" err="1">
                <a:latin typeface="Arial" panose="020B0604020202020204" pitchFamily="34" charset="0"/>
                <a:cs typeface="Arial" panose="020B0604020202020204" pitchFamily="34" charset="0"/>
              </a:rPr>
              <a:t>RandomForest</a:t>
            </a:r>
            <a:r>
              <a:rPr lang="fr-FR" dirty="0">
                <a:latin typeface="Arial" panose="020B0604020202020204" pitchFamily="34" charset="0"/>
                <a:cs typeface="Arial" panose="020B0604020202020204" pitchFamily="34" charset="0"/>
              </a:rPr>
              <a:t> prédit très bien la classe majoritaire </a:t>
            </a:r>
            <a:r>
              <a:rPr lang="fr-FR" b="1" dirty="0">
                <a:latin typeface="Arial" panose="020B0604020202020204" pitchFamily="34" charset="0"/>
                <a:cs typeface="Arial" panose="020B0604020202020204" pitchFamily="34" charset="0"/>
              </a:rPr>
              <a:t>“No”</a:t>
            </a:r>
            <a:r>
              <a:rPr lang="fr-FR" dirty="0">
                <a:latin typeface="Arial" panose="020B0604020202020204" pitchFamily="34" charset="0"/>
                <a:cs typeface="Arial" panose="020B0604020202020204" pitchFamily="34" charset="0"/>
              </a:rPr>
              <a:t>, avec 92 % des vrais “No” correctement détectés.</a:t>
            </a:r>
            <a:br>
              <a:rPr lang="fr-FR" dirty="0">
                <a:latin typeface="Arial" panose="020B0604020202020204" pitchFamily="34" charset="0"/>
                <a:cs typeface="Arial" panose="020B0604020202020204" pitchFamily="34" charset="0"/>
              </a:rPr>
            </a:br>
            <a:r>
              <a:rPr lang="fr-FR" dirty="0">
                <a:latin typeface="Arial" panose="020B0604020202020204" pitchFamily="34" charset="0"/>
                <a:cs typeface="Arial" panose="020B0604020202020204" pitchFamily="34" charset="0"/>
              </a:rPr>
              <a:t>Pour la classe minoritaire </a:t>
            </a:r>
            <a:r>
              <a:rPr lang="fr-FR" b="1" dirty="0">
                <a:latin typeface="Arial" panose="020B0604020202020204" pitchFamily="34" charset="0"/>
                <a:cs typeface="Arial" panose="020B0604020202020204" pitchFamily="34" charset="0"/>
              </a:rPr>
              <a:t>“Yes”</a:t>
            </a:r>
            <a:r>
              <a:rPr lang="fr-FR" dirty="0">
                <a:latin typeface="Arial" panose="020B0604020202020204" pitchFamily="34" charset="0"/>
                <a:cs typeface="Arial" panose="020B0604020202020204" pitchFamily="34" charset="0"/>
              </a:rPr>
              <a:t>, le modèle a plus de difficultés : il ne détecte que 34 % des vrais “Yes”, et quand il prédit “Yes”, il a raison seulement 47 % du temps.</a:t>
            </a:r>
            <a:br>
              <a:rPr lang="fr-FR" dirty="0">
                <a:latin typeface="Arial" panose="020B0604020202020204" pitchFamily="34" charset="0"/>
                <a:cs typeface="Arial" panose="020B0604020202020204" pitchFamily="34" charset="0"/>
              </a:rPr>
            </a:br>
            <a:r>
              <a:rPr lang="fr-FR" dirty="0">
                <a:latin typeface="Arial" panose="020B0604020202020204" pitchFamily="34" charset="0"/>
                <a:cs typeface="Arial" panose="020B0604020202020204" pitchFamily="34" charset="0"/>
              </a:rPr>
              <a:t>L’</a:t>
            </a:r>
            <a:r>
              <a:rPr lang="fr-FR" b="1" dirty="0" err="1">
                <a:latin typeface="Arial" panose="020B0604020202020204" pitchFamily="34" charset="0"/>
                <a:cs typeface="Arial" panose="020B0604020202020204" pitchFamily="34" charset="0"/>
              </a:rPr>
              <a:t>accuracy</a:t>
            </a:r>
            <a:r>
              <a:rPr lang="fr-FR" b="1" dirty="0">
                <a:latin typeface="Arial" panose="020B0604020202020204" pitchFamily="34" charset="0"/>
                <a:cs typeface="Arial" panose="020B0604020202020204" pitchFamily="34" charset="0"/>
              </a:rPr>
              <a:t> globale</a:t>
            </a:r>
            <a:r>
              <a:rPr lang="fr-FR" dirty="0">
                <a:latin typeface="Arial" panose="020B0604020202020204" pitchFamily="34" charset="0"/>
                <a:cs typeface="Arial" panose="020B0604020202020204" pitchFamily="34" charset="0"/>
              </a:rPr>
              <a:t> est de 83 %, mais elle est influencée par la classe majoritaire, donc elle ne montre pas toute la difficulté sur </a:t>
            </a:r>
            <a:r>
              <a:rPr lang="fr-FR" b="1" dirty="0">
                <a:latin typeface="Arial" panose="020B0604020202020204" pitchFamily="34" charset="0"/>
                <a:cs typeface="Arial" panose="020B0604020202020204" pitchFamily="34" charset="0"/>
              </a:rPr>
              <a:t>“Yes”.</a:t>
            </a:r>
            <a:br>
              <a:rPr lang="fr-FR" dirty="0">
                <a:latin typeface="Arial" panose="020B0604020202020204" pitchFamily="34" charset="0"/>
                <a:cs typeface="Arial" panose="020B0604020202020204" pitchFamily="34" charset="0"/>
              </a:rPr>
            </a:br>
            <a:r>
              <a:rPr lang="fr-FR" dirty="0">
                <a:latin typeface="Arial" panose="020B0604020202020204" pitchFamily="34" charset="0"/>
                <a:cs typeface="Arial" panose="020B0604020202020204" pitchFamily="34" charset="0"/>
              </a:rPr>
              <a:t>Le modèle a donc besoin d’améliorations pour mieux détecter les </a:t>
            </a:r>
            <a:r>
              <a:rPr lang="fr-FR" b="1" dirty="0">
                <a:latin typeface="Arial" panose="020B0604020202020204" pitchFamily="34" charset="0"/>
                <a:cs typeface="Arial" panose="020B0604020202020204" pitchFamily="34" charset="0"/>
              </a:rPr>
              <a:t>“Yes”, </a:t>
            </a:r>
            <a:r>
              <a:rPr lang="fr-FR" dirty="0">
                <a:latin typeface="Arial" panose="020B0604020202020204" pitchFamily="34" charset="0"/>
                <a:cs typeface="Arial" panose="020B0604020202020204" pitchFamily="34" charset="0"/>
              </a:rPr>
              <a:t>mais il fait déjà un bon travail sur les </a:t>
            </a:r>
            <a:r>
              <a:rPr lang="fr-FR" b="1" dirty="0">
                <a:latin typeface="Arial" panose="020B0604020202020204" pitchFamily="34" charset="0"/>
                <a:cs typeface="Arial" panose="020B0604020202020204" pitchFamily="34" charset="0"/>
              </a:rPr>
              <a:t>“No”.</a:t>
            </a:r>
          </a:p>
          <a:p>
            <a:endParaRPr lang="fr-FR" dirty="0"/>
          </a:p>
        </p:txBody>
      </p:sp>
    </p:spTree>
    <p:extLst>
      <p:ext uri="{BB962C8B-B14F-4D97-AF65-F5344CB8AC3E}">
        <p14:creationId xmlns:p14="http://schemas.microsoft.com/office/powerpoint/2010/main" val="14081038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BDA1498-A2ED-0627-0730-728FEA3C3EE4}"/>
              </a:ext>
            </a:extLst>
          </p:cNvPr>
          <p:cNvSpPr>
            <a:spLocks noGrp="1"/>
          </p:cNvSpPr>
          <p:nvPr>
            <p:ph type="title"/>
          </p:nvPr>
        </p:nvSpPr>
        <p:spPr/>
        <p:txBody>
          <a:bodyPr/>
          <a:lstStyle/>
          <a:p>
            <a:r>
              <a:rPr lang="fr-FR" dirty="0"/>
              <a:t>Du modèle supervisé au modèle non supervisé</a:t>
            </a:r>
          </a:p>
        </p:txBody>
      </p:sp>
      <p:sp>
        <p:nvSpPr>
          <p:cNvPr id="3" name="Espace réservé du texte 2">
            <a:extLst>
              <a:ext uri="{FF2B5EF4-FFF2-40B4-BE49-F238E27FC236}">
                <a16:creationId xmlns:a16="http://schemas.microsoft.com/office/drawing/2014/main" id="{CB26F9FC-01FF-B7F2-ED5E-28A73FD5257A}"/>
              </a:ext>
            </a:extLst>
          </p:cNvPr>
          <p:cNvSpPr>
            <a:spLocks noGrp="1"/>
          </p:cNvSpPr>
          <p:nvPr>
            <p:ph type="body" idx="1"/>
          </p:nvPr>
        </p:nvSpPr>
        <p:spPr>
          <a:xfrm>
            <a:off x="6895559" y="1528355"/>
            <a:ext cx="3757545" cy="4493622"/>
          </a:xfrm>
        </p:spPr>
        <p:txBody>
          <a:bodyPr>
            <a:noAutofit/>
          </a:bodyPr>
          <a:lstStyle/>
          <a:p>
            <a:r>
              <a:rPr lang="fr-FR" sz="1800" cap="none" dirty="0">
                <a:solidFill>
                  <a:schemeClr val="tx1">
                    <a:lumMod val="75000"/>
                    <a:lumOff val="25000"/>
                  </a:schemeClr>
                </a:solidFill>
                <a:latin typeface="Arial" panose="020B0604020202020204" pitchFamily="34" charset="0"/>
                <a:cs typeface="Arial" panose="020B0604020202020204" pitchFamily="34" charset="0"/>
              </a:rPr>
              <a:t>En utilisant un modèle de machine </a:t>
            </a:r>
            <a:r>
              <a:rPr lang="fr-FR" sz="1800" cap="none" dirty="0" err="1">
                <a:solidFill>
                  <a:schemeClr val="tx1">
                    <a:lumMod val="75000"/>
                    <a:lumOff val="25000"/>
                  </a:schemeClr>
                </a:solidFill>
                <a:latin typeface="Arial" panose="020B0604020202020204" pitchFamily="34" charset="0"/>
                <a:cs typeface="Arial" panose="020B0604020202020204" pitchFamily="34" charset="0"/>
              </a:rPr>
              <a:t>learning</a:t>
            </a:r>
            <a:r>
              <a:rPr lang="fr-FR" sz="1800" cap="none" dirty="0">
                <a:solidFill>
                  <a:schemeClr val="tx1">
                    <a:lumMod val="75000"/>
                    <a:lumOff val="25000"/>
                  </a:schemeClr>
                </a:solidFill>
                <a:latin typeface="Arial" panose="020B0604020202020204" pitchFamily="34" charset="0"/>
                <a:cs typeface="Arial" panose="020B0604020202020204" pitchFamily="34" charset="0"/>
              </a:rPr>
              <a:t> supervisé, j’ai remarqué un déséquilibre entre les classes, ce qui faisait que le modèle prédisait mieux la classe majoritaire « NO » que la classe minoritaire « YES ».</a:t>
            </a:r>
          </a:p>
          <a:p>
            <a:r>
              <a:rPr lang="fr-FR" sz="1800" cap="none" dirty="0">
                <a:solidFill>
                  <a:schemeClr val="tx1">
                    <a:lumMod val="75000"/>
                    <a:lumOff val="25000"/>
                  </a:schemeClr>
                </a:solidFill>
                <a:latin typeface="Arial" panose="020B0604020202020204" pitchFamily="34" charset="0"/>
                <a:cs typeface="Arial" panose="020B0604020202020204" pitchFamily="34" charset="0"/>
              </a:rPr>
              <a:t> Pour cette raison, j’ai ensuite choisi d’appliquer des méthodes non supervisées afin de mieux comprendre la structure des données.</a:t>
            </a:r>
          </a:p>
        </p:txBody>
      </p:sp>
    </p:spTree>
    <p:extLst>
      <p:ext uri="{BB962C8B-B14F-4D97-AF65-F5344CB8AC3E}">
        <p14:creationId xmlns:p14="http://schemas.microsoft.com/office/powerpoint/2010/main" val="6601987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DF9907F-A535-E363-2D3E-771962AB5263}"/>
              </a:ext>
            </a:extLst>
          </p:cNvPr>
          <p:cNvSpPr>
            <a:spLocks noGrp="1"/>
          </p:cNvSpPr>
          <p:nvPr>
            <p:ph type="title"/>
          </p:nvPr>
        </p:nvSpPr>
        <p:spPr/>
        <p:txBody>
          <a:bodyPr/>
          <a:lstStyle/>
          <a:p>
            <a:r>
              <a:rPr lang="fr-FR" dirty="0"/>
              <a:t>Model Non Superviser </a:t>
            </a:r>
            <a:r>
              <a:rPr lang="fr-FR" dirty="0" err="1"/>
              <a:t>KMeans</a:t>
            </a:r>
            <a:endParaRPr lang="fr-FR" dirty="0"/>
          </a:p>
        </p:txBody>
      </p:sp>
      <p:sp>
        <p:nvSpPr>
          <p:cNvPr id="3" name="Espace réservé du texte 2">
            <a:extLst>
              <a:ext uri="{FF2B5EF4-FFF2-40B4-BE49-F238E27FC236}">
                <a16:creationId xmlns:a16="http://schemas.microsoft.com/office/drawing/2014/main" id="{3D0A9E79-EC54-1C6A-0512-DA9674882D9C}"/>
              </a:ext>
            </a:extLst>
          </p:cNvPr>
          <p:cNvSpPr>
            <a:spLocks noGrp="1"/>
          </p:cNvSpPr>
          <p:nvPr>
            <p:ph type="body" idx="1"/>
          </p:nvPr>
        </p:nvSpPr>
        <p:spPr>
          <a:xfrm>
            <a:off x="793334" y="2084460"/>
            <a:ext cx="4472327" cy="693135"/>
          </a:xfrm>
        </p:spPr>
        <p:txBody>
          <a:bodyPr/>
          <a:lstStyle/>
          <a:p>
            <a:r>
              <a:rPr lang="fr-FR" dirty="0">
                <a:latin typeface="Arial" panose="020B0604020202020204" pitchFamily="34" charset="0"/>
                <a:cs typeface="Arial" panose="020B0604020202020204" pitchFamily="34" charset="0"/>
              </a:rPr>
              <a:t>Data </a:t>
            </a:r>
            <a:r>
              <a:rPr lang="fr-FR" dirty="0" err="1">
                <a:latin typeface="Arial" panose="020B0604020202020204" pitchFamily="34" charset="0"/>
                <a:cs typeface="Arial" panose="020B0604020202020204" pitchFamily="34" charset="0"/>
              </a:rPr>
              <a:t>Preparation</a:t>
            </a:r>
            <a:r>
              <a:rPr lang="fr-FR" dirty="0">
                <a:latin typeface="Arial" panose="020B0604020202020204" pitchFamily="34" charset="0"/>
                <a:cs typeface="Arial" panose="020B0604020202020204" pitchFamily="34" charset="0"/>
              </a:rPr>
              <a:t> </a:t>
            </a:r>
          </a:p>
        </p:txBody>
      </p:sp>
      <p:sp>
        <p:nvSpPr>
          <p:cNvPr id="4" name="Espace réservé du contenu 3">
            <a:extLst>
              <a:ext uri="{FF2B5EF4-FFF2-40B4-BE49-F238E27FC236}">
                <a16:creationId xmlns:a16="http://schemas.microsoft.com/office/drawing/2014/main" id="{01F71C93-C6F9-E422-66BC-1B34A52784C3}"/>
              </a:ext>
            </a:extLst>
          </p:cNvPr>
          <p:cNvSpPr>
            <a:spLocks noGrp="1"/>
          </p:cNvSpPr>
          <p:nvPr>
            <p:ph sz="half" idx="2"/>
          </p:nvPr>
        </p:nvSpPr>
        <p:spPr>
          <a:xfrm>
            <a:off x="757451" y="3181423"/>
            <a:ext cx="4825158" cy="2840039"/>
          </a:xfrm>
        </p:spPr>
        <p:txBody>
          <a:bodyPr>
            <a:normAutofit/>
          </a:bodyPr>
          <a:lstStyle/>
          <a:p>
            <a:r>
              <a:rPr lang="fr-FR" sz="1600" dirty="0">
                <a:effectLst/>
                <a:latin typeface="Arial" panose="020B0604020202020204" pitchFamily="34" charset="0"/>
                <a:cs typeface="Arial" panose="020B0604020202020204" pitchFamily="34" charset="0"/>
              </a:rPr>
              <a:t>Transformer les colonnes catégorielles de X en variables numériques</a:t>
            </a:r>
          </a:p>
          <a:p>
            <a:pPr marL="0" indent="0">
              <a:buNone/>
            </a:pPr>
            <a:endParaRPr lang="fr-FR" sz="1600" dirty="0">
              <a:latin typeface="Arial" panose="020B0604020202020204" pitchFamily="34" charset="0"/>
              <a:cs typeface="Arial" panose="020B0604020202020204" pitchFamily="34" charset="0"/>
            </a:endParaRPr>
          </a:p>
          <a:p>
            <a:r>
              <a:rPr lang="fr-FR" sz="1600" dirty="0">
                <a:latin typeface="Arial" panose="020B0604020202020204" pitchFamily="34" charset="0"/>
                <a:cs typeface="Arial" panose="020B0604020202020204" pitchFamily="34" charset="0"/>
              </a:rPr>
              <a:t>On a choisis les ‘ </a:t>
            </a:r>
            <a:r>
              <a:rPr lang="fr-FR" sz="1600" dirty="0" err="1">
                <a:latin typeface="Arial" panose="020B0604020202020204" pitchFamily="34" charset="0"/>
                <a:cs typeface="Arial" panose="020B0604020202020204" pitchFamily="34" charset="0"/>
              </a:rPr>
              <a:t>Feautres</a:t>
            </a:r>
            <a:r>
              <a:rPr lang="fr-FR" sz="1600" dirty="0">
                <a:latin typeface="Arial" panose="020B0604020202020204" pitchFamily="34" charset="0"/>
                <a:cs typeface="Arial" panose="020B0604020202020204" pitchFamily="34" charset="0"/>
              </a:rPr>
              <a:t>’  :</a:t>
            </a:r>
            <a:r>
              <a:rPr lang="en-US" sz="1600" dirty="0">
                <a:effectLst/>
                <a:latin typeface="Arial" panose="020B0604020202020204" pitchFamily="34" charset="0"/>
                <a:cs typeface="Arial" panose="020B0604020202020204" pitchFamily="34" charset="0"/>
              </a:rPr>
              <a:t>  "Age", "</a:t>
            </a:r>
            <a:r>
              <a:rPr lang="en-US" sz="1600" dirty="0" err="1">
                <a:effectLst/>
                <a:latin typeface="Arial" panose="020B0604020202020204" pitchFamily="34" charset="0"/>
                <a:cs typeface="Arial" panose="020B0604020202020204" pitchFamily="34" charset="0"/>
              </a:rPr>
              <a:t>DailyRate</a:t>
            </a:r>
            <a:r>
              <a:rPr lang="en-US" sz="1600" dirty="0">
                <a:effectLst/>
                <a:latin typeface="Arial" panose="020B0604020202020204" pitchFamily="34" charset="0"/>
                <a:cs typeface="Arial" panose="020B0604020202020204" pitchFamily="34" charset="0"/>
              </a:rPr>
              <a:t>","</a:t>
            </a:r>
            <a:r>
              <a:rPr lang="en-US" sz="1600" dirty="0" err="1">
                <a:effectLst/>
                <a:latin typeface="Arial" panose="020B0604020202020204" pitchFamily="34" charset="0"/>
                <a:cs typeface="Arial" panose="020B0604020202020204" pitchFamily="34" charset="0"/>
              </a:rPr>
              <a:t>DistanceFromHome</a:t>
            </a:r>
            <a:r>
              <a:rPr lang="en-US" sz="1600" dirty="0">
                <a:effectLst/>
                <a:latin typeface="Arial" panose="020B0604020202020204" pitchFamily="34" charset="0"/>
                <a:cs typeface="Arial" panose="020B0604020202020204" pitchFamily="34" charset="0"/>
              </a:rPr>
              <a:t>" , "Education", "</a:t>
            </a:r>
            <a:r>
              <a:rPr lang="en-US" sz="1600" dirty="0" err="1">
                <a:effectLst/>
                <a:latin typeface="Arial" panose="020B0604020202020204" pitchFamily="34" charset="0"/>
                <a:cs typeface="Arial" panose="020B0604020202020204" pitchFamily="34" charset="0"/>
              </a:rPr>
              <a:t>EmployeeCount</a:t>
            </a:r>
            <a:r>
              <a:rPr lang="en-US" sz="1600" dirty="0">
                <a:effectLst/>
                <a:latin typeface="Arial" panose="020B0604020202020204" pitchFamily="34" charset="0"/>
                <a:cs typeface="Arial" panose="020B0604020202020204" pitchFamily="34" charset="0"/>
              </a:rPr>
              <a:t>" ,"</a:t>
            </a:r>
            <a:r>
              <a:rPr lang="en-US" sz="1600" dirty="0" err="1">
                <a:effectLst/>
                <a:latin typeface="Arial" panose="020B0604020202020204" pitchFamily="34" charset="0"/>
                <a:cs typeface="Arial" panose="020B0604020202020204" pitchFamily="34" charset="0"/>
              </a:rPr>
              <a:t>EnvironmentSatisfaction</a:t>
            </a:r>
            <a:r>
              <a:rPr lang="en-US" sz="1600" dirty="0">
                <a:effectLst/>
                <a:latin typeface="Arial" panose="020B0604020202020204" pitchFamily="34" charset="0"/>
                <a:cs typeface="Arial" panose="020B0604020202020204" pitchFamily="34" charset="0"/>
              </a:rPr>
              <a:t>" , "</a:t>
            </a:r>
            <a:r>
              <a:rPr lang="en-US" sz="1600" dirty="0" err="1">
                <a:effectLst/>
                <a:latin typeface="Arial" panose="020B0604020202020204" pitchFamily="34" charset="0"/>
                <a:cs typeface="Arial" panose="020B0604020202020204" pitchFamily="34" charset="0"/>
              </a:rPr>
              <a:t>MonthlyIncome</a:t>
            </a:r>
            <a:r>
              <a:rPr lang="en-US" sz="1600" dirty="0">
                <a:effectLst/>
                <a:latin typeface="Arial" panose="020B0604020202020204" pitchFamily="34" charset="0"/>
                <a:cs typeface="Arial" panose="020B0604020202020204" pitchFamily="34" charset="0"/>
              </a:rPr>
              <a:t>", "</a:t>
            </a:r>
            <a:r>
              <a:rPr lang="en-US" sz="1600" dirty="0" err="1">
                <a:effectLst/>
                <a:latin typeface="Arial" panose="020B0604020202020204" pitchFamily="34" charset="0"/>
                <a:cs typeface="Arial" panose="020B0604020202020204" pitchFamily="34" charset="0"/>
              </a:rPr>
              <a:t>TotalWorkingYears</a:t>
            </a:r>
            <a:r>
              <a:rPr lang="en-US" sz="1600" dirty="0">
                <a:effectLst/>
                <a:latin typeface="Arial" panose="020B0604020202020204" pitchFamily="34" charset="0"/>
                <a:cs typeface="Arial" panose="020B0604020202020204" pitchFamily="34" charset="0"/>
              </a:rPr>
              <a:t>", "</a:t>
            </a:r>
            <a:r>
              <a:rPr lang="en-US" sz="1600" dirty="0" err="1">
                <a:effectLst/>
                <a:latin typeface="Arial" panose="020B0604020202020204" pitchFamily="34" charset="0"/>
                <a:cs typeface="Arial" panose="020B0604020202020204" pitchFamily="34" charset="0"/>
              </a:rPr>
              <a:t>OverTime_Yes</a:t>
            </a:r>
            <a:r>
              <a:rPr lang="en-US" sz="1600" dirty="0">
                <a:effectLst/>
                <a:latin typeface="Arial" panose="020B0604020202020204" pitchFamily="34" charset="0"/>
                <a:cs typeface="Arial" panose="020B0604020202020204" pitchFamily="34" charset="0"/>
              </a:rPr>
              <a:t>"</a:t>
            </a:r>
            <a:br>
              <a:rPr lang="en-US" dirty="0">
                <a:effectLst/>
              </a:rPr>
            </a:br>
            <a:endParaRPr lang="en-US" dirty="0">
              <a:effectLst/>
            </a:endParaRPr>
          </a:p>
          <a:p>
            <a:endParaRPr lang="fr-FR" dirty="0"/>
          </a:p>
        </p:txBody>
      </p:sp>
      <p:sp>
        <p:nvSpPr>
          <p:cNvPr id="6" name="Espace réservé du contenu 5">
            <a:extLst>
              <a:ext uri="{FF2B5EF4-FFF2-40B4-BE49-F238E27FC236}">
                <a16:creationId xmlns:a16="http://schemas.microsoft.com/office/drawing/2014/main" id="{1C2D5AA9-B012-BCD9-AA95-8DEE1ABDE833}"/>
              </a:ext>
            </a:extLst>
          </p:cNvPr>
          <p:cNvSpPr>
            <a:spLocks noGrp="1"/>
          </p:cNvSpPr>
          <p:nvPr>
            <p:ph sz="quarter" idx="4"/>
          </p:nvPr>
        </p:nvSpPr>
        <p:spPr>
          <a:xfrm>
            <a:off x="5963460" y="3066504"/>
            <a:ext cx="4700059" cy="2906179"/>
          </a:xfrm>
        </p:spPr>
        <p:txBody>
          <a:bodyPr>
            <a:normAutofit/>
          </a:bodyPr>
          <a:lstStyle/>
          <a:p>
            <a:r>
              <a:rPr lang="fr-FR" sz="1500" dirty="0">
                <a:latin typeface="Arial" panose="020B0604020202020204" pitchFamily="34" charset="0"/>
                <a:cs typeface="Arial" panose="020B0604020202020204" pitchFamily="34" charset="0"/>
              </a:rPr>
              <a:t>On a fait une copie de notre Data pour l’entrainer sur le Model </a:t>
            </a:r>
            <a:r>
              <a:rPr lang="fr-FR" sz="1500" dirty="0" err="1">
                <a:latin typeface="Arial" panose="020B0604020202020204" pitchFamily="34" charset="0"/>
                <a:cs typeface="Arial" panose="020B0604020202020204" pitchFamily="34" charset="0"/>
              </a:rPr>
              <a:t>Kmeans</a:t>
            </a:r>
            <a:endParaRPr lang="fr-FR" sz="1500" dirty="0">
              <a:latin typeface="Arial" panose="020B0604020202020204" pitchFamily="34" charset="0"/>
              <a:cs typeface="Arial" panose="020B0604020202020204" pitchFamily="34" charset="0"/>
            </a:endParaRPr>
          </a:p>
          <a:p>
            <a:endParaRPr lang="fr-FR" sz="1500" dirty="0">
              <a:latin typeface="Arial" panose="020B0604020202020204" pitchFamily="34" charset="0"/>
              <a:cs typeface="Arial" panose="020B0604020202020204" pitchFamily="34" charset="0"/>
            </a:endParaRPr>
          </a:p>
          <a:p>
            <a:r>
              <a:rPr lang="fr-FR" sz="1500" dirty="0">
                <a:latin typeface="Arial" panose="020B0604020202020204" pitchFamily="34" charset="0"/>
                <a:cs typeface="Arial" panose="020B0604020202020204" pitchFamily="34" charset="0"/>
              </a:rPr>
              <a:t>Transformer les données moyenne 0,ecart-type 1 ( </a:t>
            </a:r>
            <a:r>
              <a:rPr lang="fr-FR" sz="1500" dirty="0" err="1">
                <a:latin typeface="Arial" panose="020B0604020202020204" pitchFamily="34" charset="0"/>
                <a:cs typeface="Arial" panose="020B0604020202020204" pitchFamily="34" charset="0"/>
              </a:rPr>
              <a:t>Kmeans</a:t>
            </a:r>
            <a:r>
              <a:rPr lang="fr-FR" sz="1500" dirty="0">
                <a:latin typeface="Arial" panose="020B0604020202020204" pitchFamily="34" charset="0"/>
                <a:cs typeface="Arial" panose="020B0604020202020204" pitchFamily="34" charset="0"/>
              </a:rPr>
              <a:t> Fonctionne avec Distance) </a:t>
            </a:r>
          </a:p>
          <a:p>
            <a:endParaRPr lang="fr-FR" sz="1500" dirty="0">
              <a:latin typeface="Arial" panose="020B0604020202020204" pitchFamily="34" charset="0"/>
              <a:cs typeface="Arial" panose="020B0604020202020204" pitchFamily="34" charset="0"/>
            </a:endParaRPr>
          </a:p>
          <a:p>
            <a:r>
              <a:rPr lang="fr-FR" sz="1500" dirty="0">
                <a:latin typeface="Arial" panose="020B0604020202020204" pitchFamily="34" charset="0"/>
                <a:cs typeface="Arial" panose="020B0604020202020204" pitchFamily="34" charset="0"/>
              </a:rPr>
              <a:t>On a Entrainer notre sur un intervalle de rang entre 2 et 10 max </a:t>
            </a:r>
          </a:p>
        </p:txBody>
      </p:sp>
      <p:sp>
        <p:nvSpPr>
          <p:cNvPr id="7" name="Rectangle : coins arrondis 6">
            <a:extLst>
              <a:ext uri="{FF2B5EF4-FFF2-40B4-BE49-F238E27FC236}">
                <a16:creationId xmlns:a16="http://schemas.microsoft.com/office/drawing/2014/main" id="{50903F81-45BE-215D-704F-597306CBCA9B}"/>
              </a:ext>
            </a:extLst>
          </p:cNvPr>
          <p:cNvSpPr/>
          <p:nvPr/>
        </p:nvSpPr>
        <p:spPr>
          <a:xfrm>
            <a:off x="717239" y="3028949"/>
            <a:ext cx="4698358" cy="799044"/>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F8B94F15-ACDA-353B-D692-7E0CDA95E24C}"/>
              </a:ext>
            </a:extLst>
          </p:cNvPr>
          <p:cNvSpPr/>
          <p:nvPr/>
        </p:nvSpPr>
        <p:spPr>
          <a:xfrm>
            <a:off x="680319" y="3945961"/>
            <a:ext cx="4698358" cy="191324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Flèche : courbe vers la droite 8">
            <a:extLst>
              <a:ext uri="{FF2B5EF4-FFF2-40B4-BE49-F238E27FC236}">
                <a16:creationId xmlns:a16="http://schemas.microsoft.com/office/drawing/2014/main" id="{6289DD64-1292-9008-2D3D-7D0BA3ACA39A}"/>
              </a:ext>
            </a:extLst>
          </p:cNvPr>
          <p:cNvSpPr/>
          <p:nvPr/>
        </p:nvSpPr>
        <p:spPr>
          <a:xfrm>
            <a:off x="312682" y="3252866"/>
            <a:ext cx="367637" cy="1080937"/>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0" name="Rectangle : coins arrondis 9">
            <a:extLst>
              <a:ext uri="{FF2B5EF4-FFF2-40B4-BE49-F238E27FC236}">
                <a16:creationId xmlns:a16="http://schemas.microsoft.com/office/drawing/2014/main" id="{36495C8F-B338-3EBC-1949-D445CE08376C}"/>
              </a:ext>
            </a:extLst>
          </p:cNvPr>
          <p:cNvSpPr/>
          <p:nvPr/>
        </p:nvSpPr>
        <p:spPr>
          <a:xfrm>
            <a:off x="5893927" y="2903413"/>
            <a:ext cx="5063884" cy="9049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coins arrondis 10">
            <a:extLst>
              <a:ext uri="{FF2B5EF4-FFF2-40B4-BE49-F238E27FC236}">
                <a16:creationId xmlns:a16="http://schemas.microsoft.com/office/drawing/2014/main" id="{EC8DE9CE-B508-CD48-FE07-130748F06D30}"/>
              </a:ext>
            </a:extLst>
          </p:cNvPr>
          <p:cNvSpPr/>
          <p:nvPr/>
        </p:nvSpPr>
        <p:spPr>
          <a:xfrm>
            <a:off x="5854887" y="4954290"/>
            <a:ext cx="5063884" cy="9049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Flèche : courbe vers la droite 11">
            <a:extLst>
              <a:ext uri="{FF2B5EF4-FFF2-40B4-BE49-F238E27FC236}">
                <a16:creationId xmlns:a16="http://schemas.microsoft.com/office/drawing/2014/main" id="{3CDE0B2A-D852-2BF6-D3C3-9C081BCDBF14}"/>
              </a:ext>
            </a:extLst>
          </p:cNvPr>
          <p:cNvSpPr/>
          <p:nvPr/>
        </p:nvSpPr>
        <p:spPr>
          <a:xfrm>
            <a:off x="5487250" y="3521865"/>
            <a:ext cx="367637" cy="1080937"/>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3" name="Rectangle : coins arrondis 12">
            <a:extLst>
              <a:ext uri="{FF2B5EF4-FFF2-40B4-BE49-F238E27FC236}">
                <a16:creationId xmlns:a16="http://schemas.microsoft.com/office/drawing/2014/main" id="{6651D8C5-DD9B-1C77-036D-4DE92944131A}"/>
              </a:ext>
            </a:extLst>
          </p:cNvPr>
          <p:cNvSpPr/>
          <p:nvPr/>
        </p:nvSpPr>
        <p:spPr>
          <a:xfrm>
            <a:off x="5893927" y="3902941"/>
            <a:ext cx="5063884" cy="9049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Flèche : courbe vers la droite 13">
            <a:extLst>
              <a:ext uri="{FF2B5EF4-FFF2-40B4-BE49-F238E27FC236}">
                <a16:creationId xmlns:a16="http://schemas.microsoft.com/office/drawing/2014/main" id="{0DAD08D0-20B3-B7B9-F77F-3DCF1DAE590E}"/>
              </a:ext>
            </a:extLst>
          </p:cNvPr>
          <p:cNvSpPr/>
          <p:nvPr/>
        </p:nvSpPr>
        <p:spPr>
          <a:xfrm>
            <a:off x="5475142" y="4483366"/>
            <a:ext cx="367637" cy="1080937"/>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768061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434382-144D-0723-4C8D-F87B038E9D8B}"/>
              </a:ext>
            </a:extLst>
          </p:cNvPr>
          <p:cNvSpPr>
            <a:spLocks noGrp="1"/>
          </p:cNvSpPr>
          <p:nvPr>
            <p:ph type="title"/>
          </p:nvPr>
        </p:nvSpPr>
        <p:spPr>
          <a:xfrm>
            <a:off x="815320" y="838199"/>
            <a:ext cx="8761413" cy="706964"/>
          </a:xfrm>
        </p:spPr>
        <p:txBody>
          <a:bodyPr>
            <a:normAutofit fontScale="90000"/>
          </a:bodyPr>
          <a:lstStyle/>
          <a:p>
            <a:r>
              <a:rPr lang="fr-FR" dirty="0"/>
              <a:t>Méthode du Coude(</a:t>
            </a:r>
            <a:r>
              <a:rPr lang="fr-FR" dirty="0" err="1"/>
              <a:t>Elbow</a:t>
            </a:r>
            <a:r>
              <a:rPr lang="fr-FR" dirty="0"/>
              <a:t> Method)</a:t>
            </a:r>
            <a:br>
              <a:rPr lang="fr-FR" dirty="0"/>
            </a:br>
            <a:endParaRPr lang="fr-FR" dirty="0"/>
          </a:p>
        </p:txBody>
      </p:sp>
      <p:pic>
        <p:nvPicPr>
          <p:cNvPr id="8" name="Espace réservé pour une image  7">
            <a:extLst>
              <a:ext uri="{FF2B5EF4-FFF2-40B4-BE49-F238E27FC236}">
                <a16:creationId xmlns:a16="http://schemas.microsoft.com/office/drawing/2014/main" id="{635957CA-BF8D-E250-76DB-68F37F9A7C98}"/>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496390" y="2508069"/>
            <a:ext cx="5486899" cy="3511731"/>
          </a:xfrm>
        </p:spPr>
      </p:pic>
      <p:sp>
        <p:nvSpPr>
          <p:cNvPr id="5" name="Espace réservé du contenu 4">
            <a:extLst>
              <a:ext uri="{FF2B5EF4-FFF2-40B4-BE49-F238E27FC236}">
                <a16:creationId xmlns:a16="http://schemas.microsoft.com/office/drawing/2014/main" id="{5D9C9063-5A09-4115-6B48-65FD015D9F43}"/>
              </a:ext>
            </a:extLst>
          </p:cNvPr>
          <p:cNvSpPr>
            <a:spLocks noGrp="1"/>
          </p:cNvSpPr>
          <p:nvPr>
            <p:ph sz="quarter" idx="4"/>
          </p:nvPr>
        </p:nvSpPr>
        <p:spPr>
          <a:xfrm>
            <a:off x="6208712" y="2612572"/>
            <a:ext cx="4825159" cy="3407230"/>
          </a:xfrm>
        </p:spPr>
        <p:txBody>
          <a:bodyPr>
            <a:normAutofit fontScale="62500" lnSpcReduction="20000"/>
          </a:bodyPr>
          <a:lstStyle/>
          <a:p>
            <a:pPr marL="0" indent="0">
              <a:lnSpc>
                <a:spcPct val="110000"/>
              </a:lnSpc>
              <a:buNone/>
            </a:pPr>
            <a:r>
              <a:rPr lang="fr-FR" sz="2100" dirty="0">
                <a:latin typeface="Arial" panose="020B0604020202020204" pitchFamily="34" charset="0"/>
                <a:cs typeface="Arial" panose="020B0604020202020204" pitchFamily="34" charset="0"/>
              </a:rPr>
              <a:t>Ce graphique représente la courbe d’inertie en fonction du nombre de clusters selon la méthode du coude (</a:t>
            </a:r>
            <a:r>
              <a:rPr lang="fr-FR" sz="2100" dirty="0" err="1">
                <a:latin typeface="Arial" panose="020B0604020202020204" pitchFamily="34" charset="0"/>
                <a:cs typeface="Arial" panose="020B0604020202020204" pitchFamily="34" charset="0"/>
              </a:rPr>
              <a:t>Elbow</a:t>
            </a:r>
            <a:r>
              <a:rPr lang="fr-FR" sz="2100" dirty="0">
                <a:latin typeface="Arial" panose="020B0604020202020204" pitchFamily="34" charset="0"/>
                <a:cs typeface="Arial" panose="020B0604020202020204" pitchFamily="34" charset="0"/>
              </a:rPr>
              <a:t> Method).</a:t>
            </a:r>
          </a:p>
          <a:p>
            <a:pPr>
              <a:lnSpc>
                <a:spcPct val="110000"/>
              </a:lnSpc>
            </a:pPr>
            <a:r>
              <a:rPr lang="fr-FR" sz="2100" dirty="0">
                <a:latin typeface="Arial" panose="020B0604020202020204" pitchFamily="34" charset="0"/>
                <a:cs typeface="Arial" panose="020B0604020202020204" pitchFamily="34" charset="0"/>
              </a:rPr>
              <a:t>On observe une forte diminution de l’inertie entre 2 et 3 clusters, ce qui indique une amélioration importante de la qualité du regroupement.</a:t>
            </a:r>
          </a:p>
          <a:p>
            <a:pPr>
              <a:lnSpc>
                <a:spcPct val="110000"/>
              </a:lnSpc>
            </a:pPr>
            <a:r>
              <a:rPr lang="fr-FR" sz="2100" dirty="0">
                <a:latin typeface="Arial" panose="020B0604020202020204" pitchFamily="34" charset="0"/>
                <a:cs typeface="Arial" panose="020B0604020202020204" pitchFamily="34" charset="0"/>
              </a:rPr>
              <a:t>Après 3 clusters, la pente de la courbe devient moins raide. Entre 3 et 5 clusters, la diminution de l’inertie continue mais à un rythme plus lent.</a:t>
            </a:r>
          </a:p>
          <a:p>
            <a:pPr>
              <a:lnSpc>
                <a:spcPct val="110000"/>
              </a:lnSpc>
            </a:pPr>
            <a:r>
              <a:rPr lang="fr-FR" sz="2100" dirty="0">
                <a:latin typeface="Arial" panose="020B0604020202020204" pitchFamily="34" charset="0"/>
                <a:cs typeface="Arial" panose="020B0604020202020204" pitchFamily="34" charset="0"/>
              </a:rPr>
              <a:t>À partir de 5 clusters, la courbe commence à s’aplatir davantage, ce qui signifie que l’ajout de nouveaux clusters n’améliore que très légèrement la qualité du clustering.</a:t>
            </a:r>
          </a:p>
          <a:p>
            <a:pPr>
              <a:lnSpc>
                <a:spcPct val="110000"/>
              </a:lnSpc>
            </a:pPr>
            <a:r>
              <a:rPr lang="fr-FR" sz="2100" dirty="0">
                <a:latin typeface="Arial" panose="020B0604020202020204" pitchFamily="34" charset="0"/>
                <a:cs typeface="Arial" panose="020B0604020202020204" pitchFamily="34" charset="0"/>
              </a:rPr>
              <a:t>Ainsi, le point du coude se situe autour de 5 clusters, ce qui suggère que 5 est un nombre optimal de groupes pour segmenter les employés..</a:t>
            </a:r>
          </a:p>
          <a:p>
            <a:endParaRPr lang="fr-FR" dirty="0"/>
          </a:p>
        </p:txBody>
      </p:sp>
    </p:spTree>
    <p:extLst>
      <p:ext uri="{BB962C8B-B14F-4D97-AF65-F5344CB8AC3E}">
        <p14:creationId xmlns:p14="http://schemas.microsoft.com/office/powerpoint/2010/main" val="16636220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D41174-E59A-63D8-C984-23EF71E1863C}"/>
              </a:ext>
            </a:extLst>
          </p:cNvPr>
          <p:cNvSpPr>
            <a:spLocks noGrp="1"/>
          </p:cNvSpPr>
          <p:nvPr>
            <p:ph type="title"/>
          </p:nvPr>
        </p:nvSpPr>
        <p:spPr/>
        <p:txBody>
          <a:bodyPr>
            <a:normAutofit fontScale="90000"/>
          </a:bodyPr>
          <a:lstStyle/>
          <a:p>
            <a:r>
              <a:rPr lang="fr-FR" dirty="0"/>
              <a:t>Segmentation des employés avec K-</a:t>
            </a:r>
            <a:r>
              <a:rPr lang="fr-FR" dirty="0" err="1"/>
              <a:t>Means</a:t>
            </a:r>
            <a:r>
              <a:rPr lang="fr-FR" dirty="0"/>
              <a:t> (visualisation PCA)</a:t>
            </a:r>
          </a:p>
        </p:txBody>
      </p:sp>
      <p:pic>
        <p:nvPicPr>
          <p:cNvPr id="6" name="Espace réservé pour une image  5">
            <a:extLst>
              <a:ext uri="{FF2B5EF4-FFF2-40B4-BE49-F238E27FC236}">
                <a16:creationId xmlns:a16="http://schemas.microsoft.com/office/drawing/2014/main" id="{2EFA7FF8-3F7D-FCC9-49ED-53139ED3CDDD}"/>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509452" y="2520495"/>
            <a:ext cx="5473837" cy="4087133"/>
          </a:xfrm>
        </p:spPr>
      </p:pic>
      <p:sp>
        <p:nvSpPr>
          <p:cNvPr id="5" name="Espace réservé du contenu 4">
            <a:extLst>
              <a:ext uri="{FF2B5EF4-FFF2-40B4-BE49-F238E27FC236}">
                <a16:creationId xmlns:a16="http://schemas.microsoft.com/office/drawing/2014/main" id="{28A3ABB6-F013-9497-FB20-9D39F8AC48C9}"/>
              </a:ext>
            </a:extLst>
          </p:cNvPr>
          <p:cNvSpPr>
            <a:spLocks noGrp="1"/>
          </p:cNvSpPr>
          <p:nvPr>
            <p:ph sz="quarter" idx="4"/>
          </p:nvPr>
        </p:nvSpPr>
        <p:spPr/>
        <p:txBody>
          <a:bodyPr>
            <a:normAutofit/>
          </a:bodyPr>
          <a:lstStyle/>
          <a:p>
            <a:pPr marL="0" indent="0">
              <a:lnSpc>
                <a:spcPct val="110000"/>
              </a:lnSpc>
              <a:buNone/>
            </a:pPr>
            <a:r>
              <a:rPr lang="fr-FR" sz="1500" dirty="0">
                <a:latin typeface="Arial" panose="020B0604020202020204" pitchFamily="34" charset="0"/>
                <a:cs typeface="Arial" panose="020B0604020202020204" pitchFamily="34" charset="0"/>
              </a:rPr>
              <a:t>Ce graphique représente la segmentation des employés obtenue à partir de l’algorithme K-</a:t>
            </a:r>
            <a:r>
              <a:rPr lang="fr-FR" sz="1500" dirty="0" err="1">
                <a:latin typeface="Arial" panose="020B0604020202020204" pitchFamily="34" charset="0"/>
                <a:cs typeface="Arial" panose="020B0604020202020204" pitchFamily="34" charset="0"/>
              </a:rPr>
              <a:t>Means</a:t>
            </a:r>
            <a:r>
              <a:rPr lang="fr-FR" sz="1500" dirty="0">
                <a:latin typeface="Arial" panose="020B0604020202020204" pitchFamily="34" charset="0"/>
                <a:cs typeface="Arial" panose="020B0604020202020204" pitchFamily="34" charset="0"/>
              </a:rPr>
              <a:t>.</a:t>
            </a:r>
          </a:p>
          <a:p>
            <a:pPr>
              <a:lnSpc>
                <a:spcPct val="110000"/>
              </a:lnSpc>
            </a:pPr>
            <a:r>
              <a:rPr lang="fr-FR" sz="1500" dirty="0">
                <a:latin typeface="Arial" panose="020B0604020202020204" pitchFamily="34" charset="0"/>
                <a:cs typeface="Arial" panose="020B0604020202020204" pitchFamily="34" charset="0"/>
              </a:rPr>
              <a:t>Les données ont été réduites à deux dimensions (PC1 et PC2) grâce à la méthode PCA afin de visualiser les clusters dans un espace bidimensionnel.</a:t>
            </a:r>
          </a:p>
          <a:p>
            <a:pPr>
              <a:lnSpc>
                <a:spcPct val="110000"/>
              </a:lnSpc>
            </a:pPr>
            <a:r>
              <a:rPr lang="fr-FR" sz="1500" dirty="0">
                <a:latin typeface="Arial" panose="020B0604020202020204" pitchFamily="34" charset="0"/>
                <a:cs typeface="Arial" panose="020B0604020202020204" pitchFamily="34" charset="0"/>
              </a:rPr>
              <a:t>Chaque point correspond à un employé, et chaque couleur représente un cluster différent.</a:t>
            </a:r>
          </a:p>
          <a:p>
            <a:endParaRPr lang="fr-FR" dirty="0"/>
          </a:p>
        </p:txBody>
      </p:sp>
    </p:spTree>
    <p:extLst>
      <p:ext uri="{BB962C8B-B14F-4D97-AF65-F5344CB8AC3E}">
        <p14:creationId xmlns:p14="http://schemas.microsoft.com/office/powerpoint/2010/main" val="752885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7F5C411-35F8-800A-8B4A-53D7280CE8FE}"/>
              </a:ext>
            </a:extLst>
          </p:cNvPr>
          <p:cNvSpPr>
            <a:spLocks noGrp="1"/>
          </p:cNvSpPr>
          <p:nvPr>
            <p:ph type="title"/>
          </p:nvPr>
        </p:nvSpPr>
        <p:spPr/>
        <p:txBody>
          <a:bodyPr/>
          <a:lstStyle/>
          <a:p>
            <a:r>
              <a:rPr lang="fr-FR" dirty="0"/>
              <a:t>Observation </a:t>
            </a:r>
          </a:p>
        </p:txBody>
      </p:sp>
      <p:sp>
        <p:nvSpPr>
          <p:cNvPr id="3" name="Espace réservé du contenu 2">
            <a:extLst>
              <a:ext uri="{FF2B5EF4-FFF2-40B4-BE49-F238E27FC236}">
                <a16:creationId xmlns:a16="http://schemas.microsoft.com/office/drawing/2014/main" id="{5D96287C-816E-AB69-604E-EE99EF10AB41}"/>
              </a:ext>
            </a:extLst>
          </p:cNvPr>
          <p:cNvSpPr>
            <a:spLocks noGrp="1"/>
          </p:cNvSpPr>
          <p:nvPr>
            <p:ph idx="1"/>
          </p:nvPr>
        </p:nvSpPr>
        <p:spPr>
          <a:xfrm>
            <a:off x="680321" y="2336873"/>
            <a:ext cx="9939553" cy="3599316"/>
          </a:xfrm>
        </p:spPr>
        <p:txBody>
          <a:bodyPr>
            <a:normAutofit/>
          </a:bodyPr>
          <a:lstStyle/>
          <a:p>
            <a:pPr marL="0" indent="0">
              <a:buNone/>
            </a:pPr>
            <a:r>
              <a:rPr lang="fr-FR" dirty="0">
                <a:latin typeface="Arial" panose="020B0604020202020204" pitchFamily="34" charset="0"/>
                <a:cs typeface="Arial" panose="020B0604020202020204" pitchFamily="34" charset="0"/>
              </a:rPr>
              <a:t>On observe </a:t>
            </a:r>
            <a:r>
              <a:rPr lang="fr-FR" b="1" dirty="0">
                <a:latin typeface="Arial" panose="020B0604020202020204" pitchFamily="34" charset="0"/>
                <a:cs typeface="Arial" panose="020B0604020202020204" pitchFamily="34" charset="0"/>
              </a:rPr>
              <a:t>trois groupes principaux d’employés</a:t>
            </a:r>
            <a:r>
              <a:rPr lang="fr-FR" dirty="0">
                <a:latin typeface="Arial" panose="020B0604020202020204" pitchFamily="34" charset="0"/>
                <a:cs typeface="Arial" panose="020B0604020202020204" pitchFamily="34" charset="0"/>
              </a:rPr>
              <a:t> :</a:t>
            </a:r>
          </a:p>
          <a:p>
            <a:pPr marL="0" indent="0">
              <a:buNone/>
            </a:pPr>
            <a:endParaRPr lang="fr-FR" dirty="0">
              <a:latin typeface="Arial" panose="020B0604020202020204" pitchFamily="34" charset="0"/>
              <a:cs typeface="Arial" panose="020B0604020202020204" pitchFamily="34" charset="0"/>
            </a:endParaRPr>
          </a:p>
          <a:p>
            <a:r>
              <a:rPr lang="fr-FR" dirty="0">
                <a:latin typeface="Arial" panose="020B0604020202020204" pitchFamily="34" charset="0"/>
                <a:cs typeface="Arial" panose="020B0604020202020204" pitchFamily="34" charset="0"/>
              </a:rPr>
              <a:t>🔵 </a:t>
            </a:r>
            <a:r>
              <a:rPr lang="fr-FR" b="1" dirty="0">
                <a:latin typeface="Arial" panose="020B0604020202020204" pitchFamily="34" charset="0"/>
                <a:cs typeface="Arial" panose="020B0604020202020204" pitchFamily="34" charset="0"/>
              </a:rPr>
              <a:t>Cluster bleu</a:t>
            </a:r>
            <a:r>
              <a:rPr lang="fr-FR" dirty="0">
                <a:latin typeface="Arial" panose="020B0604020202020204" pitchFamily="34" charset="0"/>
                <a:cs typeface="Arial" panose="020B0604020202020204" pitchFamily="34" charset="0"/>
              </a:rPr>
              <a:t> : groupe le plus dense, représentant la majorité des employés</a:t>
            </a:r>
          </a:p>
          <a:p>
            <a:r>
              <a:rPr lang="fr-FR" dirty="0">
                <a:latin typeface="Arial" panose="020B0604020202020204" pitchFamily="34" charset="0"/>
                <a:cs typeface="Arial" panose="020B0604020202020204" pitchFamily="34" charset="0"/>
              </a:rPr>
              <a:t>🟤 </a:t>
            </a:r>
            <a:r>
              <a:rPr lang="fr-FR" b="1" dirty="0">
                <a:latin typeface="Arial" panose="020B0604020202020204" pitchFamily="34" charset="0"/>
                <a:cs typeface="Arial" panose="020B0604020202020204" pitchFamily="34" charset="0"/>
              </a:rPr>
              <a:t>Cluster marron</a:t>
            </a:r>
            <a:r>
              <a:rPr lang="fr-FR" dirty="0">
                <a:latin typeface="Arial" panose="020B0604020202020204" pitchFamily="34" charset="0"/>
                <a:cs typeface="Arial" panose="020B0604020202020204" pitchFamily="34" charset="0"/>
              </a:rPr>
              <a:t> : groupe distinct avec des caractéristiques similaires entre eux</a:t>
            </a:r>
          </a:p>
          <a:p>
            <a:r>
              <a:rPr lang="fr-FR" dirty="0">
                <a:latin typeface="Arial" panose="020B0604020202020204" pitchFamily="34" charset="0"/>
                <a:cs typeface="Arial" panose="020B0604020202020204" pitchFamily="34" charset="0"/>
              </a:rPr>
              <a:t>🟢 </a:t>
            </a:r>
            <a:r>
              <a:rPr lang="fr-FR" b="1" dirty="0">
                <a:latin typeface="Arial" panose="020B0604020202020204" pitchFamily="34" charset="0"/>
                <a:cs typeface="Arial" panose="020B0604020202020204" pitchFamily="34" charset="0"/>
              </a:rPr>
              <a:t>Cluster vert/turquoise</a:t>
            </a:r>
            <a:r>
              <a:rPr lang="fr-FR" dirty="0">
                <a:latin typeface="Arial" panose="020B0604020202020204" pitchFamily="34" charset="0"/>
                <a:cs typeface="Arial" panose="020B0604020202020204" pitchFamily="34" charset="0"/>
              </a:rPr>
              <a:t> : groupe plus séparé des autres</a:t>
            </a:r>
          </a:p>
          <a:p>
            <a:pPr marL="0" indent="0">
              <a:buNone/>
            </a:pPr>
            <a:endParaRPr lang="fr-FR" dirty="0">
              <a:latin typeface="Arial" panose="020B0604020202020204" pitchFamily="34" charset="0"/>
              <a:cs typeface="Arial" panose="020B0604020202020204" pitchFamily="34" charset="0"/>
            </a:endParaRPr>
          </a:p>
          <a:p>
            <a:pPr marL="0" indent="0">
              <a:buNone/>
            </a:pPr>
            <a:r>
              <a:rPr lang="fr-FR" dirty="0">
                <a:latin typeface="Arial" panose="020B0604020202020204" pitchFamily="34" charset="0"/>
                <a:cs typeface="Arial" panose="020B0604020202020204" pitchFamily="34" charset="0"/>
              </a:rPr>
              <a:t>        Cela signifie que les employés peuvent être </a:t>
            </a:r>
            <a:r>
              <a:rPr lang="fr-FR" b="1" dirty="0">
                <a:latin typeface="Arial" panose="020B0604020202020204" pitchFamily="34" charset="0"/>
                <a:cs typeface="Arial" panose="020B0604020202020204" pitchFamily="34" charset="0"/>
              </a:rPr>
              <a:t>segmentés en plusieurs profils différents</a:t>
            </a:r>
            <a:r>
              <a:rPr lang="fr-FR" dirty="0">
                <a:latin typeface="Arial" panose="020B0604020202020204" pitchFamily="34" charset="0"/>
                <a:cs typeface="Arial" panose="020B0604020202020204" pitchFamily="34" charset="0"/>
              </a:rPr>
              <a:t> selon leurs caractéristiques.</a:t>
            </a:r>
          </a:p>
        </p:txBody>
      </p:sp>
      <p:sp>
        <p:nvSpPr>
          <p:cNvPr id="4" name="Flèche : droite 3">
            <a:extLst>
              <a:ext uri="{FF2B5EF4-FFF2-40B4-BE49-F238E27FC236}">
                <a16:creationId xmlns:a16="http://schemas.microsoft.com/office/drawing/2014/main" id="{84ED4740-43C8-2616-2B44-7F260D27A2AB}"/>
              </a:ext>
            </a:extLst>
          </p:cNvPr>
          <p:cNvSpPr/>
          <p:nvPr/>
        </p:nvSpPr>
        <p:spPr>
          <a:xfrm>
            <a:off x="809897" y="4820193"/>
            <a:ext cx="345057" cy="26728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7816014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BAD09C-80C5-87FD-8056-9BB39B435B59}"/>
              </a:ext>
            </a:extLst>
          </p:cNvPr>
          <p:cNvSpPr>
            <a:spLocks noGrp="1"/>
          </p:cNvSpPr>
          <p:nvPr>
            <p:ph type="title"/>
          </p:nvPr>
        </p:nvSpPr>
        <p:spPr/>
        <p:txBody>
          <a:bodyPr/>
          <a:lstStyle/>
          <a:p>
            <a:r>
              <a:rPr lang="fr-FR" dirty="0"/>
              <a:t>Interprétation </a:t>
            </a:r>
          </a:p>
        </p:txBody>
      </p:sp>
      <p:sp>
        <p:nvSpPr>
          <p:cNvPr id="3" name="Espace réservé du texte 2">
            <a:extLst>
              <a:ext uri="{FF2B5EF4-FFF2-40B4-BE49-F238E27FC236}">
                <a16:creationId xmlns:a16="http://schemas.microsoft.com/office/drawing/2014/main" id="{A8ED9600-4C17-3B64-429B-8D6C51B2310F}"/>
              </a:ext>
            </a:extLst>
          </p:cNvPr>
          <p:cNvSpPr>
            <a:spLocks noGrp="1"/>
          </p:cNvSpPr>
          <p:nvPr>
            <p:ph type="body" idx="1"/>
          </p:nvPr>
        </p:nvSpPr>
        <p:spPr>
          <a:xfrm>
            <a:off x="494675" y="2203553"/>
            <a:ext cx="3236305" cy="819120"/>
          </a:xfrm>
        </p:spPr>
        <p:txBody>
          <a:bodyPr/>
          <a:lstStyle/>
          <a:p>
            <a:endParaRPr lang="fr-FR" sz="1800" b="1" dirty="0"/>
          </a:p>
          <a:p>
            <a:endParaRPr lang="fr-FR" sz="1800" b="1" dirty="0"/>
          </a:p>
          <a:p>
            <a:endParaRPr lang="fr-FR" sz="1800" b="1" dirty="0"/>
          </a:p>
          <a:p>
            <a:endParaRPr lang="fr-FR" sz="1800" b="1" dirty="0"/>
          </a:p>
          <a:p>
            <a:endParaRPr lang="fr-FR" sz="1800" b="1" dirty="0"/>
          </a:p>
          <a:p>
            <a:endParaRPr lang="fr-FR" sz="1800" b="1" dirty="0"/>
          </a:p>
          <a:p>
            <a:endParaRPr lang="fr-FR" sz="1800" b="1" dirty="0"/>
          </a:p>
        </p:txBody>
      </p:sp>
      <p:sp>
        <p:nvSpPr>
          <p:cNvPr id="4" name="Espace réservé du texte 3">
            <a:extLst>
              <a:ext uri="{FF2B5EF4-FFF2-40B4-BE49-F238E27FC236}">
                <a16:creationId xmlns:a16="http://schemas.microsoft.com/office/drawing/2014/main" id="{FDF62E49-86BB-9827-BEDE-25B835A26CD7}"/>
              </a:ext>
            </a:extLst>
          </p:cNvPr>
          <p:cNvSpPr>
            <a:spLocks noGrp="1"/>
          </p:cNvSpPr>
          <p:nvPr>
            <p:ph type="body" sz="half" idx="15"/>
          </p:nvPr>
        </p:nvSpPr>
        <p:spPr>
          <a:xfrm>
            <a:off x="777266" y="3215905"/>
            <a:ext cx="3070024" cy="3455652"/>
          </a:xfrm>
        </p:spPr>
        <p:txBody>
          <a:bodyPr>
            <a:normAutofit fontScale="85000" lnSpcReduction="20000"/>
          </a:bodyPr>
          <a:lstStyle/>
          <a:p>
            <a:r>
              <a:rPr lang="fr-FR" sz="1600" b="1" dirty="0">
                <a:latin typeface="Arial" panose="020B0604020202020204" pitchFamily="34" charset="0"/>
                <a:cs typeface="Arial" panose="020B0604020202020204" pitchFamily="34" charset="0"/>
              </a:rPr>
              <a:t>Profil :</a:t>
            </a:r>
            <a:br>
              <a:rPr lang="fr-FR" sz="1600" dirty="0">
                <a:latin typeface="Arial" panose="020B0604020202020204" pitchFamily="34" charset="0"/>
                <a:cs typeface="Arial" panose="020B0604020202020204" pitchFamily="34" charset="0"/>
              </a:rPr>
            </a:br>
            <a:r>
              <a:rPr lang="fr-FR" sz="1600" dirty="0">
                <a:latin typeface="Arial" panose="020B0604020202020204" pitchFamily="34" charset="0"/>
                <a:cs typeface="Arial" panose="020B0604020202020204" pitchFamily="34" charset="0"/>
              </a:rPr>
              <a:t>Employés plus âgés (souvent &gt; 50 ans), avec une forte ancienneté dans l’entreprise et un salaire mensuel relativement élevé.</a:t>
            </a:r>
          </a:p>
          <a:p>
            <a:r>
              <a:rPr lang="fr-FR" sz="1600" b="1" dirty="0">
                <a:latin typeface="Arial" panose="020B0604020202020204" pitchFamily="34" charset="0"/>
                <a:cs typeface="Arial" panose="020B0604020202020204" pitchFamily="34" charset="0"/>
              </a:rPr>
              <a:t>Observation :</a:t>
            </a:r>
            <a:br>
              <a:rPr lang="fr-FR" sz="1600" dirty="0">
                <a:latin typeface="Arial" panose="020B0604020202020204" pitchFamily="34" charset="0"/>
                <a:cs typeface="Arial" panose="020B0604020202020204" pitchFamily="34" charset="0"/>
              </a:rPr>
            </a:br>
            <a:r>
              <a:rPr lang="fr-FR" sz="1600" dirty="0">
                <a:latin typeface="Arial" panose="020B0604020202020204" pitchFamily="34" charset="0"/>
                <a:cs typeface="Arial" panose="020B0604020202020204" pitchFamily="34" charset="0"/>
              </a:rPr>
              <a:t>Ces employés sont généralement plus stables et moins susceptibles de quitter l’entreprise.</a:t>
            </a:r>
          </a:p>
          <a:p>
            <a:r>
              <a:rPr lang="fr-FR" sz="1600" b="1" dirty="0">
                <a:latin typeface="Arial" panose="020B0604020202020204" pitchFamily="34" charset="0"/>
                <a:cs typeface="Arial" panose="020B0604020202020204" pitchFamily="34" charset="0"/>
              </a:rPr>
              <a:t>Influence sur l’attrition :</a:t>
            </a:r>
            <a:br>
              <a:rPr lang="fr-FR" sz="1600" dirty="0">
                <a:latin typeface="Arial" panose="020B0604020202020204" pitchFamily="34" charset="0"/>
                <a:cs typeface="Arial" panose="020B0604020202020204" pitchFamily="34" charset="0"/>
              </a:rPr>
            </a:br>
            <a:r>
              <a:rPr lang="fr-FR" sz="1600" dirty="0">
                <a:latin typeface="Arial" panose="020B0604020202020204" pitchFamily="34" charset="0"/>
                <a:cs typeface="Arial" panose="020B0604020202020204" pitchFamily="34" charset="0"/>
              </a:rPr>
              <a:t>Faible. Ce cluster correspond souvent aux employés fidèles ou occupant des postes bien rémunérés.</a:t>
            </a:r>
          </a:p>
          <a:p>
            <a:r>
              <a:rPr lang="fr-FR" sz="1600" dirty="0">
                <a:latin typeface="Arial" panose="020B0604020202020204" pitchFamily="34" charset="0"/>
                <a:cs typeface="Arial" panose="020B0604020202020204" pitchFamily="34" charset="0"/>
              </a:rPr>
              <a:t>✅ Variables dominantes :</a:t>
            </a:r>
            <a:br>
              <a:rPr lang="fr-FR" sz="1600" dirty="0">
                <a:latin typeface="Arial" panose="020B0604020202020204" pitchFamily="34" charset="0"/>
                <a:cs typeface="Arial" panose="020B0604020202020204" pitchFamily="34" charset="0"/>
              </a:rPr>
            </a:br>
            <a:r>
              <a:rPr lang="fr-FR" sz="1600" dirty="0">
                <a:latin typeface="Arial" panose="020B0604020202020204" pitchFamily="34" charset="0"/>
                <a:cs typeface="Arial" panose="020B0604020202020204" pitchFamily="34" charset="0"/>
              </a:rPr>
              <a:t>Age, </a:t>
            </a:r>
            <a:r>
              <a:rPr lang="fr-FR" sz="1600" dirty="0" err="1">
                <a:latin typeface="Arial" panose="020B0604020202020204" pitchFamily="34" charset="0"/>
                <a:cs typeface="Arial" panose="020B0604020202020204" pitchFamily="34" charset="0"/>
              </a:rPr>
              <a:t>YearsAtCompany</a:t>
            </a:r>
            <a:r>
              <a:rPr lang="fr-FR" sz="1600" dirty="0">
                <a:latin typeface="Arial" panose="020B0604020202020204" pitchFamily="34" charset="0"/>
                <a:cs typeface="Arial" panose="020B0604020202020204" pitchFamily="34" charset="0"/>
              </a:rPr>
              <a:t>, </a:t>
            </a:r>
            <a:r>
              <a:rPr lang="fr-FR" sz="1600" dirty="0" err="1">
                <a:latin typeface="Arial" panose="020B0604020202020204" pitchFamily="34" charset="0"/>
                <a:cs typeface="Arial" panose="020B0604020202020204" pitchFamily="34" charset="0"/>
              </a:rPr>
              <a:t>MonthlyIncome</a:t>
            </a:r>
            <a:r>
              <a:rPr lang="fr-FR" dirty="0"/>
              <a:t>.</a:t>
            </a:r>
          </a:p>
        </p:txBody>
      </p:sp>
      <p:sp>
        <p:nvSpPr>
          <p:cNvPr id="12" name="Espace réservé du texte 4">
            <a:extLst>
              <a:ext uri="{FF2B5EF4-FFF2-40B4-BE49-F238E27FC236}">
                <a16:creationId xmlns:a16="http://schemas.microsoft.com/office/drawing/2014/main" id="{51F5D799-7680-53EC-84ED-925F8C40F7FA}"/>
              </a:ext>
            </a:extLst>
          </p:cNvPr>
          <p:cNvSpPr>
            <a:spLocks noGrp="1"/>
          </p:cNvSpPr>
          <p:nvPr>
            <p:ph type="body" sz="quarter" idx="3"/>
          </p:nvPr>
        </p:nvSpPr>
        <p:spPr>
          <a:xfrm>
            <a:off x="4506594" y="2601330"/>
            <a:ext cx="3147009" cy="576262"/>
          </a:xfrm>
        </p:spPr>
        <p:txBody>
          <a:bodyPr/>
          <a:lstStyle/>
          <a:p>
            <a:r>
              <a:rPr lang="fr-FR" sz="1800" dirty="0" err="1">
                <a:solidFill>
                  <a:schemeClr val="accent1"/>
                </a:solidFill>
                <a:latin typeface="Arial" panose="020B0604020202020204" pitchFamily="34" charset="0"/>
                <a:cs typeface="Arial" panose="020B0604020202020204" pitchFamily="34" charset="0"/>
              </a:rPr>
              <a:t>Clustre</a:t>
            </a:r>
            <a:r>
              <a:rPr lang="fr-FR" sz="1800" dirty="0">
                <a:solidFill>
                  <a:schemeClr val="accent1"/>
                </a:solidFill>
                <a:latin typeface="Arial" panose="020B0604020202020204" pitchFamily="34" charset="0"/>
                <a:cs typeface="Arial" panose="020B0604020202020204" pitchFamily="34" charset="0"/>
              </a:rPr>
              <a:t> 2 : Employés en </a:t>
            </a:r>
            <a:r>
              <a:rPr lang="fr-FR" sz="1800" dirty="0" err="1">
                <a:solidFill>
                  <a:schemeClr val="accent1"/>
                </a:solidFill>
                <a:latin typeface="Arial" panose="020B0604020202020204" pitchFamily="34" charset="0"/>
                <a:cs typeface="Arial" panose="020B0604020202020204" pitchFamily="34" charset="0"/>
              </a:rPr>
              <a:t>OverTime</a:t>
            </a:r>
            <a:endParaRPr lang="fr-FR" sz="1800" dirty="0">
              <a:solidFill>
                <a:schemeClr val="accent1"/>
              </a:solidFill>
              <a:latin typeface="Arial" panose="020B0604020202020204" pitchFamily="34" charset="0"/>
              <a:cs typeface="Arial" panose="020B0604020202020204" pitchFamily="34" charset="0"/>
            </a:endParaRPr>
          </a:p>
        </p:txBody>
      </p:sp>
      <p:sp>
        <p:nvSpPr>
          <p:cNvPr id="6" name="Espace réservé du texte 5">
            <a:extLst>
              <a:ext uri="{FF2B5EF4-FFF2-40B4-BE49-F238E27FC236}">
                <a16:creationId xmlns:a16="http://schemas.microsoft.com/office/drawing/2014/main" id="{DD6E6BDC-26D7-6199-038B-75FCEA959AD5}"/>
              </a:ext>
            </a:extLst>
          </p:cNvPr>
          <p:cNvSpPr>
            <a:spLocks noGrp="1"/>
          </p:cNvSpPr>
          <p:nvPr>
            <p:ph type="body" sz="half" idx="16"/>
          </p:nvPr>
        </p:nvSpPr>
        <p:spPr>
          <a:xfrm>
            <a:off x="4590363" y="3254218"/>
            <a:ext cx="3063240" cy="3346043"/>
          </a:xfrm>
        </p:spPr>
        <p:txBody>
          <a:bodyPr>
            <a:normAutofit fontScale="92500" lnSpcReduction="10000"/>
          </a:bodyPr>
          <a:lstStyle/>
          <a:p>
            <a:pPr>
              <a:lnSpc>
                <a:spcPct val="90000"/>
              </a:lnSpc>
            </a:pPr>
            <a:r>
              <a:rPr lang="fr-FR" sz="1500" b="1" dirty="0">
                <a:latin typeface="Arial" panose="020B0604020202020204" pitchFamily="34" charset="0"/>
                <a:cs typeface="Arial" panose="020B0604020202020204" pitchFamily="34" charset="0"/>
              </a:rPr>
              <a:t>Profil :</a:t>
            </a:r>
            <a:br>
              <a:rPr lang="fr-FR" sz="1500" dirty="0">
                <a:latin typeface="Arial" panose="020B0604020202020204" pitchFamily="34" charset="0"/>
                <a:cs typeface="Arial" panose="020B0604020202020204" pitchFamily="34" charset="0"/>
              </a:rPr>
            </a:br>
            <a:r>
              <a:rPr lang="fr-FR" sz="1500" dirty="0">
                <a:latin typeface="Arial" panose="020B0604020202020204" pitchFamily="34" charset="0"/>
                <a:cs typeface="Arial" panose="020B0604020202020204" pitchFamily="34" charset="0"/>
              </a:rPr>
              <a:t>Employés qui effectuent fréquemment des heures supplémentaires.</a:t>
            </a:r>
          </a:p>
          <a:p>
            <a:pPr>
              <a:lnSpc>
                <a:spcPct val="90000"/>
              </a:lnSpc>
            </a:pPr>
            <a:r>
              <a:rPr lang="fr-FR" sz="1500" b="1" dirty="0">
                <a:latin typeface="Arial" panose="020B0604020202020204" pitchFamily="34" charset="0"/>
                <a:cs typeface="Arial" panose="020B0604020202020204" pitchFamily="34" charset="0"/>
              </a:rPr>
              <a:t>Observation :</a:t>
            </a:r>
            <a:br>
              <a:rPr lang="fr-FR" sz="1500" dirty="0">
                <a:latin typeface="Arial" panose="020B0604020202020204" pitchFamily="34" charset="0"/>
                <a:cs typeface="Arial" panose="020B0604020202020204" pitchFamily="34" charset="0"/>
              </a:rPr>
            </a:br>
            <a:r>
              <a:rPr lang="fr-FR" sz="1500" dirty="0" err="1">
                <a:latin typeface="Arial" panose="020B0604020202020204" pitchFamily="34" charset="0"/>
                <a:cs typeface="Arial" panose="020B0604020202020204" pitchFamily="34" charset="0"/>
              </a:rPr>
              <a:t>L’OverTime</a:t>
            </a:r>
            <a:r>
              <a:rPr lang="fr-FR" sz="1500" dirty="0">
                <a:latin typeface="Arial" panose="020B0604020202020204" pitchFamily="34" charset="0"/>
                <a:cs typeface="Arial" panose="020B0604020202020204" pitchFamily="34" charset="0"/>
              </a:rPr>
              <a:t> peut être un indicateur de surcharge de travail ou de stress, ce qui peut augmenter le risque de départ.</a:t>
            </a:r>
          </a:p>
          <a:p>
            <a:pPr>
              <a:lnSpc>
                <a:spcPct val="90000"/>
              </a:lnSpc>
            </a:pPr>
            <a:r>
              <a:rPr lang="fr-FR" sz="1500" b="1" dirty="0">
                <a:latin typeface="Arial" panose="020B0604020202020204" pitchFamily="34" charset="0"/>
                <a:cs typeface="Arial" panose="020B0604020202020204" pitchFamily="34" charset="0"/>
              </a:rPr>
              <a:t>Influence sur l’attrition :</a:t>
            </a:r>
            <a:br>
              <a:rPr lang="fr-FR" sz="1500" dirty="0">
                <a:latin typeface="Arial" panose="020B0604020202020204" pitchFamily="34" charset="0"/>
                <a:cs typeface="Arial" panose="020B0604020202020204" pitchFamily="34" charset="0"/>
              </a:rPr>
            </a:br>
            <a:r>
              <a:rPr lang="fr-FR" sz="1500" dirty="0">
                <a:latin typeface="Arial" panose="020B0604020202020204" pitchFamily="34" charset="0"/>
                <a:cs typeface="Arial" panose="020B0604020202020204" pitchFamily="34" charset="0"/>
              </a:rPr>
              <a:t>Modérée à élevée. Ce cluster regroupe des employés potentiellement à risque d’attrition.</a:t>
            </a:r>
          </a:p>
          <a:p>
            <a:pPr>
              <a:lnSpc>
                <a:spcPct val="90000"/>
              </a:lnSpc>
            </a:pPr>
            <a:r>
              <a:rPr lang="fr-FR" sz="1500" dirty="0">
                <a:latin typeface="Arial" panose="020B0604020202020204" pitchFamily="34" charset="0"/>
                <a:cs typeface="Arial" panose="020B0604020202020204" pitchFamily="34" charset="0"/>
              </a:rPr>
              <a:t>✅ Variable dominante :</a:t>
            </a:r>
            <a:br>
              <a:rPr lang="fr-FR" sz="1500" dirty="0">
                <a:latin typeface="Arial" panose="020B0604020202020204" pitchFamily="34" charset="0"/>
                <a:cs typeface="Arial" panose="020B0604020202020204" pitchFamily="34" charset="0"/>
              </a:rPr>
            </a:br>
            <a:r>
              <a:rPr lang="fr-FR" sz="1500" dirty="0" err="1">
                <a:latin typeface="Arial" panose="020B0604020202020204" pitchFamily="34" charset="0"/>
                <a:cs typeface="Arial" panose="020B0604020202020204" pitchFamily="34" charset="0"/>
              </a:rPr>
              <a:t>OverTime</a:t>
            </a:r>
            <a:r>
              <a:rPr lang="fr-FR" sz="1500" dirty="0">
                <a:latin typeface="Arial" panose="020B0604020202020204" pitchFamily="34" charset="0"/>
                <a:cs typeface="Arial" panose="020B0604020202020204" pitchFamily="34" charset="0"/>
              </a:rPr>
              <a:t>.</a:t>
            </a:r>
          </a:p>
          <a:p>
            <a:endParaRPr lang="fr-FR" dirty="0"/>
          </a:p>
        </p:txBody>
      </p:sp>
      <p:sp>
        <p:nvSpPr>
          <p:cNvPr id="7" name="Espace réservé du texte 6">
            <a:extLst>
              <a:ext uri="{FF2B5EF4-FFF2-40B4-BE49-F238E27FC236}">
                <a16:creationId xmlns:a16="http://schemas.microsoft.com/office/drawing/2014/main" id="{EF88AF3D-2785-BE56-18F7-EEDC0E9382D2}"/>
              </a:ext>
            </a:extLst>
          </p:cNvPr>
          <p:cNvSpPr>
            <a:spLocks noGrp="1"/>
          </p:cNvSpPr>
          <p:nvPr>
            <p:ph type="body" sz="quarter" idx="13"/>
          </p:nvPr>
        </p:nvSpPr>
        <p:spPr/>
        <p:txBody>
          <a:bodyPr/>
          <a:lstStyle/>
          <a:p>
            <a:r>
              <a:rPr lang="fr-FR" sz="1800" dirty="0">
                <a:solidFill>
                  <a:schemeClr val="accent1"/>
                </a:solidFill>
                <a:latin typeface="Arial" panose="020B0604020202020204" pitchFamily="34" charset="0"/>
                <a:cs typeface="Arial" panose="020B0604020202020204" pitchFamily="34" charset="0"/>
              </a:rPr>
              <a:t>Cluster 1: Employés plus jeune </a:t>
            </a:r>
          </a:p>
        </p:txBody>
      </p:sp>
      <p:sp>
        <p:nvSpPr>
          <p:cNvPr id="8" name="Espace réservé du texte 7">
            <a:extLst>
              <a:ext uri="{FF2B5EF4-FFF2-40B4-BE49-F238E27FC236}">
                <a16:creationId xmlns:a16="http://schemas.microsoft.com/office/drawing/2014/main" id="{AB664561-2FDC-24AD-7CF8-0BE3421D9B8A}"/>
              </a:ext>
            </a:extLst>
          </p:cNvPr>
          <p:cNvSpPr>
            <a:spLocks noGrp="1"/>
          </p:cNvSpPr>
          <p:nvPr>
            <p:ph type="body" sz="half" idx="17"/>
          </p:nvPr>
        </p:nvSpPr>
        <p:spPr>
          <a:xfrm>
            <a:off x="7925987" y="3215905"/>
            <a:ext cx="3070025" cy="3233748"/>
          </a:xfrm>
        </p:spPr>
        <p:txBody>
          <a:bodyPr>
            <a:normAutofit fontScale="92500"/>
          </a:bodyPr>
          <a:lstStyle/>
          <a:p>
            <a:pPr>
              <a:lnSpc>
                <a:spcPct val="90000"/>
              </a:lnSpc>
            </a:pPr>
            <a:r>
              <a:rPr lang="fr-FR" sz="1500" b="1" dirty="0">
                <a:latin typeface="Arial" panose="020B0604020202020204" pitchFamily="34" charset="0"/>
                <a:cs typeface="Arial" panose="020B0604020202020204" pitchFamily="34" charset="0"/>
              </a:rPr>
              <a:t>Profil :</a:t>
            </a:r>
            <a:br>
              <a:rPr lang="fr-FR" sz="1500" dirty="0">
                <a:latin typeface="Arial" panose="020B0604020202020204" pitchFamily="34" charset="0"/>
                <a:cs typeface="Arial" panose="020B0604020202020204" pitchFamily="34" charset="0"/>
              </a:rPr>
            </a:br>
            <a:r>
              <a:rPr lang="fr-FR" sz="1500" dirty="0">
                <a:latin typeface="Arial" panose="020B0604020202020204" pitchFamily="34" charset="0"/>
                <a:cs typeface="Arial" panose="020B0604020202020204" pitchFamily="34" charset="0"/>
              </a:rPr>
              <a:t>Employés avec un âge moyen plus faible, une ancienneté plus courte et un salaire intermédiaire. Ils effectuent généralement peu d’heures supplémentaires.</a:t>
            </a:r>
          </a:p>
          <a:p>
            <a:pPr>
              <a:lnSpc>
                <a:spcPct val="90000"/>
              </a:lnSpc>
            </a:pPr>
            <a:r>
              <a:rPr lang="fr-FR" sz="1500" b="1" dirty="0">
                <a:latin typeface="Arial" panose="020B0604020202020204" pitchFamily="34" charset="0"/>
                <a:cs typeface="Arial" panose="020B0604020202020204" pitchFamily="34" charset="0"/>
              </a:rPr>
              <a:t>Observation :</a:t>
            </a:r>
            <a:br>
              <a:rPr lang="fr-FR" sz="1500" dirty="0">
                <a:latin typeface="Arial" panose="020B0604020202020204" pitchFamily="34" charset="0"/>
                <a:cs typeface="Arial" panose="020B0604020202020204" pitchFamily="34" charset="0"/>
              </a:rPr>
            </a:br>
            <a:r>
              <a:rPr lang="fr-FR" sz="1500" dirty="0">
                <a:latin typeface="Arial" panose="020B0604020202020204" pitchFamily="34" charset="0"/>
                <a:cs typeface="Arial" panose="020B0604020202020204" pitchFamily="34" charset="0"/>
              </a:rPr>
              <a:t>L’attrition est faible à moyenne et dépend fortement d’autres facteurs comme la satisfaction au travail ou les opportunités de carrière.</a:t>
            </a:r>
          </a:p>
          <a:p>
            <a:pPr>
              <a:lnSpc>
                <a:spcPct val="90000"/>
              </a:lnSpc>
            </a:pPr>
            <a:r>
              <a:rPr lang="fr-FR" sz="1500" b="1" dirty="0">
                <a:latin typeface="Arial" panose="020B0604020202020204" pitchFamily="34" charset="0"/>
                <a:cs typeface="Arial" panose="020B0604020202020204" pitchFamily="34" charset="0"/>
              </a:rPr>
              <a:t>Variables influentes :</a:t>
            </a:r>
            <a:br>
              <a:rPr lang="fr-FR" sz="1500" dirty="0">
                <a:latin typeface="Arial" panose="020B0604020202020204" pitchFamily="34" charset="0"/>
                <a:cs typeface="Arial" panose="020B0604020202020204" pitchFamily="34" charset="0"/>
              </a:rPr>
            </a:br>
            <a:r>
              <a:rPr lang="fr-FR" sz="1500" dirty="0" err="1">
                <a:latin typeface="Arial" panose="020B0604020202020204" pitchFamily="34" charset="0"/>
                <a:cs typeface="Arial" panose="020B0604020202020204" pitchFamily="34" charset="0"/>
              </a:rPr>
              <a:t>JobSatisfaction</a:t>
            </a:r>
            <a:r>
              <a:rPr lang="fr-FR" sz="1500" dirty="0">
                <a:latin typeface="Arial" panose="020B0604020202020204" pitchFamily="34" charset="0"/>
                <a:cs typeface="Arial" panose="020B0604020202020204" pitchFamily="34" charset="0"/>
              </a:rPr>
              <a:t>, </a:t>
            </a:r>
            <a:r>
              <a:rPr lang="fr-FR" sz="1500" dirty="0" err="1">
                <a:latin typeface="Arial" panose="020B0604020202020204" pitchFamily="34" charset="0"/>
                <a:cs typeface="Arial" panose="020B0604020202020204" pitchFamily="34" charset="0"/>
              </a:rPr>
              <a:t>WorkLifeBalance</a:t>
            </a:r>
            <a:r>
              <a:rPr lang="fr-FR" sz="1500" dirty="0">
                <a:latin typeface="Arial" panose="020B0604020202020204" pitchFamily="34" charset="0"/>
                <a:cs typeface="Arial" panose="020B0604020202020204" pitchFamily="34" charset="0"/>
              </a:rPr>
              <a:t>, </a:t>
            </a:r>
            <a:r>
              <a:rPr lang="fr-FR" sz="1500" dirty="0" err="1">
                <a:latin typeface="Arial" panose="020B0604020202020204" pitchFamily="34" charset="0"/>
                <a:cs typeface="Arial" panose="020B0604020202020204" pitchFamily="34" charset="0"/>
              </a:rPr>
              <a:t>YearsInCurrentRole</a:t>
            </a:r>
            <a:r>
              <a:rPr lang="fr-FR" sz="1500" dirty="0">
                <a:latin typeface="Arial" panose="020B0604020202020204" pitchFamily="34" charset="0"/>
                <a:cs typeface="Arial" panose="020B0604020202020204" pitchFamily="34" charset="0"/>
              </a:rPr>
              <a:t>.</a:t>
            </a:r>
          </a:p>
          <a:p>
            <a:endParaRPr lang="fr-FR" dirty="0"/>
          </a:p>
        </p:txBody>
      </p:sp>
      <p:sp>
        <p:nvSpPr>
          <p:cNvPr id="9" name="ZoneTexte 8">
            <a:extLst>
              <a:ext uri="{FF2B5EF4-FFF2-40B4-BE49-F238E27FC236}">
                <a16:creationId xmlns:a16="http://schemas.microsoft.com/office/drawing/2014/main" id="{1D6A0681-7F2A-D091-1EC3-CD053B843125}"/>
              </a:ext>
            </a:extLst>
          </p:cNvPr>
          <p:cNvSpPr txBox="1"/>
          <p:nvPr/>
        </p:nvSpPr>
        <p:spPr>
          <a:xfrm>
            <a:off x="777266" y="2505670"/>
            <a:ext cx="3350597" cy="923330"/>
          </a:xfrm>
          <a:prstGeom prst="rect">
            <a:avLst/>
          </a:prstGeom>
          <a:noFill/>
        </p:spPr>
        <p:txBody>
          <a:bodyPr wrap="square" rtlCol="0">
            <a:spAutoFit/>
          </a:bodyPr>
          <a:lstStyle/>
          <a:p>
            <a:pPr>
              <a:spcBef>
                <a:spcPts val="1000"/>
              </a:spcBef>
              <a:buClr>
                <a:schemeClr val="accent1"/>
              </a:buClr>
              <a:buSzPct val="80000"/>
            </a:pPr>
            <a:r>
              <a:rPr lang="fr-FR" dirty="0">
                <a:solidFill>
                  <a:schemeClr val="accent1"/>
                </a:solidFill>
                <a:latin typeface="Arial" panose="020B0604020202020204" pitchFamily="34" charset="0"/>
                <a:cs typeface="Arial" panose="020B0604020202020204" pitchFamily="34" charset="0"/>
              </a:rPr>
              <a:t>Cluster 3 : employés plus âgés et expérimentés</a:t>
            </a:r>
          </a:p>
          <a:p>
            <a:endParaRPr lang="fr-FR" dirty="0"/>
          </a:p>
        </p:txBody>
      </p:sp>
    </p:spTree>
    <p:extLst>
      <p:ext uri="{BB962C8B-B14F-4D97-AF65-F5344CB8AC3E}">
        <p14:creationId xmlns:p14="http://schemas.microsoft.com/office/powerpoint/2010/main" val="108525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F366B43-DEDE-DC24-B7C7-DE893BC58972}"/>
              </a:ext>
            </a:extLst>
          </p:cNvPr>
          <p:cNvSpPr>
            <a:spLocks noGrp="1"/>
          </p:cNvSpPr>
          <p:nvPr>
            <p:ph type="title"/>
          </p:nvPr>
        </p:nvSpPr>
        <p:spPr/>
        <p:txBody>
          <a:bodyPr/>
          <a:lstStyle/>
          <a:p>
            <a:r>
              <a:rPr lang="fr-FR" dirty="0"/>
              <a:t>Analyse </a:t>
            </a:r>
            <a:r>
              <a:rPr lang="fr-FR" dirty="0" err="1"/>
              <a:t>KMeans</a:t>
            </a:r>
            <a:r>
              <a:rPr lang="fr-FR" dirty="0"/>
              <a:t> </a:t>
            </a:r>
          </a:p>
        </p:txBody>
      </p:sp>
      <p:sp>
        <p:nvSpPr>
          <p:cNvPr id="3" name="Espace réservé du contenu 2">
            <a:extLst>
              <a:ext uri="{FF2B5EF4-FFF2-40B4-BE49-F238E27FC236}">
                <a16:creationId xmlns:a16="http://schemas.microsoft.com/office/drawing/2014/main" id="{7A79417E-A231-40EB-A96C-62EB21D559C6}"/>
              </a:ext>
            </a:extLst>
          </p:cNvPr>
          <p:cNvSpPr>
            <a:spLocks noGrp="1"/>
          </p:cNvSpPr>
          <p:nvPr>
            <p:ph idx="1"/>
          </p:nvPr>
        </p:nvSpPr>
        <p:spPr>
          <a:xfrm>
            <a:off x="680321" y="2320605"/>
            <a:ext cx="9613861" cy="4432892"/>
          </a:xfrm>
        </p:spPr>
        <p:txBody>
          <a:bodyPr>
            <a:normAutofit/>
          </a:bodyPr>
          <a:lstStyle/>
          <a:p>
            <a:pPr marL="0" indent="0">
              <a:buNone/>
            </a:pPr>
            <a:r>
              <a:rPr lang="fr-FR" dirty="0">
                <a:solidFill>
                  <a:schemeClr val="accent1"/>
                </a:solidFill>
                <a:latin typeface="Arial" panose="020B0604020202020204" pitchFamily="34" charset="0"/>
                <a:cs typeface="Arial" panose="020B0604020202020204" pitchFamily="34" charset="0"/>
              </a:rPr>
              <a:t>Facteurs d’Attrition</a:t>
            </a:r>
          </a:p>
          <a:p>
            <a:r>
              <a:rPr lang="fr-FR" b="1" dirty="0">
                <a:latin typeface="Arial" panose="020B0604020202020204" pitchFamily="34" charset="0"/>
                <a:cs typeface="Arial" panose="020B0604020202020204" pitchFamily="34" charset="0"/>
              </a:rPr>
              <a:t>Problème : </a:t>
            </a:r>
            <a:r>
              <a:rPr lang="fr-FR" dirty="0">
                <a:latin typeface="Arial" panose="020B0604020202020204" pitchFamily="34" charset="0"/>
                <a:cs typeface="Arial" panose="020B0604020202020204" pitchFamily="34" charset="0"/>
              </a:rPr>
              <a:t>Modèle supervisé biaisé vers la classe majoritaire (« No ») à cause du déséquilibre des classes.</a:t>
            </a:r>
          </a:p>
          <a:p>
            <a:r>
              <a:rPr lang="fr-FR" b="1" dirty="0">
                <a:latin typeface="Arial" panose="020B0604020202020204" pitchFamily="34" charset="0"/>
                <a:cs typeface="Arial" panose="020B0604020202020204" pitchFamily="34" charset="0"/>
              </a:rPr>
              <a:t>Solution : </a:t>
            </a:r>
            <a:r>
              <a:rPr lang="fr-FR" dirty="0">
                <a:latin typeface="Arial" panose="020B0604020202020204" pitchFamily="34" charset="0"/>
                <a:cs typeface="Arial" panose="020B0604020202020204" pitchFamily="34" charset="0"/>
              </a:rPr>
              <a:t>Utilisation d’un clustering non supervisé avec K-</a:t>
            </a:r>
            <a:r>
              <a:rPr lang="fr-FR" dirty="0" err="1">
                <a:latin typeface="Arial" panose="020B0604020202020204" pitchFamily="34" charset="0"/>
                <a:cs typeface="Arial" panose="020B0604020202020204" pitchFamily="34" charset="0"/>
              </a:rPr>
              <a:t>Means</a:t>
            </a:r>
            <a:r>
              <a:rPr lang="fr-FR" dirty="0">
                <a:latin typeface="Arial" panose="020B0604020202020204" pitchFamily="34" charset="0"/>
                <a:cs typeface="Arial" panose="020B0604020202020204" pitchFamily="34" charset="0"/>
              </a:rPr>
              <a:t> Clustering afin d’identifier différents profils d’employés indépendamment de la variable Attrition.</a:t>
            </a:r>
          </a:p>
          <a:p>
            <a:r>
              <a:rPr lang="fr-FR" b="1" dirty="0">
                <a:latin typeface="Arial" panose="020B0604020202020204" pitchFamily="34" charset="0"/>
                <a:cs typeface="Arial" panose="020B0604020202020204" pitchFamily="34" charset="0"/>
              </a:rPr>
              <a:t>Clusters et facteurs clés :</a:t>
            </a:r>
          </a:p>
          <a:p>
            <a:pPr marL="0" lvl="1" indent="0">
              <a:buFont typeface="Wingdings 3" charset="2"/>
              <a:buNone/>
            </a:pPr>
            <a:r>
              <a:rPr lang="fr-FR" sz="1800" dirty="0">
                <a:latin typeface="Arial" panose="020B0604020202020204" pitchFamily="34" charset="0"/>
                <a:cs typeface="Arial" panose="020B0604020202020204" pitchFamily="34" charset="0"/>
              </a:rPr>
              <a:t>         Employés âgés &amp; expérimentés → salaire élevé, faible attrition.</a:t>
            </a:r>
          </a:p>
          <a:p>
            <a:pPr marL="0" lvl="1" indent="0">
              <a:buFont typeface="Wingdings 3" charset="2"/>
              <a:buNone/>
            </a:pPr>
            <a:r>
              <a:rPr lang="fr-FR" sz="1800" dirty="0">
                <a:latin typeface="Arial" panose="020B0604020202020204" pitchFamily="34" charset="0"/>
                <a:cs typeface="Arial" panose="020B0604020202020204" pitchFamily="34" charset="0"/>
              </a:rPr>
              <a:t>         Jeunes en overtime → forte charge de travail, risque d’attrition élevé.</a:t>
            </a:r>
          </a:p>
          <a:p>
            <a:pPr marL="0" lvl="1" indent="0">
              <a:buFont typeface="Wingdings 3" charset="2"/>
              <a:buNone/>
            </a:pPr>
            <a:r>
              <a:rPr lang="fr-FR" sz="1800" dirty="0">
                <a:latin typeface="Arial" panose="020B0604020202020204" pitchFamily="34" charset="0"/>
                <a:cs typeface="Arial" panose="020B0604020202020204" pitchFamily="34" charset="0"/>
              </a:rPr>
              <a:t>         Employés intermédiaires → âge et ancienneté modérés, risque moyen.</a:t>
            </a:r>
          </a:p>
          <a:p>
            <a:r>
              <a:rPr lang="fr-FR" b="1" dirty="0">
                <a:latin typeface="Arial" panose="020B0604020202020204" pitchFamily="34" charset="0"/>
                <a:cs typeface="Arial" panose="020B0604020202020204" pitchFamily="34" charset="0"/>
              </a:rPr>
              <a:t>Score Silhouette : </a:t>
            </a:r>
            <a:r>
              <a:rPr lang="fr-FR" dirty="0">
                <a:latin typeface="Arial" panose="020B0604020202020204" pitchFamily="34" charset="0"/>
                <a:cs typeface="Arial" panose="020B0604020202020204" pitchFamily="34" charset="0"/>
              </a:rPr>
              <a:t>0.194 → clusters légèrement séparés mais exploitables pour insights RH.</a:t>
            </a:r>
          </a:p>
          <a:p>
            <a:pPr marL="0" indent="0">
              <a:buNone/>
            </a:pPr>
            <a:endParaRPr lang="fr-FR" sz="2100" dirty="0"/>
          </a:p>
          <a:p>
            <a:endParaRPr lang="fr-FR" dirty="0"/>
          </a:p>
        </p:txBody>
      </p:sp>
    </p:spTree>
    <p:extLst>
      <p:ext uri="{BB962C8B-B14F-4D97-AF65-F5344CB8AC3E}">
        <p14:creationId xmlns:p14="http://schemas.microsoft.com/office/powerpoint/2010/main" val="37909772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9212E95-9EC0-BCC3-4135-991AF2B4C43E}"/>
              </a:ext>
            </a:extLst>
          </p:cNvPr>
          <p:cNvSpPr>
            <a:spLocks noGrp="1"/>
          </p:cNvSpPr>
          <p:nvPr>
            <p:ph type="title"/>
          </p:nvPr>
        </p:nvSpPr>
        <p:spPr/>
        <p:txBody>
          <a:bodyPr/>
          <a:lstStyle/>
          <a:p>
            <a:r>
              <a:rPr lang="fr-FR" dirty="0"/>
              <a:t>Recommandation RH</a:t>
            </a:r>
          </a:p>
        </p:txBody>
      </p:sp>
      <p:sp>
        <p:nvSpPr>
          <p:cNvPr id="4" name="Rectangle 1">
            <a:extLst>
              <a:ext uri="{FF2B5EF4-FFF2-40B4-BE49-F238E27FC236}">
                <a16:creationId xmlns:a16="http://schemas.microsoft.com/office/drawing/2014/main" id="{8DB2942B-4F72-0C82-FEF0-0BBAA1A2E30E}"/>
              </a:ext>
            </a:extLst>
          </p:cNvPr>
          <p:cNvSpPr>
            <a:spLocks noGrp="1" noChangeArrowheads="1"/>
          </p:cNvSpPr>
          <p:nvPr>
            <p:ph idx="1"/>
          </p:nvPr>
        </p:nvSpPr>
        <p:spPr bwMode="auto">
          <a:xfrm>
            <a:off x="680321" y="2910724"/>
            <a:ext cx="9148658" cy="13183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t" anchorCtr="0" compatLnSpc="1">
            <a:prstTxWarp prst="textNoShape">
              <a:avLst/>
            </a:prstTxWarp>
            <a:spAutoFit/>
          </a:bodyPr>
          <a:lstStyle/>
          <a:p>
            <a:pPr marR="0" lvl="0" fontAlgn="base">
              <a:lnSpc>
                <a:spcPct val="100000"/>
              </a:lnSpc>
              <a:tabLst/>
            </a:pPr>
            <a:r>
              <a:rPr lang="fr-FR" altLang="fr-FR" dirty="0">
                <a:effectLst/>
                <a:latin typeface="Arial" panose="020B0604020202020204" pitchFamily="34" charset="0"/>
              </a:rPr>
              <a:t> </a:t>
            </a:r>
            <a:r>
              <a:rPr lang="fr-FR" altLang="fr-FR" dirty="0">
                <a:latin typeface="Arial" panose="020B0604020202020204" pitchFamily="34" charset="0"/>
                <a:cs typeface="Arial" panose="020B0604020202020204" pitchFamily="34" charset="0"/>
              </a:rPr>
              <a:t>Surveiller</a:t>
            </a:r>
            <a:r>
              <a:rPr lang="fr-FR" altLang="fr-FR" b="1" dirty="0">
                <a:latin typeface="Arial" panose="020B0604020202020204" pitchFamily="34" charset="0"/>
                <a:cs typeface="Arial" panose="020B0604020202020204" pitchFamily="34" charset="0"/>
              </a:rPr>
              <a:t> les employés jeunes effectuant beaucoup </a:t>
            </a:r>
            <a:r>
              <a:rPr lang="fr-FR" altLang="fr-FR" b="1" dirty="0" err="1">
                <a:latin typeface="Arial" panose="020B0604020202020204" pitchFamily="34" charset="0"/>
                <a:cs typeface="Arial" panose="020B0604020202020204" pitchFamily="34" charset="0"/>
              </a:rPr>
              <a:t>d’OverTime</a:t>
            </a:r>
            <a:endParaRPr lang="fr-FR" altLang="fr-FR" b="1" dirty="0">
              <a:latin typeface="Arial" panose="020B0604020202020204" pitchFamily="34" charset="0"/>
              <a:cs typeface="Arial" panose="020B0604020202020204" pitchFamily="34" charset="0"/>
            </a:endParaRPr>
          </a:p>
          <a:p>
            <a:pPr marR="0" lvl="0" fontAlgn="base">
              <a:lnSpc>
                <a:spcPct val="150000"/>
              </a:lnSpc>
              <a:tabLst/>
            </a:pPr>
            <a:r>
              <a:rPr lang="fr-FR" altLang="fr-FR" dirty="0">
                <a:latin typeface="Arial" panose="020B0604020202020204" pitchFamily="34" charset="0"/>
                <a:cs typeface="Arial" panose="020B0604020202020204" pitchFamily="34" charset="0"/>
              </a:rPr>
              <a:t> Améliorer </a:t>
            </a:r>
            <a:r>
              <a:rPr lang="fr-FR" altLang="fr-FR" b="1" dirty="0">
                <a:latin typeface="Arial" panose="020B0604020202020204" pitchFamily="34" charset="0"/>
                <a:cs typeface="Arial" panose="020B0604020202020204" pitchFamily="34" charset="0"/>
              </a:rPr>
              <a:t>l’équilibre travail–vie personnelle</a:t>
            </a:r>
          </a:p>
          <a:p>
            <a:pPr marR="0" lvl="0" fontAlgn="base">
              <a:lnSpc>
                <a:spcPct val="100000"/>
              </a:lnSpc>
              <a:tabLst/>
            </a:pPr>
            <a:r>
              <a:rPr lang="fr-FR" altLang="fr-FR" dirty="0">
                <a:latin typeface="Arial" panose="020B0604020202020204" pitchFamily="34" charset="0"/>
                <a:cs typeface="Arial" panose="020B0604020202020204" pitchFamily="34" charset="0"/>
              </a:rPr>
              <a:t> Mettre en place des stratégies </a:t>
            </a:r>
            <a:r>
              <a:rPr lang="fr-FR" altLang="fr-FR" b="1" dirty="0">
                <a:latin typeface="Arial" panose="020B0604020202020204" pitchFamily="34" charset="0"/>
                <a:cs typeface="Arial" panose="020B0604020202020204" pitchFamily="34" charset="0"/>
              </a:rPr>
              <a:t>de fidélisation pour les employés expérimentés</a:t>
            </a:r>
          </a:p>
        </p:txBody>
      </p:sp>
    </p:spTree>
    <p:extLst>
      <p:ext uri="{BB962C8B-B14F-4D97-AF65-F5344CB8AC3E}">
        <p14:creationId xmlns:p14="http://schemas.microsoft.com/office/powerpoint/2010/main" val="26653524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8E738F-02FB-8ED6-633F-96043C9C00C2}"/>
              </a:ext>
            </a:extLst>
          </p:cNvPr>
          <p:cNvSpPr>
            <a:spLocks noGrp="1"/>
          </p:cNvSpPr>
          <p:nvPr>
            <p:ph type="title"/>
          </p:nvPr>
        </p:nvSpPr>
        <p:spPr/>
        <p:txBody>
          <a:bodyPr/>
          <a:lstStyle/>
          <a:p>
            <a:r>
              <a:rPr lang="fr-FR"/>
              <a:t>Conclusion</a:t>
            </a:r>
            <a:endParaRPr lang="fr-FR" dirty="0"/>
          </a:p>
        </p:txBody>
      </p:sp>
      <p:sp>
        <p:nvSpPr>
          <p:cNvPr id="3" name="Espace réservé du contenu 2">
            <a:extLst>
              <a:ext uri="{FF2B5EF4-FFF2-40B4-BE49-F238E27FC236}">
                <a16:creationId xmlns:a16="http://schemas.microsoft.com/office/drawing/2014/main" id="{0C703B9F-4BA3-811D-AA5E-585F5685FC72}"/>
              </a:ext>
            </a:extLst>
          </p:cNvPr>
          <p:cNvSpPr>
            <a:spLocks noGrp="1"/>
          </p:cNvSpPr>
          <p:nvPr>
            <p:ph idx="1"/>
          </p:nvPr>
        </p:nvSpPr>
        <p:spPr/>
        <p:txBody>
          <a:bodyPr/>
          <a:lstStyle/>
          <a:p>
            <a:pPr marL="0" indent="0" fontAlgn="base">
              <a:buNone/>
            </a:pPr>
            <a:r>
              <a:rPr lang="fr-FR" dirty="0">
                <a:latin typeface="Arial" panose="020B0604020202020204" pitchFamily="34" charset="0"/>
                <a:cs typeface="Arial" panose="020B0604020202020204" pitchFamily="34" charset="0"/>
              </a:rPr>
              <a:t>Cette étude a permis d’identifier les principaux facteurs influençant l’attrition des employés à partir du dataset IBM HR Analytics. L’analyse des données et l’utilisation de modèles de machine </a:t>
            </a:r>
            <a:r>
              <a:rPr lang="fr-FR" dirty="0" err="1">
                <a:latin typeface="Arial" panose="020B0604020202020204" pitchFamily="34" charset="0"/>
                <a:cs typeface="Arial" panose="020B0604020202020204" pitchFamily="34" charset="0"/>
              </a:rPr>
              <a:t>learning</a:t>
            </a:r>
            <a:r>
              <a:rPr lang="fr-FR" dirty="0">
                <a:latin typeface="Arial" panose="020B0604020202020204" pitchFamily="34" charset="0"/>
                <a:cs typeface="Arial" panose="020B0604020202020204" pitchFamily="34" charset="0"/>
              </a:rPr>
              <a:t> ont permis de mettre en évidence différents profils d’employés et les variables les plus influentes. Ces résultats peuvent aider les entreprises à mieux comprendre le phénomène de turnover et à mettre en place des stratégies RH plus efficaces.</a:t>
            </a:r>
          </a:p>
        </p:txBody>
      </p:sp>
    </p:spTree>
    <p:extLst>
      <p:ext uri="{BB962C8B-B14F-4D97-AF65-F5344CB8AC3E}">
        <p14:creationId xmlns:p14="http://schemas.microsoft.com/office/powerpoint/2010/main" val="207336602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lle d’ions">
  <a:themeElements>
    <a:clrScheme name="Salle d’ions">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Salle d’ions">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alle d’ions">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 Boardroom</Template>
  <TotalTime>33422</TotalTime>
  <Words>1829</Words>
  <Application>Microsoft Office PowerPoint</Application>
  <PresentationFormat>Grand écran</PresentationFormat>
  <Paragraphs>157</Paragraphs>
  <Slides>22</Slides>
  <Notes>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22</vt:i4>
      </vt:variant>
    </vt:vector>
  </HeadingPairs>
  <TitlesOfParts>
    <vt:vector size="28" baseType="lpstr">
      <vt:lpstr>Arial</vt:lpstr>
      <vt:lpstr>Calibri</vt:lpstr>
      <vt:lpstr>Century Gothic</vt:lpstr>
      <vt:lpstr>Wingdings</vt:lpstr>
      <vt:lpstr>Wingdings 3</vt:lpstr>
      <vt:lpstr>Salle d’ions</vt:lpstr>
      <vt:lpstr>Etude de Cas IBM RH Analytics</vt:lpstr>
      <vt:lpstr>Interprétation</vt:lpstr>
      <vt:lpstr>Business Undrestanding</vt:lpstr>
      <vt:lpstr>Data Undrestanding</vt:lpstr>
      <vt:lpstr>Objectif</vt:lpstr>
      <vt:lpstr>Data Descriptive</vt:lpstr>
      <vt:lpstr>Modélisation </vt:lpstr>
      <vt:lpstr>Data Préparation</vt:lpstr>
      <vt:lpstr>Data Préparation : RandomForest</vt:lpstr>
      <vt:lpstr>Interprétation des métriques par classe</vt:lpstr>
      <vt:lpstr>Analyse globale</vt:lpstr>
      <vt:lpstr>Conclusion </vt:lpstr>
      <vt:lpstr> Analyse RandomForest</vt:lpstr>
      <vt:lpstr>Du modèle supervisé au modèle non supervisé</vt:lpstr>
      <vt:lpstr>Model Non Superviser KMeans</vt:lpstr>
      <vt:lpstr>Méthode du Coude(Elbow Method) </vt:lpstr>
      <vt:lpstr>Segmentation des employés avec K-Means (visualisation PCA)</vt:lpstr>
      <vt:lpstr>Observation </vt:lpstr>
      <vt:lpstr>Interprétation </vt:lpstr>
      <vt:lpstr>Analyse KMeans </vt:lpstr>
      <vt:lpstr>Recommandation RH</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Dhekra</dc:creator>
  <cp:lastModifiedBy>Dhekra</cp:lastModifiedBy>
  <cp:revision>12</cp:revision>
  <dcterms:created xsi:type="dcterms:W3CDTF">2026-02-01T19:10:21Z</dcterms:created>
  <dcterms:modified xsi:type="dcterms:W3CDTF">2026-03-27T14:04:58Z</dcterms:modified>
</cp:coreProperties>
</file>